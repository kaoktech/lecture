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040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645920"/>
            <a:ext cx="5029200" cy="5029200"/>
          </a:xfrm>
          <a:prstGeom prst="ellipse">
            <a:avLst/>
          </a:prstGeom>
          <a:solidFill>
            <a:srgbClr val="16335C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480560"/>
            <a:ext cx="4389120" cy="4389120"/>
          </a:xfrm>
          <a:prstGeom prst="ellipse">
            <a:avLst/>
          </a:prstGeom>
          <a:solidFill>
            <a:srgbClr val="122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Python'a Giriş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dönem boyunca gerçek iş problemleri için veri yapıları ve algoritmalar geliştirmede kullanacağımız programlama aracı.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 Bilişim Sistemleri · Veri Yapıları ve Algoritmalar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Neler Göreceğiz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42985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4298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63040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için neden Python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29453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Okunabilirlik, ekosistem ve iş dünyasıyla ilgisi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129246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20919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20919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129246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Python'u kurma ve çalıştırma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495659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Yorumlayıcı, Jupyter not defterleri, ilk betiğinizi çalıştırma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2795451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87539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28753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795451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Değişkenler, veri tipleri ve operatörler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161865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programın temel yapı taşları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461657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54160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54160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461657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Akış kontrolü: koşullar ve döngüler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828070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verme ve tekrar eden işler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127863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2078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207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127863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veri kapları: liste, demet, sözlük, küme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494276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Python'ın hazır veri yapıları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4794069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874013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87401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4794069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Fonksiyonlar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160482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Mantığı yeniden kullanılabilir, test edilebilir birimlere ayırma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22960" y="5460274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554021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54021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554480" y="5460274"/>
            <a:ext cx="9692640" cy="4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Kodlama stili ve iyi uygulamalar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554480" y="5826687"/>
            <a:ext cx="9692640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arkadaşlarınızın okuyabileceği kod yazmak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Python?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MOTIVASYON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Derste Neden Python Kullanıyoruz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 İngilizceye yakın, okunabilir sözdizimi — dili öğrenmekle değil, algoritmik düşünmeyle uğraşırsınız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YBS, analitik ve iş zekasında yaygın kullanılan geniş kütüphane ekosistemi (pandas, NumPy)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Otomasyon, veri analizi, web arka uçları ve yapay zekâ/ML hatlarında sektör genelinde kullanılıyor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 defterleri gibi etkileşimli araçlar, adım adım deneme yapmayı sağlar — veri yapıları öğrenmek için ideal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tipleme ve hazır yüksek seviyeli yapılar (liste, sözlük), düşük seviye ayrıntılara dalmadan önce kavramlara odaklanmamızı sağlar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3703320" cy="4480560"/>
          </a:xfrm>
          <a:prstGeom prst="roundRect">
            <a:avLst>
              <a:gd name="adj" fmla="val 1975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YBS Bağlantısı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488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dönem öğreneceğiniz her veri yapısı — liste, yığın, kuyruk, ağaç — gerçek bilgi sistemlerinde doğrudan bir karşılığa sahiptir: sipariş kuyrukları, organizasyon şeması ağaçları, müşteri veritabanları.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ile Tipik Bir Alternatifin Karşılaştırması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Kısa, okunabilir sözdizimi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Yorumlanır — hızlı geri bildirim döngüsü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Zengin veri bilimi ve iş kütüphaneleri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Algoritmaları hızlıca prototiplemek için harika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C++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ayrıntılı, açık tip belirtimi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Derlenir — ekstra derleme adımı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kurumsal arka uçlarda yaygın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Bazı ham performans ihtiyaçları için daha iyi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Python'u Kurma ve Çalıştırma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Python'ı kurun (python.org) veya veri bilimi kütüphaneleriyle birlikte gelen Anaconda dağıtımını kullanın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/ JupyterLab: kodu hücrelerde çalıştırıp sonucu anında gördüğünüz etkileşimli ortam — bu dönemki tüm uygulamalarda kullanılacak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editörler: VS Code, PyCharm — program büyüdükçe faydalı olur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Python'ı terminalden de çalıştırabilirsiniz: python script.py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Python Programınız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yorumlar # ile başlar — Python bu satırı yok sayar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print("Merhaba, YBS Veri Yapıları!")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print() ekrana çıktı gösterir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print("Ders:", "Veri Yapıları ve Algoritmalar")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000" b="1" kern="0" spc="100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</a:t>
            </a:r>
            <a:endParaRPr lang="tr-TR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Merhaba, YBS Veri Yapıları!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Ders: Veri Yapıları ve Algoritmalar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dönem her Jupyter hücresinde çalıştıracağınız şey aynı basit fikre dayanır: kod yaz, çalıştır, çıktıyı oku.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Değişkenler, Tipler ve Operatörler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Bellekte saklanan bir değere işaret eden isimlendirilmiş bir etikettir. Python'da tip bildirmezsiniz — isim, atadığınız değere bağlanır.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100" b="1" kern="0" spc="150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musteri_adi = "Ayşe Demir"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siparis_tutari = 249.90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vip_mi = True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Python'ın Temel Hazır Veri Tipleri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Tipik İş Kullanımı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Sipariş adedi, çalışan ID'si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Birim fiyat, vergi oranı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"FTR-2045"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Fatura numarası, müşteri adı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Sipariş ödendi mi? Stok mevcut mu?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Eksik / henüz atanmamış değer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Kontrolü ve Dönüşümü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fiyat = "19.99"           # bu bir metin (str), sayı değil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print(type(fiyat))         # &lt;class 'str'&gt;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fiyat = float(fiyat)       # str -&gt; float dönüşümü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vergi = fiyat * 0.18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print(type(fiyat), round(fiyat + vergi, 2))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000" b="1" kern="0" spc="100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'str'&gt;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'float'&gt; 23.59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neyle çalıştığınızı gösterir; dönüştürme fonksiyonları (int(), float(), str()) tipler arasında geçiş yapar.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YAPI TAŞLARI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Operatörler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Aritmetik:  +   -   *   /   //  (taban bölme)   %  (kalan)   **  (üs)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Karşılaştırma:  ==   !=   &gt;   &lt;   &gt;=   &lt;=   → her zaman bool üretir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Mantıksal:  and   or   not   → boolean koşulları birleştirir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Kısayol atamalar:  +=   -=   *=   /=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3703320" cy="4480560"/>
          </a:xfrm>
          <a:prstGeom prst="roundRect">
            <a:avLst>
              <a:gd name="adj" fmla="val 1975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488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bir değer atar. == iki değeri karşılaştırır. Bunları karıştırmak en yaygın başlangıç hatalarından biridir.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İş Hesabında Operatörler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adet = 12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birim_fiyat = 45.0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indirim_orani = 0.10 if adet &gt;= 10 else 0.0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ara_toplam = adet * birim_fiyat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toplam = ara_toplam * (1 - indirim_orani)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print("Ara toplam:", ara_toplam, "| İndirim sonrası toplam:", toplam)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000" b="1" kern="0" spc="100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 toplam: 540.0 | İndirim sonrası toplam: 486.0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sipariş indirim kuralı, aritmetik ve karşılaştırma operatörleriyle ifade edildi.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Akış Kontrolü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programın, bir koşulun True ya da False olmasına göre hangi kod bloğunu çalıştıracağını seçmesini sağlar.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100" b="1" kern="0" spc="150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stok_adedi == 0: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durum = "Stokta yok"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stok_adedi &lt; 10: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durum = "Az stok"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durum = "Stokta var"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Müşterinin İndirim Uygunluğuna Karar Vermek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e-ticaret sistemi, her sipariş için müşterinin üyelik seviyesine ve sipariş büyüklüğüne göre sadakat indirimine hak kazanıp kazanmadığına karar vermeli.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üyeler her siparişte %15 indirim alır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üyeler 500 TL üzeri siparişte %10 indirim alır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herkes tam fiyat öder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karar mantığı, if / elif / else zincirlerinin doğrudan gerçek dünya kullanımıdır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İndirim Kuralını Uygulamak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indirim_orani(seviye, siparis_tutari):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seviye == "gold":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0.15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seviye == "silver" and siparis_tutari &gt; 500: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0.10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0.0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print(indirim_orani("silver", 620))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print(indirim_orani("bronze", 620))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000" b="1" kern="0" spc="100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Döngüler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döngüsü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kod bloğunu, bir dizideki (liste, metin, sayı aralığı) her öğe için bir kez tekrarlar.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100" b="1" kern="0" spc="150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siparis_no in [101, 102, 103]: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print("Sipariş işleniyor:", siparis_no)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ile while Karşılaştırması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for: bilinen bir koleksiyonu dolaş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isim in ["Ali", "Zeynep", "Mert"]: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print("Merhaba,", isim)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while: bir koşul False olana kadar tekrarla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deneme = 0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deneme &lt; 3: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print("Giriş denemesi", deneme + 1)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deneme += 1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000" b="1" kern="0" spc="100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20927" y="5288749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Merhaba, Ali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Merhaba, Zeynep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Merhaba, Mert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Giriş denemesi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Giriş denemesi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Giriş denemesi 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üzerinde döneceğinizi biliyorsanız for kullanın; bir koşul değişene kadar tekrar ediyorsanız while kullanın.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Döngü Nasıl Çalışır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Koşulu Kontrol Et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Sıradaki öğe var mı / koşul True mu?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7467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7759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1475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Gövdeyi Çalıştır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71475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 girintili bloğu çalıştır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2930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3222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6938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İlerle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6938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öğeye geç / koşulu yeniden kontrol 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83930" y="3154680"/>
            <a:ext cx="502920" cy="0"/>
          </a:xfrm>
          <a:prstGeom prst="line">
            <a:avLst/>
          </a:prstGeom>
          <a:noFill/>
          <a:ln w="28575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86850" y="2377440"/>
            <a:ext cx="2251710" cy="1554480"/>
          </a:xfrm>
          <a:prstGeom prst="roundRect">
            <a:avLst>
              <a:gd name="adj" fmla="val 4706"/>
            </a:avLst>
          </a:prstGeom>
          <a:solidFill>
            <a:srgbClr val="C179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24010" y="2514600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Çık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24010" y="3017520"/>
            <a:ext cx="1977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 False olunca döngü biter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Grup Müşteri Siparişini Toplamak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YBS raporlama işi, bugün verilen her siparişin değerini toplamalı ve risk eşiğinin üzerindeki siparişleri manuel incelemeye işaretlemeli.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Günün sipariş listesindeki her sipariş üzerinde bir kez döngü kur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İlerledikçe biriken bir toplamı güncelle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 içinde bir if ile yüksek değerli siparişleri işaretle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kalıp — döngü + biriktirici + koşul — iş raporlama kodunda sürekli karşınıza çıkar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Veri Kapları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Listeler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(liste)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Köşeli parantezlerle yazılan, sıralı ve değiştirilebilir bir koleksiyondur. Oluşturulduktan sonra öğe eklenebilir, çıkarılabilir veya değiştirilebilir.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100" b="1" kern="0" spc="150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urunler = ["Laptop", "Fare", "Monitör"]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urunler.append("Klavye")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print(urunler[0], len(urunler))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Listelerle Çalışmak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envanter = [120, 45, 0, 300]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envanter.append(75)          # sona ekle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envanter[2] = 10             # indeksle bir öğeyi güncelle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az_stok = envanter[1:3]      # dilimleme: 1 ve 2. indeksteki öğeler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print(envanter)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print("Az stok dilimi:", az_stok)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000" b="1" kern="0" spc="100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[120, 45, 10, 300, 75]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stok dilimi: [45, 10]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Demetler (Tuple) ve Kümeler (Set)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Demet — değişmez ve sıralı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Parantezle yazılır: (x, y)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Oluşturulduktan sonra değiştirilemez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kayıtlar için uygundur, örn. koordinatlar veya (gün, ay, yıl)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 — sırasız, benzersiz öğeler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Süslü parantezle yazılır: {a, b, c}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Yinelenenleri otomatik olarak kaldırır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üyelik kontrolü: ogeler in kume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Sözlükler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(sözlük)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Anahtar-değer çiftlerinden oluşan sırasız bir koleksiyondur. Bir değeri sayısal konumla değil, anahtarıyla ararsınız — Hafta 10'da işleyeceğimiz hash tablolarının temelidir.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100" b="1" kern="0" spc="150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 = {"id": 501, "ad": "Mert Kaya", "vip": True}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print(musteri["ad"])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musteri["email"] = "mert@example.com"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KARŞILAŞTIRMA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Veri Kabını Seçmek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Sıralı mı?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Değiştirilebilir mi?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Tekrar var mı?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Erişim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İndeks (0, 1, 2, …)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İndeks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Ekleme sırası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Anahtar benzersiz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Anahtar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Üyelik (in)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Müşteri Kaydını Modellemek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CRM, her müşteri profilini öyle saklamalı ki herhangi bir alan, sayısal bir konumu hatırlamaya gerek kalmadan isimle anında bulunabilsin.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sözlük, her özellik adını (anahtar) değerine eşler: {'ad': ..., 'email': ..., 'seviye': ...}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tür sözlüklerden oluşan bir liste tüm müşteri tablosunu temsil eder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yapı, tam olarak bir veritabanı tablosundaki bir satırın veya bir JSON API yanıtındaki bir kaydın şeklidir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Fonksiyonlar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 alan (parametre), bir işi yapan ve isteğe bağlı olarak bir sonuç döndüren, isimlendirilmiş, yeniden kullanılabilir bir kod bloğudur. Fonksiyonlar mantığı bir kez yazıp her yerde yeniden kullanmanızı sağlar.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100" b="1" kern="0" spc="150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vergi_hesapla(tutar, oran=0.18):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return tutar * oran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print(vergi_hesapla(200))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Parametreler, Dönüş Değerleri ve Kapsam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Parametreler bir fonksiyonun beklediği girdilerdir; argümanlar ise gerçekten geçtiğiniz değerlerdir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çağırana bir değer gönderir; return içermeyen bir fonksiyon örtük olarak None döndürür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Varsayılan parametre değerleri (oran=0.18) argümanları isteğe bağlı hale getirir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fonksiyon içinde oluşturulan değişkenler yereldir — fonksiyon dışında var olmazlar (kapsam)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Kullanılabilir Bir İş Fonksiyonu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fatura_toplami(birim_fiyat, adet, vergi_orani=0.18):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ara_toplam = birim_fiyat * adet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vergi = ara_toplam * vergi_orani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ara_toplam + vergi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print(fatura_toplami(150, 3))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print(fatura_toplami(150, 3, vergi_orani=0.08))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000" b="1" kern="0" spc="100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531.0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486.0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Bunu bir fonksiyon olarak bir kez yazmak, sistemin her yerinin faturaları aynı, doğru şekilde hesaplamasını sağlar.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 ve Özet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UYGULAMALAR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Okunabilir Python Yazmak (PEP 8 Temelleri)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 ve fonksiyon isimleri için snake_case kullanın: siparis_tutari, vergi_hesapla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Girinti seviyesi başına 4 boşluk kullanın — Python'da girinti kod bloklarını tanımlar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Değişkenlere anlamlı isimler verin; kısa döngüler dışında tek harf kullanmaktan kaçının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Kodun sadece ne yaptığını değil, neden yaptığını açıklayan yorumlar ekleyin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Fonksiyonları kısa tutun ve tek bir işe odaklayın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BİLGİ KONTROLÜ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Kontrol </a:t>
            </a:r>
            <a:r>
              <a:rPr lang="en-US" sz="26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müşterinin e-postasını müşteri ID'sine göre anında bulmak için hangi veri kabını kullanırsınız?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Öğe öğe tarayan bir liste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ID'siyle anahtarlanmış bir sözlük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e-postaların bir demeti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numaralarının bir kümesi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50" b="1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</a:t>
            </a:r>
            <a:r>
              <a:rPr lang="en-US" sz="1250" b="1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sözlük, her öğeyi taramadan anahtarları (ID) doğrudan değerlere (e-posta) eşler.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BİLGİ KONTROLÜ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26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Kontrol</a:t>
            </a:r>
            <a:r>
              <a:rPr lang="en-US" sz="26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5. Bu kod ne yazdırır?  if x &gt; 10: print('A')  elif x &gt; 3: print('B')  else: print('C')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şey — hata verir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50" b="1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</a:t>
            </a:r>
            <a:r>
              <a:rPr lang="en-US" sz="1250" b="1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(5) 10'dan büyük değil, ama 3'ten büyük, bu yüzden elif dalı çalışır.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00" b="1" kern="0" spc="150" dirty="0" smtClean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Sipariş İşleme Isınma Turu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0 not defterinizde şunları yapan Python kodu yazın: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sipariş tutarından (float) oluşan bir liste saklayın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siparişi biriken toplamla birlikte yazdırmak için bir for döngüsü kullanın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1000'in üzerindeki herhangi bir siparişi işaretlemek için döngü içinde bir if kullanın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İndirimli tutarı döndüren bir indirim_uygula(tutar, seviye) fonksiyonu yazın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 örneğindeki biriktirici kalıbını yeniden kullanın: bir değişkeni 0'dan başlatın, sonra döngü içinde ona ekleyin.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0 Özeti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Python'ın okunabilir sözdizimi ve zengin ekosistemi, veri yapıları ve algoritmaları öğrenmek için idealdir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Değişkenler, tipler ve operatörler her programın en temel yapı taşlarıdır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if/elif/else ve for/while, hangi kodun ne kadar çalışacağını kontrol eder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Liste, demet, sözlük ve küme, Python'ın hazır veri yapılarıdır — kuracağımız özel yapıların da bir ön izlemesidir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Fonksiyonlar, mantığı temiz, yeniden kullanılabilir ve test edilebilir birimlere paketlememizi sağlar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26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945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1: Algoritmik Düşünme ve Veri Yapılarına Giriş — kod yazmadan önce problemler üzerine nasıl düşüneceğimiz ve doğru veri yapısının neden her şeyi değiştirdiği.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0: Python'a Giriş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2591</Words>
  <Application>Microsoft Office PowerPoint</Application>
  <PresentationFormat>Geniş ekran</PresentationFormat>
  <Paragraphs>472</Paragraphs>
  <Slides>38</Slides>
  <Notes>38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38</vt:i4>
      </vt:variant>
    </vt:vector>
  </HeadingPairs>
  <TitlesOfParts>
    <vt:vector size="42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Kağan OKATAN</cp:lastModifiedBy>
  <cp:revision>4</cp:revision>
  <dcterms:created xsi:type="dcterms:W3CDTF">2026-09-20T06:09:52Z</dcterms:created>
  <dcterms:modified xsi:type="dcterms:W3CDTF">2026-09-30T11:32:38Z</dcterms:modified>
</cp:coreProperties>
</file>