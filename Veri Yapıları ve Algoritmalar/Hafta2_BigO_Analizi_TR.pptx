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5021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-1645920"/>
            <a:ext cx="5029200" cy="5029200"/>
          </a:xfrm>
          <a:prstGeom prst="ellipse">
            <a:avLst/>
          </a:prstGeom>
          <a:solidFill>
            <a:srgbClr val="16335C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480560"/>
            <a:ext cx="4389120" cy="4389120"/>
          </a:xfrm>
          <a:prstGeom prst="ellipse">
            <a:avLst/>
          </a:prstGeom>
          <a:solidFill>
            <a:srgbClr val="122A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Analizi ve Big-O Gösterimi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 hızlı hissettiriyor"dan, algoritmaların nasıl ölçeklendiğini karşılaştırmak için kesin, matematiksel bir yönteme geçiş.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Yönetim Bilişim Sistemleri · Veri Yapıları ve Algoritmalar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Neler Göreceğiz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42985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4298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63040"/>
            <a:ext cx="9692640" cy="4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Algoritmaları neden analiz ederiz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29453"/>
            <a:ext cx="9692640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Ölçeklenebilirlik, maliyet ve kullanıcı deneyimi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129246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20919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20919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129246"/>
            <a:ext cx="9692640" cy="4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karmaşıklığı ile alan karmaşıklığı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495659"/>
            <a:ext cx="9692640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Aslında neyi ölçtüğümüz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2795451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87539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28753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795451"/>
            <a:ext cx="9692640" cy="4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gösterimi ve kuralları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161865"/>
            <a:ext cx="9692640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Büyümeyi tanımlamak için ortak bir dil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461657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54160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54160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461657"/>
            <a:ext cx="9692640" cy="4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Yaygın karmaşıklık sınıfları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828070"/>
            <a:ext cx="9692640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O(1)'den O(2^n)'e, ve pratikte ne anlama geldikleri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127863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2078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207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4127863"/>
            <a:ext cx="9692640" cy="4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kodu Big-O için analiz etmek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494276"/>
            <a:ext cx="9692640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Döngüleri, iç içe döngüleri ve etkilerini fark etmek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4794069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4874013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487401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4794069"/>
            <a:ext cx="9692640" cy="4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iyi, ortalama ve en kötü durum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5160482"/>
            <a:ext cx="9692640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algoritmanın neden farklı karmaşıklıkları olabildiği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22960" y="5460274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554021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554021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1554480" y="5460274"/>
            <a:ext cx="9692640" cy="4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Zaman-alan ödünleşimi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554480" y="5826687"/>
            <a:ext cx="9692640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hızlı olmak genelde daha çok bellek gerektirir, ve tam tersi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Algoritmaları Neden Analiz Ederiz?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MOTIVASYON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Verimliliğini Neden Ölçeriz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algoritma eşit derecede doğru olabilir ama veri büyüdükçe ölçeklenme biçimleri son derece farklı olabilir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verisinde 2 saniyede çalışan bir rapor, gerçek, tam boyutlu bir veritabanında saatler sürebilir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Verimlilik doğrudan altyapı maliyetini, sunucu yükünü ve bir sistemin aynı anda kaç kullanıcıya hizmet verebileceğini etkiler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"100 satırla makinemde çalışıyor" ifadesi, üretimde 10 milyon satırla çalışacağına dair bir kanıt değildir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1600200"/>
            <a:ext cx="3703320" cy="4480560"/>
          </a:xfrm>
          <a:prstGeom prst="roundRect">
            <a:avLst>
              <a:gd name="adj" fmla="val 1975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YBS Gerçeği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14884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verisi büyür. Verimlilik göz önünde bulundurulmadan tasarlanan bir sistem, çoğu zaman şirketin kesinti karşılayamayacağı tam da o anda pahalı bir yeniden yazıma ihtiyaç duyar.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Satış Raporu Üretmenin İki Yolu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finans ekibi, büyüyen bir işlem tablosunda ürün başına toplam satışa ihtiyaç duyuyor. İki geliştirici, ikisi de doğru olan iki farklı çözüm yazdı.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Geliştirici A: her ürün için satışını toplamak üzere tüm işlem listesini tarar — basit, ama işi tekrarlar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Geliştirici B: işlem listesini bir kez tarar, ürüne göre anahtarlanmış bir sözlükte toplamları biriktirir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işlemde ikisi de anlık hissettirir; 10 milyonda biri saniyeler içinde biter, diğeri belki bir gecede bile bitmez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Bu, tam olarak Big-O'nun kodu hiç çalıştırmadan önce tahmin etmemizi sağladığı türden bir farktır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Karmaşıklığı ile Alan Karmaşıklığı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Karmaşıklığı / Alan Karmaşıklığı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karmaşıklığı, bir algoritmanın gerçekleştirdiği temel işlem sayısının girdi boyutu (n) büyüdükçe nasıl büyüdüğünü tanımlar. Alan karmaşıklığı, ihtiyaç duyduğu ekstra belleğin n ile nasıl büyüdüğünü tanımlar. İkisi de belirli bir bilgisayarın hızından bağımsız ifade edilir.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100" b="1" kern="0" spc="150" dirty="0" smtClean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Saniye cinsinden ölçmeyiz (bu makineye bağlıdır); işlem sayısının n'e göre nasıl büyüdüğü cinsinden ölçeriz.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Aslında Neyi Sayarız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"temel işlem", maliyeti girdi boyutuna bağlı olmayan bir işlemdir: bir karşılaştırma, bir atama, bir aritmetik işlem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tür işlemlerin, n (girdi boyutu) fonksiyonu olarak kaç kez çalıştığını sayarız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Kesin sayıyı değil, büyüme oranını önemseriz — 3n ve 3n + 7 ikisi de "n gibi büyür"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Bu, algoritmaları donanımdan, programlama dilinden veya sunucunun ne kadar meşgul olduğundan bağımsız karşılaştırmamızı sağlar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Gösterimi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Gösterimi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Big-O, O(f(n))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Girdi boyutu n büyüdükçe bir algoritmanın büyüme oranının üst sınırını tanımlayan matematiksel bir gösterimdir — sade bir dille, daha fazla veriyle işin nasıl arttığının en kötü durum şeklidir.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zaman tam olarak 3n + 7 temel işlem yapan bir algoritma O(n) olarak tanımlanır: n büyüdükçe davranışa hakim olan budur.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İçin Sadeleştirme Kuralları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Sabitleri at:  O(3n)  →  O(n) olur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dereceli terimleri at:  O(n² + n)  →  O(n²) olur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çok büyüdükçe yalnızca baskın olan terimi tutun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belirtilmedikçe Big-O en kötü durumu tanımlar — garantili üst sınır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1600200"/>
            <a:ext cx="3703320" cy="4480560"/>
          </a:xfrm>
          <a:prstGeom prst="roundRect">
            <a:avLst>
              <a:gd name="adj" fmla="val 1975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Sadeleştiriyoruz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14884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Yeterince büyük n için, sabitler ve daha küçük terimler baskın terim yanında önemsiz hale gelir — Big-O tam olarak bu uzun vadeli davranışı yakalar.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Yaygın Karmaşıklık Sınıfları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Gösterim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 liste öğesine indeksle erişmek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Logaritmik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Sıralı bir listede ikili arama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öğeyi bir kez taramak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Doğrusal-logaritmik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Verimli sıralama (birleştirme sıralaması, hızlı sıralama)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Karesel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öğe çiftini karşılaştırmak (iç içe döngü)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O(2^n)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Üstel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 kümenin her alt kümesini denemek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Sınıfın Gerçekte Ne Kadar Hızlı Büyüdüğü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~9.966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~132.877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Karmaşıklıkları Birleştirmek: Toplam ve Çarpım Kuralları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kuralı — art arda çalışan iki adım: karmaşıklıklarını topla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ardından O(n) → O(n + n) = O(2n) → sadeleştirilince O(n)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Çarpım kuralı — başka bir tekrarlanan adımın içinde çalışan bir adım: karmaşıklıklarını çarp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İçinde O(n) döngü barındıran bir O(n) döngü → O(n) × O(n) = O(n²)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kuralın geçerli olduğunu fark etmek, çoğu zaman bir algoritmanın genel Big-O'suna giden en hızlı yoldur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Kodu Analiz Etmek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O(1): Sabit Zaman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4160520"/>
          </a:xfrm>
          <a:prstGeom prst="roundRect">
            <a:avLst>
              <a:gd name="adj" fmla="val 1319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ilk_musteriyi_getir(musteriler):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musteriler[0]   # liste ne kadar büyük olursa olsun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# her zaman tam olarak bir adım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Maliyet, girdinin boyutuna bağlı değildir — bu O(1)'in imzasıdır.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O(n): Doğrusal Zaman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4160520"/>
          </a:xfrm>
          <a:prstGeom prst="roundRect">
            <a:avLst>
              <a:gd name="adj" fmla="val 1319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musteri_bul(musteriler, hedef_id):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m in musteriler:          # en fazla n kez çalışır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m["id"] == hedef_id: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m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None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öğe üzerinde bir döngü → iş, girdi boyutuyla doğrudan orantılı büyür.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O(n²): Karesel Zaman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4160520"/>
          </a:xfrm>
          <a:prstGeom prst="roundRect">
            <a:avLst>
              <a:gd name="adj" fmla="val 1319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yinelenen_siparisleri_bul(siparisler):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yinelenenler = []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range(len(siparisler)):              # dış döngü: n kez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range(i + 1, len(siparisler)):    # iç döngü: en fazla n kez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siparisler[i] == siparisler[j]: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yinelenenler.append(siparisler[i])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yinelenenler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veri üzerinde başka bir döngünün içine yerleştirilmiş bir döngü, O(n²)'nin klasik imzasıdır.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n): Logaritmik Zaman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4160520"/>
          </a:xfrm>
          <a:prstGeom prst="roundRect">
            <a:avLst>
              <a:gd name="adj" fmla="val 1319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ikili_arama(sirali_idler, hedef):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alt, ust = 0, len(sirali_idler) - 1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alt &lt;= ust: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orta = (alt + ust) // 2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sirali_idler[orta] == hedef: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orta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sirali_idler[orta] &lt; hedef: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alt = orta + 1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ust = orta - 1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  # bulunamadı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adım kalan verinin yarısını eler — girdiyi iki katına çıkarmak yalnızca bir adım daha ekler, O(log n)'in imzası budur.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Kodu Okurken Karmaşıklığı Fark Etmek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öğe üzerinde tek bir döngü, içinde O(1) iş → O(n)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Kabaca n öğe üzerinde birbirinin içinde iki döngü → O(n²)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 tekrar tekrar ikiye bölen bir döngü (ikili arama gibi) → O(log n)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Kodunuzun içinde bir sıralama fonksiyonu çağırmak, o bölüme en az O(n log n) ekler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 çağrılarının, liste dilimlemenin ve hazır fonksiyonların kendi maliyetleri vardır — her satırın O(1) olduğunu varsaymayın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Satış Raporu Algoritmasını Analiz Etmek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önceki Geliştirici A ve B'ye geri dönelim — artık karmaşıklıklarını kesin olarak adlandırabiliriz.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Geliştirici A: p ürünün her biri için n işlemin tamamını tarar → O(p × n), p n ile birlikte büyüdüğünde O(n²) gibi davranır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Geliştirici B: n işlem üzerinde tek geçiş, sözlük güncellemeleri her biri O(1) → toplamda O(n)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küçük bir fark değil — ölçeklenen bir rapor ile sonunda hiç çalışamayan bir rapor arasındaki farktır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DIYAGRAM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Algoritmanın Big-O'sunu Bulma Süreci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Temel İşlemi Bul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sık çalışan satır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74670" y="3154680"/>
            <a:ext cx="502920" cy="0"/>
          </a:xfrm>
          <a:prstGeom prst="line">
            <a:avLst/>
          </a:prstGeom>
          <a:noFill/>
          <a:ln w="28575">
            <a:solidFill>
              <a:srgbClr val="8A97A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7759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1475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n'in Fonksiyonu Olarak Say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71475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 kez çalışıyor?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29300" y="3154680"/>
            <a:ext cx="502920" cy="0"/>
          </a:xfrm>
          <a:prstGeom prst="line">
            <a:avLst/>
          </a:prstGeom>
          <a:noFill/>
          <a:ln w="28575">
            <a:solidFill>
              <a:srgbClr val="8A97A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3222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6938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Döngü Yapısını Belirle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6938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Tek, iç içe, ya da yarıya bölen?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83930" y="3154680"/>
            <a:ext cx="502920" cy="0"/>
          </a:xfrm>
          <a:prstGeom prst="line">
            <a:avLst/>
          </a:prstGeom>
          <a:noFill/>
          <a:ln w="28575">
            <a:solidFill>
              <a:srgbClr val="8A97A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8685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C1791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2401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Baskın Terimi Tut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2401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Sadeleştirme kurallarını uygula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İyi, Ortalama ve En Kötü Durum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İyi / Ortalama / En Kötü Durum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algoritma, sadece boyutuna değil, belirli girdiye bağlı olarak farklı performans gösterebilir. Bunu üç durumla tanımlarız; Big-O çoğunlukla en kötü duruma, garantili üst sınıra atıfta bulunur.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sırada olan bir değeri aramak (en iyi durum) ile listede hiç olmayan bir değeri aramak (en kötü durum) — aynı algoritma, çok farklı miktarda iş.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Arama: En İyi ve En Kötü Durum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müşteri destek aracı, belirli bir talep ID'si için bir destek talebi listesini arıyor.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iyi durum, O(1): talep tam olarak kontrol edilen ilk talep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kötü durum, O(n): talep sonuncu ya da hiç yok, bu yüzden her öğe kontrol edilmeli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durum, O(n): rastgele veride, listenin yaklaşık yarısının kontrol edilmesi beklenir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Müşterilere yanıt süresi garantisi vermek için sistemler en kötü duruma göre tasarlanır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Karmaşıklığı da Önemlidir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Bazı algoritmalar hız için bellek feda eder: yeniden hesaplamayı önlemek için ekstra arama verisi saklar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Diğerleri bellek açısından verimlidir ama daha yavaştır, ara sonuçları saklamak yerine daha fazla tekrarlı iş yapar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alan: girdi boyutundan bağımsız, sabit ve küçük miktarda ekstra bellek kullanır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alan: girdiyle orantılı ekstra bellek kullanır, örn. yeni bir liste veya sözlük oluşturmak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Pratikte Zaman-Alan Ödünleşimi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4160520"/>
          </a:xfrm>
          <a:prstGeom prst="roundRect">
            <a:avLst>
              <a:gd name="adj" fmla="val 1319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O(n) zaman, O(1) ekstra alan: her çağrıldığında yeniden hesaplar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toplam_satis_yeniden_hesapla(islemler, urun):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sum(i["tutar"] for i in islemler if i["urun"] == urun)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İnşa için O(n) zaman, sonra arama başına O(1), O(n) ekstra alan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satis_indeksi_olustur(islemler):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indeks = {}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islemler: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indeks[i["urun"]] = indeks.get(i["urun"], 0) + i["tutar"]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indeks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İndeksli sürüm, sonraki her aramanın anlık olması için başta bellek harcar — klasik bir zaman-alan ödünleşimi.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REHBERI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Zamana mı, Alana mı Göre Seçim Yapmak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7492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Hızı Tercih Edin (daha fazla bellek)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Aramalar çok sık gerçekleşiyor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Bellek, yanıt süresi ihtiyaçlarına göre ucuz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Örn. sürekli sorgulanan canlı bir gösterge paneli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C1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874520"/>
            <a:ext cx="5074920" cy="274320"/>
          </a:xfrm>
          <a:prstGeom prst="rect">
            <a:avLst/>
          </a:prstGeom>
          <a:solidFill>
            <a:srgbClr val="C179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Belleği Tercih Edin (daha az hız)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çok büyük ve bellek kısıtlı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 nadiren gerçekleşiyor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Örn. ayda bir çalışan toplu bir rapor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Yaygın Hatalar ve Uygulama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UYGULAMALAR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Yaygın Big-O Hataları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Big-O'nun saniye cinsinden kesin çalışma süresi olduğunu varsaymak — o büyüme oranını tanımlar, gerçek hızı değil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döngü içindeki fonksiyon çağrısının kendi karmaşıklığını gizleyebileceğini unutmak (örn. döngü içinde sort() çağırmak)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iyi durumu, bir sistemin göre tasarlanması gereken garantili (en kötü durum) davranışla karıştırmak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 gerçekten darboğaz olduğunda alan karmaşıklığını tamamen görmezden gelmek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 çağrılan bir algoritmayı görmezden gelirken nadiren çağrılan birini fazla optimize etmek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HARITASI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Karmaşıklık Ön İzlemesi: Yaygın Liste İşlemleri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İşlem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Tipik Karmaşıklık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Neden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İndeksle erişim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Doğrudan bellek ofseti hesabı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Arama (sırasız)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öğenin kontrol edilmesi gerekebilir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 ekleme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(itfa edilmiş)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Genelde sadece sona ekler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Başa ekleme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Mevcut her öğenin kaymasi gerekir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Anahtarla sözlük araması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Ortalama 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10'da ayrıntılı işlenir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8–9 ÖN İZLEMESI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Sıralamanın Yakında Neden Önemli Olacağı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raporlama sistemi, görüntülemeden önce büyüyen bir müşteri listesini son satın alma tarihine göre sıralamalı.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çifti karşılaştıran saf bir sıralama O(n²) çalışır — 100 satır için sorun değil, 1.000.000 için acı verici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Birleştirme sıralaması ve hızlı sıralama gibi verimli sıralama algoritmaları O(n log n) çalışır — ölçekte çarpıcı biçimde daha iyi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Farkı artık ölçebildiğimize göre, her iki kategoriyi de Hafta 8 ve 9'da doğrudan uygulayıp karşılaştıracağız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Uygulama: Big-O'yu Belirleyin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not defterinizdeki her fonksiyon için Big-O'sunu belirleyin ve yazın: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listenin son öğesini döndüren bir fonksiyon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öğeyi yazdıran tek döngülü bir fonksiyon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liste üzerinde iki iç içe döngüsü olan bir fonksiyon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kez hazır sort() çağıran, sonra sonuç üzerinde döngü kuran bir fonksiyon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Şunu sorun: işlem sayısı n'e bağlı mı? Öyleyse nasıl — bir kez mi, yoksa her çift için bir kez mi?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1/2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biri n kez çalışan, iç içe olmayan iki bağımsız döngüsü olan bir fonksiyonun Big-O'su nedir?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O(2n), sadeleştirilince O(n)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öğe üzerinde iki ayrı döngü toplamda 2n işlem yapar, Big-O sabiti attığında O(n) elde edilir.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2/2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arama algoritması en kötü durumda her öğeyi kontrol eder ama hedefi ilk denemede bulabilir. Big-O gösterimi tipik olarak hangi durumu tanımlar?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iyi durum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durum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kötü durum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Durumları tamamen görmezden gelir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en yaygın olarak en kötü durumu — bir sistemin göre tasarlanması gereken garantili üst sınırı — ifade etmek için kullanılır.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Uygulama: Zaman-Alan Ödünleşimi Kararı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çalışanın yöneticisini çok sık arayan bir İK sistemi için, not defterinizde: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seferinde bir listeyi tarayarak yöneticiyi yeniden hesaplayan bir sürüm yazın (zamana odaklı analiz)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sözlük indeksini bir kez oluşturan, sonra O(1) ile arayan bir sürüm yazın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sürümün zaman ve alan karmaşıklığını belirtin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500.000 çalışanı ve sürekli aramaları olan bir sistem için hangisini seçeceğinizi bir yorumda açıklayın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veride sık aramalar neredeyse her zaman, O(n) bellek maliyetine rağmen bir kez indeks oluşturmayı tercih ettirir.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Özeti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Algoritmaları yalnızca küçük test verisinde çalışıp çalışmadığını görmek için değil, nasıl ölçekleneceğini tahmin etmek için analiz ederiz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Big-O, girdi boyutu n büyüdükçe zaman veya alan ihtiyacının büyüme oranını, baskın terime odaklanarak tanımlar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Yaygın sınıflar — O(1), O(log n), O(n), O(n log n), O(n²), O(2^n) — çalışacağımız neredeyse her algoritmayı kapsar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Döngü yapısı (tek, iç içe, yarıya bölen) genelde bir algoritmanın karmaşıklığını fark etmenin en hızlı yoludur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iyi, ortalama ve en kötü durum farklı olabilir; sistemler genelde en kötü duruma göre tasarlanır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645920"/>
            <a:ext cx="3794760" cy="4389120"/>
          </a:xfrm>
          <a:prstGeom prst="roundRect">
            <a:avLst>
              <a:gd name="adj" fmla="val 1928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2668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21945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3: Diziler, Listeler ve Temel Veri Organizasyonu — artık işlemlerini kesin olarak ölçebildiğimize göre, somut bir veri yapısına ilk derinlemesine bakışımız.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2: Algoritma Analizi ve Big-O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2883</Words>
  <Application>Microsoft Office PowerPoint</Application>
  <PresentationFormat>Geniş ekran</PresentationFormat>
  <Paragraphs>426</Paragraphs>
  <Slides>35</Slides>
  <Notes>35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35</vt:i4>
      </vt:variant>
    </vt:vector>
  </HeadingPairs>
  <TitlesOfParts>
    <vt:vector size="39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Kağan OKATAN</cp:lastModifiedBy>
  <cp:revision>2</cp:revision>
  <dcterms:created xsi:type="dcterms:W3CDTF">2026-09-20T13:18:54Z</dcterms:created>
  <dcterms:modified xsi:type="dcterms:W3CDTF">2026-09-30T10:17:52Z</dcterms:modified>
</cp:coreProperties>
</file>