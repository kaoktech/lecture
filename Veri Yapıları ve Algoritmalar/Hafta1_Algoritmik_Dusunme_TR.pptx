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9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9804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Shape 1"/>
          <p:cNvSpPr/>
          <p:nvPr/>
        </p:nvSpPr>
        <p:spPr>
          <a:xfrm>
            <a:off x="9082735" y="-1645920"/>
            <a:ext cx="5029200" cy="5029200"/>
          </a:xfrm>
          <a:prstGeom prst="ellipse">
            <a:avLst/>
          </a:prstGeom>
          <a:solidFill>
            <a:srgbClr val="16335C"/>
          </a:solidFill>
          <a:ln/>
        </p:spPr>
      </p:sp>
      <p:sp>
        <p:nvSpPr>
          <p:cNvPr id="4" name="Shape 2"/>
          <p:cNvSpPr/>
          <p:nvPr/>
        </p:nvSpPr>
        <p:spPr>
          <a:xfrm>
            <a:off x="-2011680" y="4480560"/>
            <a:ext cx="4389120" cy="4389120"/>
          </a:xfrm>
          <a:prstGeom prst="ellipse">
            <a:avLst/>
          </a:prstGeom>
          <a:solidFill>
            <a:srgbClr val="122A4E"/>
          </a:solidFill>
          <a:ln/>
        </p:spPr>
      </p:sp>
      <p:sp>
        <p:nvSpPr>
          <p:cNvPr id="5" name="Text 3"/>
          <p:cNvSpPr txBox="1"/>
          <p:nvPr/>
        </p:nvSpPr>
        <p:spPr>
          <a:xfrm>
            <a:off x="822960" y="1417320"/>
            <a:ext cx="10058400" cy="457200"/>
          </a:xfrm>
          <a:prstGeom prst="rect">
            <a:avLst/>
          </a:prstGeom>
          <a:noFill/>
          <a:ln/>
        </p:spPr>
        <p:txBody>
          <a:bodyPr wrap="square" lIns="0" tIns="0" rIns="0" bIns="0" rtlCol="0" anchor="ctr"/>
          <a:lstStyle/>
          <a:p>
            <a:pPr marL="0" indent="0">
              <a:buNone/>
            </a:pPr>
            <a:r>
              <a:rPr lang="en-US" sz="1600" b="1" kern="0" spc="200" dirty="0">
                <a:solidFill>
                  <a:srgbClr val="E8A33D"/>
                </a:solidFill>
                <a:latin typeface="Calibri" pitchFamily="34" charset="0"/>
                <a:ea typeface="Calibri" pitchFamily="34" charset="-122"/>
                <a:cs typeface="Calibri" pitchFamily="34" charset="-120"/>
              </a:rPr>
              <a:t>HAFTA 1</a:t>
            </a:r>
            <a:endParaRPr lang="en-US" sz="1600" dirty="0"/>
          </a:p>
        </p:txBody>
      </p:sp>
      <p:sp>
        <p:nvSpPr>
          <p:cNvPr id="6" name="Text 4"/>
          <p:cNvSpPr txBox="1"/>
          <p:nvPr/>
        </p:nvSpPr>
        <p:spPr>
          <a:xfrm>
            <a:off x="822960" y="1874520"/>
            <a:ext cx="10241280" cy="19202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Algoritmik Düşünme ve Veri Yapılarına Giriş</a:t>
            </a:r>
            <a:endParaRPr lang="en-US" sz="4000" dirty="0"/>
          </a:p>
        </p:txBody>
      </p:sp>
      <p:sp>
        <p:nvSpPr>
          <p:cNvPr id="7" name="Text 5"/>
          <p:cNvSpPr txBox="1"/>
          <p:nvPr/>
        </p:nvSpPr>
        <p:spPr>
          <a:xfrm>
            <a:off x="822960" y="3611880"/>
            <a:ext cx="9692640" cy="1005840"/>
          </a:xfrm>
          <a:prstGeom prst="rect">
            <a:avLst/>
          </a:prstGeom>
          <a:noFill/>
          <a:ln/>
        </p:spPr>
        <p:txBody>
          <a:bodyPr wrap="square" lIns="0" tIns="0" rIns="0" bIns="0" rtlCol="0" anchor="ctr"/>
          <a:lstStyle/>
          <a:p>
            <a:pPr marL="0" indent="0">
              <a:buNone/>
            </a:pPr>
            <a:r>
              <a:rPr lang="en-US" sz="1800" dirty="0">
                <a:solidFill>
                  <a:srgbClr val="C7D2E0"/>
                </a:solidFill>
                <a:latin typeface="Calibri" pitchFamily="34" charset="0"/>
                <a:ea typeface="Calibri" pitchFamily="34" charset="-122"/>
                <a:cs typeface="Calibri" pitchFamily="34" charset="-120"/>
              </a:rPr>
              <a:t>Kod yazmadan önce bir problem üzerine nasıl düşüneceğiniz — ve veriyi organize etme biçiminizin sonrasındaki her şeyi nasıl değiştirdiği.</a:t>
            </a:r>
            <a:endParaRPr lang="en-US" sz="1800" dirty="0"/>
          </a:p>
        </p:txBody>
      </p:sp>
      <p:sp>
        <p:nvSpPr>
          <p:cNvPr id="8" name="Shape 6"/>
          <p:cNvSpPr/>
          <p:nvPr/>
        </p:nvSpPr>
        <p:spPr>
          <a:xfrm>
            <a:off x="822960" y="4892040"/>
            <a:ext cx="2011680" cy="0"/>
          </a:xfrm>
          <a:prstGeom prst="line">
            <a:avLst/>
          </a:prstGeom>
          <a:noFill/>
          <a:ln w="31750">
            <a:solidFill>
              <a:srgbClr val="E8A33D"/>
            </a:solidFill>
            <a:prstDash val="solid"/>
          </a:ln>
        </p:spPr>
      </p:sp>
      <p:sp>
        <p:nvSpPr>
          <p:cNvPr id="9" name="Text 7"/>
          <p:cNvSpPr txBox="1"/>
          <p:nvPr/>
        </p:nvSpPr>
        <p:spPr>
          <a:xfrm>
            <a:off x="822960" y="6035040"/>
            <a:ext cx="9144000" cy="457200"/>
          </a:xfrm>
          <a:prstGeom prst="rect">
            <a:avLst/>
          </a:prstGeom>
          <a:noFill/>
          <a:ln/>
        </p:spPr>
        <p:txBody>
          <a:bodyPr wrap="square" lIns="0" tIns="0" rIns="0" bIns="0" rtlCol="0" anchor="ctr"/>
          <a:lstStyle/>
          <a:p>
            <a:pPr marL="0" indent="0">
              <a:buNone/>
            </a:pPr>
            <a:r>
              <a:rPr lang="en-US" sz="1300" dirty="0">
                <a:solidFill>
                  <a:srgbClr val="8A97A5"/>
                </a:solidFill>
                <a:latin typeface="Calibri" pitchFamily="34" charset="0"/>
                <a:ea typeface="Calibri" pitchFamily="34" charset="-122"/>
                <a:cs typeface="Calibri" pitchFamily="34" charset="-120"/>
              </a:rPr>
              <a:t>Yönetim Bilişim Sistemleri · Veri Yapıları ve Algoritmalar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457200"/>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Bugün Neler Göreceğiz</a:t>
            </a:r>
            <a:endParaRPr lang="en-US" sz="2600" dirty="0"/>
          </a:p>
        </p:txBody>
      </p:sp>
      <p:sp>
        <p:nvSpPr>
          <p:cNvPr id="3" name="Shape 1"/>
          <p:cNvSpPr/>
          <p:nvPr/>
        </p:nvSpPr>
        <p:spPr>
          <a:xfrm>
            <a:off x="822960" y="1298448"/>
            <a:ext cx="10545775" cy="0"/>
          </a:xfrm>
          <a:prstGeom prst="line">
            <a:avLst/>
          </a:prstGeom>
          <a:noFill/>
          <a:ln w="12700">
            <a:solidFill>
              <a:srgbClr val="D9DFE6"/>
            </a:solidFill>
            <a:prstDash val="solid"/>
          </a:ln>
        </p:spPr>
      </p:sp>
      <p:sp>
        <p:nvSpPr>
          <p:cNvPr id="4" name="Shape 2"/>
          <p:cNvSpPr/>
          <p:nvPr/>
        </p:nvSpPr>
        <p:spPr>
          <a:xfrm>
            <a:off x="822960" y="1556309"/>
            <a:ext cx="502920" cy="502920"/>
          </a:xfrm>
          <a:prstGeom prst="roundRect">
            <a:avLst>
              <a:gd name="adj" fmla="val 18182"/>
            </a:avLst>
          </a:prstGeom>
          <a:solidFill>
            <a:srgbClr val="0B1F3A"/>
          </a:solidFill>
          <a:ln/>
        </p:spPr>
      </p:sp>
      <p:sp>
        <p:nvSpPr>
          <p:cNvPr id="5" name="Text 3"/>
          <p:cNvSpPr txBox="1"/>
          <p:nvPr/>
        </p:nvSpPr>
        <p:spPr>
          <a:xfrm>
            <a:off x="822960" y="1556309"/>
            <a:ext cx="502920" cy="502920"/>
          </a:xfrm>
          <a:prstGeom prst="rect">
            <a:avLst/>
          </a:prstGeom>
          <a:noFill/>
          <a:ln/>
        </p:spPr>
        <p:txBody>
          <a:bodyPr wrap="square" lIns="0" tIns="0" rIns="0" bIns="0" rtlCol="0" anchor="ctr"/>
          <a:lstStyle/>
          <a:p>
            <a:pPr marL="0" indent="0" algn="ctr">
              <a:buNone/>
            </a:pPr>
            <a:r>
              <a:rPr lang="en-US" sz="1600" b="1" dirty="0">
                <a:solidFill>
                  <a:srgbClr val="E8A33D"/>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54480" y="1463040"/>
            <a:ext cx="9692640" cy="481889"/>
          </a:xfrm>
          <a:prstGeom prst="rect">
            <a:avLst/>
          </a:prstGeom>
          <a:noFill/>
          <a:ln/>
        </p:spPr>
        <p:txBody>
          <a:bodyPr wrap="square" lIns="0" tIns="0" rIns="0" bIns="0"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Bir algoritma nedir, "iyi" bir algoritmayı ne yapar</a:t>
            </a:r>
            <a:endParaRPr lang="en-US" sz="1600" dirty="0"/>
          </a:p>
        </p:txBody>
      </p:sp>
      <p:sp>
        <p:nvSpPr>
          <p:cNvPr id="7" name="Text 5"/>
          <p:cNvSpPr txBox="1"/>
          <p:nvPr/>
        </p:nvSpPr>
        <p:spPr>
          <a:xfrm>
            <a:off x="1554480" y="1890522"/>
            <a:ext cx="9692640" cy="310896"/>
          </a:xfrm>
          <a:prstGeom prst="rect">
            <a:avLst/>
          </a:prstGeom>
          <a:noFill/>
          <a:ln/>
        </p:spPr>
        <p:txBody>
          <a:bodyPr wrap="square" lIns="0" tIns="0" rIns="0" bIns="0" rtlCol="0" anchor="ctr"/>
          <a:lstStyle/>
          <a:p>
            <a:pPr marL="0" indent="0">
              <a:buNone/>
            </a:pPr>
            <a:r>
              <a:rPr lang="en-US" sz="1250" dirty="0">
                <a:solidFill>
                  <a:srgbClr val="5B6B7C"/>
                </a:solidFill>
                <a:latin typeface="Calibri" pitchFamily="34" charset="0"/>
                <a:ea typeface="Calibri" pitchFamily="34" charset="-122"/>
                <a:cs typeface="Calibri" pitchFamily="34" charset="-120"/>
              </a:rPr>
              <a:t>Her doğru algoritmanın paylaştığı özellikler</a:t>
            </a:r>
            <a:endParaRPr lang="en-US" sz="1250" dirty="0"/>
          </a:p>
        </p:txBody>
      </p:sp>
      <p:sp>
        <p:nvSpPr>
          <p:cNvPr id="8" name="Shape 6"/>
          <p:cNvSpPr/>
          <p:nvPr/>
        </p:nvSpPr>
        <p:spPr>
          <a:xfrm>
            <a:off x="822960" y="2240280"/>
            <a:ext cx="10424160" cy="0"/>
          </a:xfrm>
          <a:prstGeom prst="line">
            <a:avLst/>
          </a:prstGeom>
          <a:noFill/>
          <a:ln w="9525">
            <a:solidFill>
              <a:srgbClr val="D9DFE6"/>
            </a:solidFill>
            <a:prstDash val="solid"/>
          </a:ln>
        </p:spPr>
      </p:sp>
      <p:sp>
        <p:nvSpPr>
          <p:cNvPr id="9" name="Shape 7"/>
          <p:cNvSpPr/>
          <p:nvPr/>
        </p:nvSpPr>
        <p:spPr>
          <a:xfrm>
            <a:off x="822960" y="2333549"/>
            <a:ext cx="502920" cy="502920"/>
          </a:xfrm>
          <a:prstGeom prst="roundRect">
            <a:avLst>
              <a:gd name="adj" fmla="val 18182"/>
            </a:avLst>
          </a:prstGeom>
          <a:solidFill>
            <a:srgbClr val="0B1F3A"/>
          </a:solidFill>
          <a:ln/>
        </p:spPr>
      </p:sp>
      <p:sp>
        <p:nvSpPr>
          <p:cNvPr id="10" name="Text 8"/>
          <p:cNvSpPr txBox="1"/>
          <p:nvPr/>
        </p:nvSpPr>
        <p:spPr>
          <a:xfrm>
            <a:off x="822960" y="2333549"/>
            <a:ext cx="502920" cy="502920"/>
          </a:xfrm>
          <a:prstGeom prst="rect">
            <a:avLst/>
          </a:prstGeom>
          <a:noFill/>
          <a:ln/>
        </p:spPr>
        <p:txBody>
          <a:bodyPr wrap="square" lIns="0" tIns="0" rIns="0" bIns="0" rtlCol="0" anchor="ctr"/>
          <a:lstStyle/>
          <a:p>
            <a:pPr marL="0" indent="0" algn="ctr">
              <a:buNone/>
            </a:pPr>
            <a:r>
              <a:rPr lang="en-US" sz="1600" b="1" dirty="0">
                <a:solidFill>
                  <a:srgbClr val="E8A33D"/>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554480" y="2240280"/>
            <a:ext cx="9692640" cy="481889"/>
          </a:xfrm>
          <a:prstGeom prst="rect">
            <a:avLst/>
          </a:prstGeom>
          <a:noFill/>
          <a:ln/>
        </p:spPr>
        <p:txBody>
          <a:bodyPr wrap="square" lIns="0" tIns="0" rIns="0" bIns="0"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Algoritmik problem çözme süreci</a:t>
            </a:r>
            <a:endParaRPr lang="en-US" sz="1600" dirty="0"/>
          </a:p>
        </p:txBody>
      </p:sp>
      <p:sp>
        <p:nvSpPr>
          <p:cNvPr id="12" name="Text 10"/>
          <p:cNvSpPr txBox="1"/>
          <p:nvPr/>
        </p:nvSpPr>
        <p:spPr>
          <a:xfrm>
            <a:off x="1554480" y="2667762"/>
            <a:ext cx="9692640" cy="310896"/>
          </a:xfrm>
          <a:prstGeom prst="rect">
            <a:avLst/>
          </a:prstGeom>
          <a:noFill/>
          <a:ln/>
        </p:spPr>
        <p:txBody>
          <a:bodyPr wrap="square" lIns="0" tIns="0" rIns="0" bIns="0" rtlCol="0" anchor="ctr"/>
          <a:lstStyle/>
          <a:p>
            <a:pPr marL="0" indent="0">
              <a:buNone/>
            </a:pPr>
            <a:r>
              <a:rPr lang="en-US" sz="1250" dirty="0">
                <a:solidFill>
                  <a:srgbClr val="5B6B7C"/>
                </a:solidFill>
                <a:latin typeface="Calibri" pitchFamily="34" charset="0"/>
                <a:ea typeface="Calibri" pitchFamily="34" charset="-122"/>
                <a:cs typeface="Calibri" pitchFamily="34" charset="-120"/>
              </a:rPr>
              <a:t>Belirsiz bir iş talebinden çalışan koda</a:t>
            </a:r>
            <a:endParaRPr lang="en-US" sz="1250" dirty="0"/>
          </a:p>
        </p:txBody>
      </p:sp>
      <p:sp>
        <p:nvSpPr>
          <p:cNvPr id="13" name="Shape 11"/>
          <p:cNvSpPr/>
          <p:nvPr/>
        </p:nvSpPr>
        <p:spPr>
          <a:xfrm>
            <a:off x="822960" y="3017520"/>
            <a:ext cx="10424160" cy="0"/>
          </a:xfrm>
          <a:prstGeom prst="line">
            <a:avLst/>
          </a:prstGeom>
          <a:noFill/>
          <a:ln w="9525">
            <a:solidFill>
              <a:srgbClr val="D9DFE6"/>
            </a:solidFill>
            <a:prstDash val="solid"/>
          </a:ln>
        </p:spPr>
      </p:sp>
      <p:sp>
        <p:nvSpPr>
          <p:cNvPr id="14" name="Shape 12"/>
          <p:cNvSpPr/>
          <p:nvPr/>
        </p:nvSpPr>
        <p:spPr>
          <a:xfrm>
            <a:off x="822960" y="3110789"/>
            <a:ext cx="502920" cy="502920"/>
          </a:xfrm>
          <a:prstGeom prst="roundRect">
            <a:avLst>
              <a:gd name="adj" fmla="val 18182"/>
            </a:avLst>
          </a:prstGeom>
          <a:solidFill>
            <a:srgbClr val="0B1F3A"/>
          </a:solidFill>
          <a:ln/>
        </p:spPr>
      </p:sp>
      <p:sp>
        <p:nvSpPr>
          <p:cNvPr id="15" name="Text 13"/>
          <p:cNvSpPr txBox="1"/>
          <p:nvPr/>
        </p:nvSpPr>
        <p:spPr>
          <a:xfrm>
            <a:off x="822960" y="3110789"/>
            <a:ext cx="502920" cy="502920"/>
          </a:xfrm>
          <a:prstGeom prst="rect">
            <a:avLst/>
          </a:prstGeom>
          <a:noFill/>
          <a:ln/>
        </p:spPr>
        <p:txBody>
          <a:bodyPr wrap="square" lIns="0" tIns="0" rIns="0" bIns="0" rtlCol="0" anchor="ctr"/>
          <a:lstStyle/>
          <a:p>
            <a:pPr marL="0" indent="0" algn="ctr">
              <a:buNone/>
            </a:pPr>
            <a:r>
              <a:rPr lang="en-US" sz="1600" b="1" dirty="0">
                <a:solidFill>
                  <a:srgbClr val="E8A33D"/>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554480" y="3017520"/>
            <a:ext cx="9692640" cy="481889"/>
          </a:xfrm>
          <a:prstGeom prst="rect">
            <a:avLst/>
          </a:prstGeom>
          <a:noFill/>
          <a:ln/>
        </p:spPr>
        <p:txBody>
          <a:bodyPr wrap="square" lIns="0" tIns="0" rIns="0" bIns="0"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Sözde kod (pseudocode) ve akış şemaları</a:t>
            </a:r>
            <a:endParaRPr lang="en-US" sz="1600" dirty="0"/>
          </a:p>
        </p:txBody>
      </p:sp>
      <p:sp>
        <p:nvSpPr>
          <p:cNvPr id="17" name="Text 15"/>
          <p:cNvSpPr txBox="1"/>
          <p:nvPr/>
        </p:nvSpPr>
        <p:spPr>
          <a:xfrm>
            <a:off x="1554480" y="3445002"/>
            <a:ext cx="9692640" cy="310896"/>
          </a:xfrm>
          <a:prstGeom prst="rect">
            <a:avLst/>
          </a:prstGeom>
          <a:noFill/>
          <a:ln/>
        </p:spPr>
        <p:txBody>
          <a:bodyPr wrap="square" lIns="0" tIns="0" rIns="0" bIns="0" rtlCol="0" anchor="ctr"/>
          <a:lstStyle/>
          <a:p>
            <a:pPr marL="0" indent="0">
              <a:buNone/>
            </a:pPr>
            <a:r>
              <a:rPr lang="en-US" sz="1250" dirty="0">
                <a:solidFill>
                  <a:srgbClr val="5B6B7C"/>
                </a:solidFill>
                <a:latin typeface="Calibri" pitchFamily="34" charset="0"/>
                <a:ea typeface="Calibri" pitchFamily="34" charset="-122"/>
                <a:cs typeface="Calibri" pitchFamily="34" charset="-120"/>
              </a:rPr>
              <a:t>Python yazmadan önce bir çözüm tasarlamak</a:t>
            </a:r>
            <a:endParaRPr lang="en-US" sz="1250" dirty="0"/>
          </a:p>
        </p:txBody>
      </p:sp>
      <p:sp>
        <p:nvSpPr>
          <p:cNvPr id="18" name="Shape 16"/>
          <p:cNvSpPr/>
          <p:nvPr/>
        </p:nvSpPr>
        <p:spPr>
          <a:xfrm>
            <a:off x="822960" y="3794760"/>
            <a:ext cx="10424160" cy="0"/>
          </a:xfrm>
          <a:prstGeom prst="line">
            <a:avLst/>
          </a:prstGeom>
          <a:noFill/>
          <a:ln w="9525">
            <a:solidFill>
              <a:srgbClr val="D9DFE6"/>
            </a:solidFill>
            <a:prstDash val="solid"/>
          </a:ln>
        </p:spPr>
      </p:sp>
      <p:sp>
        <p:nvSpPr>
          <p:cNvPr id="19" name="Shape 17"/>
          <p:cNvSpPr/>
          <p:nvPr/>
        </p:nvSpPr>
        <p:spPr>
          <a:xfrm>
            <a:off x="822960" y="3888029"/>
            <a:ext cx="502920" cy="502920"/>
          </a:xfrm>
          <a:prstGeom prst="roundRect">
            <a:avLst>
              <a:gd name="adj" fmla="val 18182"/>
            </a:avLst>
          </a:prstGeom>
          <a:solidFill>
            <a:srgbClr val="0B1F3A"/>
          </a:solidFill>
          <a:ln/>
        </p:spPr>
      </p:sp>
      <p:sp>
        <p:nvSpPr>
          <p:cNvPr id="20" name="Text 18"/>
          <p:cNvSpPr txBox="1"/>
          <p:nvPr/>
        </p:nvSpPr>
        <p:spPr>
          <a:xfrm>
            <a:off x="822960" y="3888029"/>
            <a:ext cx="502920" cy="502920"/>
          </a:xfrm>
          <a:prstGeom prst="rect">
            <a:avLst/>
          </a:prstGeom>
          <a:noFill/>
          <a:ln/>
        </p:spPr>
        <p:txBody>
          <a:bodyPr wrap="square" lIns="0" tIns="0" rIns="0" bIns="0" rtlCol="0" anchor="ctr"/>
          <a:lstStyle/>
          <a:p>
            <a:pPr marL="0" indent="0" algn="ctr">
              <a:buNone/>
            </a:pPr>
            <a:r>
              <a:rPr lang="en-US" sz="1600" b="1" dirty="0">
                <a:solidFill>
                  <a:srgbClr val="E8A33D"/>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554480" y="3794760"/>
            <a:ext cx="9692640" cy="481889"/>
          </a:xfrm>
          <a:prstGeom prst="rect">
            <a:avLst/>
          </a:prstGeom>
          <a:noFill/>
          <a:ln/>
        </p:spPr>
        <p:txBody>
          <a:bodyPr wrap="square" lIns="0" tIns="0" rIns="0" bIns="0"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Bir veri yapısı nedir, seçim neden önemlidir</a:t>
            </a:r>
            <a:endParaRPr lang="en-US" sz="1600" dirty="0"/>
          </a:p>
        </p:txBody>
      </p:sp>
      <p:sp>
        <p:nvSpPr>
          <p:cNvPr id="22" name="Text 20"/>
          <p:cNvSpPr txBox="1"/>
          <p:nvPr/>
        </p:nvSpPr>
        <p:spPr>
          <a:xfrm>
            <a:off x="1554480" y="4222242"/>
            <a:ext cx="9692640" cy="310896"/>
          </a:xfrm>
          <a:prstGeom prst="rect">
            <a:avLst/>
          </a:prstGeom>
          <a:noFill/>
          <a:ln/>
        </p:spPr>
        <p:txBody>
          <a:bodyPr wrap="square" lIns="0" tIns="0" rIns="0" bIns="0" rtlCol="0" anchor="ctr"/>
          <a:lstStyle/>
          <a:p>
            <a:pPr marL="0" indent="0">
              <a:buNone/>
            </a:pPr>
            <a:r>
              <a:rPr lang="en-US" sz="1250" dirty="0">
                <a:solidFill>
                  <a:srgbClr val="5B6B7C"/>
                </a:solidFill>
                <a:latin typeface="Calibri" pitchFamily="34" charset="0"/>
                <a:ea typeface="Calibri" pitchFamily="34" charset="-122"/>
                <a:cs typeface="Calibri" pitchFamily="34" charset="-120"/>
              </a:rPr>
              <a:t>Gerçekten ihtiyaç duyduğunuz işlemler için veriyi organize etmek</a:t>
            </a:r>
            <a:endParaRPr lang="en-US" sz="1250" dirty="0"/>
          </a:p>
        </p:txBody>
      </p:sp>
      <p:sp>
        <p:nvSpPr>
          <p:cNvPr id="23" name="Shape 21"/>
          <p:cNvSpPr/>
          <p:nvPr/>
        </p:nvSpPr>
        <p:spPr>
          <a:xfrm>
            <a:off x="822960" y="4572000"/>
            <a:ext cx="10424160" cy="0"/>
          </a:xfrm>
          <a:prstGeom prst="line">
            <a:avLst/>
          </a:prstGeom>
          <a:noFill/>
          <a:ln w="9525">
            <a:solidFill>
              <a:srgbClr val="D9DFE6"/>
            </a:solidFill>
            <a:prstDash val="solid"/>
          </a:ln>
        </p:spPr>
      </p:sp>
      <p:sp>
        <p:nvSpPr>
          <p:cNvPr id="24" name="Shape 22"/>
          <p:cNvSpPr/>
          <p:nvPr/>
        </p:nvSpPr>
        <p:spPr>
          <a:xfrm>
            <a:off x="822960" y="4665269"/>
            <a:ext cx="502920" cy="502920"/>
          </a:xfrm>
          <a:prstGeom prst="roundRect">
            <a:avLst>
              <a:gd name="adj" fmla="val 18182"/>
            </a:avLst>
          </a:prstGeom>
          <a:solidFill>
            <a:srgbClr val="0B1F3A"/>
          </a:solidFill>
          <a:ln/>
        </p:spPr>
      </p:sp>
      <p:sp>
        <p:nvSpPr>
          <p:cNvPr id="25" name="Text 23"/>
          <p:cNvSpPr txBox="1"/>
          <p:nvPr/>
        </p:nvSpPr>
        <p:spPr>
          <a:xfrm>
            <a:off x="822960" y="4665269"/>
            <a:ext cx="502920" cy="502920"/>
          </a:xfrm>
          <a:prstGeom prst="rect">
            <a:avLst/>
          </a:prstGeom>
          <a:noFill/>
          <a:ln/>
        </p:spPr>
        <p:txBody>
          <a:bodyPr wrap="square" lIns="0" tIns="0" rIns="0" bIns="0" rtlCol="0" anchor="ctr"/>
          <a:lstStyle/>
          <a:p>
            <a:pPr marL="0" indent="0" algn="ctr">
              <a:buNone/>
            </a:pPr>
            <a:r>
              <a:rPr lang="en-US" sz="1600" b="1" dirty="0">
                <a:solidFill>
                  <a:srgbClr val="E8A33D"/>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1554480" y="4572000"/>
            <a:ext cx="9692640" cy="481889"/>
          </a:xfrm>
          <a:prstGeom prst="rect">
            <a:avLst/>
          </a:prstGeom>
          <a:noFill/>
          <a:ln/>
        </p:spPr>
        <p:txBody>
          <a:bodyPr wrap="square" lIns="0" tIns="0" rIns="0" bIns="0"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Soyut Veri Tipleri (ADT)</a:t>
            </a:r>
            <a:endParaRPr lang="en-US" sz="1600" dirty="0"/>
          </a:p>
        </p:txBody>
      </p:sp>
      <p:sp>
        <p:nvSpPr>
          <p:cNvPr id="27" name="Text 25"/>
          <p:cNvSpPr txBox="1"/>
          <p:nvPr/>
        </p:nvSpPr>
        <p:spPr>
          <a:xfrm>
            <a:off x="1554480" y="4999482"/>
            <a:ext cx="9692640" cy="310896"/>
          </a:xfrm>
          <a:prstGeom prst="rect">
            <a:avLst/>
          </a:prstGeom>
          <a:noFill/>
          <a:ln/>
        </p:spPr>
        <p:txBody>
          <a:bodyPr wrap="square" lIns="0" tIns="0" rIns="0" bIns="0" rtlCol="0" anchor="ctr"/>
          <a:lstStyle/>
          <a:p>
            <a:pPr marL="0" indent="0">
              <a:buNone/>
            </a:pPr>
            <a:r>
              <a:rPr lang="en-US" sz="1250" dirty="0">
                <a:solidFill>
                  <a:srgbClr val="5B6B7C"/>
                </a:solidFill>
                <a:latin typeface="Calibri" pitchFamily="34" charset="0"/>
                <a:ea typeface="Calibri" pitchFamily="34" charset="-122"/>
                <a:cs typeface="Calibri" pitchFamily="34" charset="-120"/>
              </a:rPr>
              <a:t>Bir yapının ne yaptığını nasıl yapıldığından ayırmak</a:t>
            </a:r>
            <a:endParaRPr lang="en-US" sz="1250" dirty="0"/>
          </a:p>
        </p:txBody>
      </p:sp>
      <p:sp>
        <p:nvSpPr>
          <p:cNvPr id="28" name="Shape 26"/>
          <p:cNvSpPr/>
          <p:nvPr/>
        </p:nvSpPr>
        <p:spPr>
          <a:xfrm>
            <a:off x="822960" y="5349240"/>
            <a:ext cx="10424160" cy="0"/>
          </a:xfrm>
          <a:prstGeom prst="line">
            <a:avLst/>
          </a:prstGeom>
          <a:noFill/>
          <a:ln w="9525">
            <a:solidFill>
              <a:srgbClr val="D9DFE6"/>
            </a:solidFill>
            <a:prstDash val="solid"/>
          </a:ln>
        </p:spPr>
      </p:sp>
      <p:sp>
        <p:nvSpPr>
          <p:cNvPr id="29" name="Shape 27"/>
          <p:cNvSpPr/>
          <p:nvPr/>
        </p:nvSpPr>
        <p:spPr>
          <a:xfrm>
            <a:off x="822960" y="5442509"/>
            <a:ext cx="502920" cy="502920"/>
          </a:xfrm>
          <a:prstGeom prst="roundRect">
            <a:avLst>
              <a:gd name="adj" fmla="val 18182"/>
            </a:avLst>
          </a:prstGeom>
          <a:solidFill>
            <a:srgbClr val="0B1F3A"/>
          </a:solidFill>
          <a:ln/>
        </p:spPr>
      </p:sp>
      <p:sp>
        <p:nvSpPr>
          <p:cNvPr id="30" name="Text 28"/>
          <p:cNvSpPr txBox="1"/>
          <p:nvPr/>
        </p:nvSpPr>
        <p:spPr>
          <a:xfrm>
            <a:off x="822960" y="5442509"/>
            <a:ext cx="502920" cy="502920"/>
          </a:xfrm>
          <a:prstGeom prst="rect">
            <a:avLst/>
          </a:prstGeom>
          <a:noFill/>
          <a:ln/>
        </p:spPr>
        <p:txBody>
          <a:bodyPr wrap="square" lIns="0" tIns="0" rIns="0" bIns="0" rtlCol="0" anchor="ctr"/>
          <a:lstStyle/>
          <a:p>
            <a:pPr marL="0" indent="0" algn="ctr">
              <a:buNone/>
            </a:pPr>
            <a:r>
              <a:rPr lang="en-US" sz="1600" b="1" dirty="0">
                <a:solidFill>
                  <a:srgbClr val="E8A33D"/>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1554480" y="5349240"/>
            <a:ext cx="9692640" cy="481889"/>
          </a:xfrm>
          <a:prstGeom prst="rect">
            <a:avLst/>
          </a:prstGeom>
          <a:noFill/>
          <a:ln/>
        </p:spPr>
        <p:txBody>
          <a:bodyPr wrap="square" lIns="0" tIns="0" rIns="0" bIns="0"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Hesaplamalı düşünmenin dört ayağı</a:t>
            </a:r>
            <a:endParaRPr lang="en-US" sz="1600" dirty="0"/>
          </a:p>
        </p:txBody>
      </p:sp>
      <p:sp>
        <p:nvSpPr>
          <p:cNvPr id="32" name="Text 30"/>
          <p:cNvSpPr txBox="1"/>
          <p:nvPr/>
        </p:nvSpPr>
        <p:spPr>
          <a:xfrm>
            <a:off x="1554480" y="5776722"/>
            <a:ext cx="9692640" cy="310896"/>
          </a:xfrm>
          <a:prstGeom prst="rect">
            <a:avLst/>
          </a:prstGeom>
          <a:noFill/>
          <a:ln/>
        </p:spPr>
        <p:txBody>
          <a:bodyPr wrap="square" lIns="0" tIns="0" rIns="0" bIns="0" rtlCol="0" anchor="ctr"/>
          <a:lstStyle/>
          <a:p>
            <a:pPr marL="0" indent="0">
              <a:buNone/>
            </a:pPr>
            <a:r>
              <a:rPr lang="en-US" sz="1250" dirty="0">
                <a:solidFill>
                  <a:srgbClr val="5B6B7C"/>
                </a:solidFill>
                <a:latin typeface="Calibri" pitchFamily="34" charset="0"/>
                <a:ea typeface="Calibri" pitchFamily="34" charset="-122"/>
                <a:cs typeface="Calibri" pitchFamily="34" charset="-120"/>
              </a:rPr>
              <a:t>Ayrıştırma, örüntü tanıma, soyutlama, algoritmalar</a:t>
            </a:r>
            <a:endParaRPr lang="en-US" sz="1250" dirty="0"/>
          </a:p>
        </p:txBody>
      </p:sp>
      <p:sp>
        <p:nvSpPr>
          <p:cNvPr id="33" name="Text 31"/>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34" name="Text 32"/>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txBox="1"/>
          <p:nvPr/>
        </p:nvSpPr>
        <p:spPr>
          <a:xfrm>
            <a:off x="822960" y="2331720"/>
            <a:ext cx="3657600" cy="411480"/>
          </a:xfrm>
          <a:prstGeom prst="rect">
            <a:avLst/>
          </a:prstGeom>
          <a:noFill/>
          <a:ln/>
        </p:spPr>
        <p:txBody>
          <a:bodyPr wrap="square" lIns="0" tIns="0" rIns="0" bIns="0" rtlCol="0" anchor="ctr"/>
          <a:lstStyle/>
          <a:p>
            <a:pPr marL="0" indent="0">
              <a:buNone/>
            </a:pPr>
            <a:r>
              <a:rPr lang="en-US" sz="1600" b="1" dirty="0">
                <a:solidFill>
                  <a:srgbClr val="E8A33D"/>
                </a:solidFill>
                <a:latin typeface="Calibri" pitchFamily="34" charset="0"/>
                <a:ea typeface="Calibri" pitchFamily="34" charset="-122"/>
                <a:cs typeface="Calibri" pitchFamily="34" charset="-120"/>
              </a:rPr>
              <a:t>01 / 05</a:t>
            </a:r>
            <a:endParaRPr lang="en-US" sz="1600" dirty="0"/>
          </a:p>
        </p:txBody>
      </p:sp>
      <p:sp>
        <p:nvSpPr>
          <p:cNvPr id="4" name="Shape 2"/>
          <p:cNvSpPr/>
          <p:nvPr/>
        </p:nvSpPr>
        <p:spPr>
          <a:xfrm>
            <a:off x="822960" y="2880360"/>
            <a:ext cx="1463040" cy="0"/>
          </a:xfrm>
          <a:prstGeom prst="line">
            <a:avLst/>
          </a:prstGeom>
          <a:noFill/>
          <a:ln w="25400">
            <a:solidFill>
              <a:srgbClr val="E8A33D"/>
            </a:solidFill>
            <a:prstDash val="solid"/>
          </a:ln>
        </p:spPr>
      </p:sp>
      <p:sp>
        <p:nvSpPr>
          <p:cNvPr id="5" name="Text 3"/>
          <p:cNvSpPr txBox="1"/>
          <p:nvPr/>
        </p:nvSpPr>
        <p:spPr>
          <a:xfrm>
            <a:off x="822960" y="3108960"/>
            <a:ext cx="10241280" cy="16459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Algoritma Nedir?</a:t>
            </a:r>
            <a:endParaRPr lang="en-US" sz="34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Algoritma</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737360"/>
            <a:ext cx="10515600" cy="1463040"/>
          </a:xfrm>
          <a:prstGeom prst="roundRect">
            <a:avLst>
              <a:gd name="adj" fmla="val 5000"/>
            </a:avLst>
          </a:prstGeom>
          <a:solidFill>
            <a:srgbClr val="F3F5F8"/>
          </a:solidFill>
          <a:ln w="12700">
            <a:solidFill>
              <a:srgbClr val="D9DFE6"/>
            </a:solidFill>
            <a:prstDash val="solid"/>
          </a:ln>
        </p:spPr>
      </p:sp>
      <p:sp>
        <p:nvSpPr>
          <p:cNvPr id="6" name="Text 4"/>
          <p:cNvSpPr txBox="1"/>
          <p:nvPr/>
        </p:nvSpPr>
        <p:spPr>
          <a:xfrm>
            <a:off x="1097280" y="1874520"/>
            <a:ext cx="10058400" cy="45720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Algoritma</a:t>
            </a:r>
            <a:endParaRPr lang="en-US" sz="2000" dirty="0"/>
          </a:p>
        </p:txBody>
      </p:sp>
      <p:sp>
        <p:nvSpPr>
          <p:cNvPr id="7" name="Text 5"/>
          <p:cNvSpPr txBox="1"/>
          <p:nvPr/>
        </p:nvSpPr>
        <p:spPr>
          <a:xfrm>
            <a:off x="1097280" y="2331720"/>
            <a:ext cx="9966960" cy="777240"/>
          </a:xfrm>
          <a:prstGeom prst="rect">
            <a:avLst/>
          </a:prstGeom>
          <a:noFill/>
          <a:ln/>
        </p:spPr>
        <p:txBody>
          <a:bodyPr wrap="square" lIns="0" tIns="0" rIns="0" bIns="0" rtlCol="0" anchor="t"/>
          <a:lstStyle/>
          <a:p>
            <a:pPr marL="0" indent="0">
              <a:buNone/>
            </a:pPr>
            <a:r>
              <a:rPr lang="en-US" sz="1500" dirty="0">
                <a:solidFill>
                  <a:srgbClr val="1B2430"/>
                </a:solidFill>
                <a:latin typeface="Calibri" pitchFamily="34" charset="0"/>
                <a:ea typeface="Calibri" pitchFamily="34" charset="-122"/>
                <a:cs typeface="Calibri" pitchFamily="34" charset="-120"/>
              </a:rPr>
              <a:t>Verilen bir girdiyi istenen bir çıktıya dönüştüren, sonlu, sıralı ve iyi tanımlanmış adımlar dizisidir; ayrıca sonlanacağı garanti edilir.</a:t>
            </a:r>
            <a:endParaRPr lang="en-US" sz="1500" dirty="0"/>
          </a:p>
        </p:txBody>
      </p:sp>
      <p:sp>
        <p:nvSpPr>
          <p:cNvPr id="8" name="Text 6"/>
          <p:cNvSpPr txBox="1"/>
          <p:nvPr/>
        </p:nvSpPr>
        <p:spPr>
          <a:xfrm>
            <a:off x="822960" y="3429000"/>
            <a:ext cx="2743200" cy="320040"/>
          </a:xfrm>
          <a:prstGeom prst="rect">
            <a:avLst/>
          </a:prstGeom>
          <a:noFill/>
          <a:ln/>
        </p:spPr>
        <p:txBody>
          <a:bodyPr wrap="square" lIns="0" tIns="0" rIns="0" bIns="0" rtlCol="0" anchor="ctr"/>
          <a:lstStyle/>
          <a:p>
            <a:pPr marL="0" indent="0">
              <a:buNone/>
            </a:pPr>
            <a:r>
              <a:rPr lang="tr-TR" sz="1100" b="1" kern="0" spc="150" dirty="0" smtClean="0">
                <a:solidFill>
                  <a:srgbClr val="C1791F"/>
                </a:solidFill>
                <a:latin typeface="Calibri" pitchFamily="34" charset="0"/>
                <a:ea typeface="Calibri" pitchFamily="34" charset="-122"/>
                <a:cs typeface="Calibri" pitchFamily="34" charset="-120"/>
              </a:rPr>
              <a:t>Örnek</a:t>
            </a:r>
          </a:p>
        </p:txBody>
      </p:sp>
      <p:sp>
        <p:nvSpPr>
          <p:cNvPr id="9" name="Text 7"/>
          <p:cNvSpPr txBox="1"/>
          <p:nvPr/>
        </p:nvSpPr>
        <p:spPr>
          <a:xfrm>
            <a:off x="822960" y="3794760"/>
            <a:ext cx="10515600" cy="2194560"/>
          </a:xfrm>
          <a:prstGeom prst="rect">
            <a:avLst/>
          </a:prstGeom>
          <a:noFill/>
          <a:ln/>
        </p:spPr>
        <p:txBody>
          <a:bodyPr wrap="square" lIns="0" tIns="0" rIns="0" bIns="0" rtlCol="0" anchor="t"/>
          <a:lstStyle/>
          <a:p>
            <a:pPr marL="0" indent="0">
              <a:buNone/>
            </a:pPr>
            <a:r>
              <a:rPr lang="en-US" sz="1500" dirty="0">
                <a:solidFill>
                  <a:srgbClr val="5B6B7C"/>
                </a:solidFill>
                <a:latin typeface="Calibri" pitchFamily="34" charset="0"/>
                <a:ea typeface="Calibri" pitchFamily="34" charset="-122"/>
                <a:cs typeface="Calibri" pitchFamily="34" charset="-120"/>
              </a:rPr>
              <a:t>"Ödenmemiş faturaların bir listesi verildiğinde, bir müşterinin şu anda borçlu olduğu toplam tutarı üretin."</a:t>
            </a:r>
            <a:endParaRPr lang="en-US" sz="1500" dirty="0"/>
          </a:p>
          <a:p>
            <a:pPr marL="0" indent="0">
              <a:buNone/>
            </a:pPr>
            <a:r>
              <a:rPr lang="en-US" sz="1500" dirty="0">
                <a:solidFill>
                  <a:srgbClr val="5B6B7C"/>
                </a:solidFill>
                <a:latin typeface="Calibri" pitchFamily="34" charset="0"/>
                <a:ea typeface="Calibri" pitchFamily="34" charset="-122"/>
                <a:cs typeface="Calibri" pitchFamily="34" charset="-120"/>
              </a:rPr>
              <a:t>Bu bir problem tanımıdır — algoritma, bunu çözen kesin adımlar dizisidir.</a:t>
            </a:r>
            <a:endParaRPr lang="en-US" sz="15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İyi Bir Algoritmanın Beş Özelliği</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700" b="1" dirty="0">
                <a:solidFill>
                  <a:srgbClr val="1B2430"/>
                </a:solidFill>
                <a:latin typeface="Calibri" pitchFamily="34" charset="0"/>
                <a:ea typeface="Calibri" pitchFamily="34" charset="-122"/>
                <a:cs typeface="Calibri" pitchFamily="34" charset="-120"/>
              </a:rPr>
              <a:t>Girdi — sıfır veya daha fazla iyi tanımlanmış girdi alır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Çıktı — en az bir iyi tanımlanmış çıktı üretir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Kesinlik — her adım kesin ve açıktır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Sonluluk — sonlu sayıda adımdan sonra sona erer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Etkililik — her adım, elle veya makineyle tam olarak gerçekleştirilebilecek kadar temeldir</a:t>
            </a:r>
            <a:endParaRPr lang="en-US" sz="1700" dirty="0"/>
          </a:p>
        </p:txBody>
      </p:sp>
      <p:sp>
        <p:nvSpPr>
          <p:cNvPr id="6" name="Shape 4"/>
          <p:cNvSpPr/>
          <p:nvPr/>
        </p:nvSpPr>
        <p:spPr>
          <a:xfrm>
            <a:off x="7589520" y="1600200"/>
            <a:ext cx="3703320" cy="4480560"/>
          </a:xfrm>
          <a:prstGeom prst="roundRect">
            <a:avLst>
              <a:gd name="adj" fmla="val 1975"/>
            </a:avLst>
          </a:prstGeom>
          <a:solidFill>
            <a:srgbClr val="F3F5F8"/>
          </a:solidFill>
          <a:ln w="12700">
            <a:solidFill>
              <a:srgbClr val="D9DFE6"/>
            </a:solidFill>
            <a:prstDash val="solid"/>
          </a:ln>
        </p:spPr>
      </p:sp>
      <p:sp>
        <p:nvSpPr>
          <p:cNvPr id="7" name="Text 5"/>
          <p:cNvSpPr txBox="1"/>
          <p:nvPr/>
        </p:nvSpPr>
        <p:spPr>
          <a:xfrm>
            <a:off x="7863840" y="1783080"/>
            <a:ext cx="3200400" cy="365760"/>
          </a:xfrm>
          <a:prstGeom prst="rect">
            <a:avLst/>
          </a:prstGeom>
          <a:noFill/>
          <a:ln/>
        </p:spPr>
        <p:txBody>
          <a:bodyPr wrap="square" lIns="0" tIns="0" rIns="0" bIns="0" rtlCol="0" anchor="ctr"/>
          <a:lstStyle/>
          <a:p>
            <a:pPr marL="0" indent="0">
              <a:buNone/>
            </a:pPr>
            <a:r>
              <a:rPr lang="en-US" sz="1300" b="1" dirty="0">
                <a:solidFill>
                  <a:srgbClr val="C1791F"/>
                </a:solidFill>
                <a:latin typeface="Calibri" pitchFamily="34" charset="0"/>
                <a:ea typeface="Calibri" pitchFamily="34" charset="-122"/>
                <a:cs typeface="Calibri" pitchFamily="34" charset="-120"/>
              </a:rPr>
              <a:t>Neden Önemli</a:t>
            </a:r>
            <a:endParaRPr lang="en-US" sz="1300" dirty="0"/>
          </a:p>
        </p:txBody>
      </p:sp>
      <p:sp>
        <p:nvSpPr>
          <p:cNvPr id="8" name="Text 6"/>
          <p:cNvSpPr txBox="1"/>
          <p:nvPr/>
        </p:nvSpPr>
        <p:spPr>
          <a:xfrm>
            <a:off x="7863840" y="2148840"/>
            <a:ext cx="3200400" cy="3749040"/>
          </a:xfrm>
          <a:prstGeom prst="rect">
            <a:avLst/>
          </a:prstGeom>
          <a:noFill/>
          <a:ln/>
        </p:spPr>
        <p:txBody>
          <a:bodyPr wrap="square" lIns="0" tIns="0" rIns="0" bIns="0" rtlCol="0" anchor="t"/>
          <a:lstStyle/>
          <a:p>
            <a:pPr marL="0" indent="0">
              <a:buNone/>
            </a:pPr>
            <a:r>
              <a:rPr lang="en-US" sz="1300" dirty="0">
                <a:solidFill>
                  <a:srgbClr val="5B6B7C"/>
                </a:solidFill>
                <a:latin typeface="Calibri" pitchFamily="34" charset="0"/>
                <a:ea typeface="Calibri" pitchFamily="34" charset="-122"/>
                <a:cs typeface="Calibri" pitchFamily="34" charset="-120"/>
              </a:rPr>
              <a:t>Bu beş özellikten biri eksikse, elinizde bir bilgisayarın (veya yeni bir çalışanın) güvenilir biçimde yürütebileceği bir algoritma değil, belirsiz bir plan vardır.</a:t>
            </a:r>
            <a:endParaRPr lang="en-US" sz="130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İŞ SENARYOSU</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Kredi Onayı İçin Bir Algoritma Tasarlamak</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10515600" cy="1234440"/>
          </a:xfrm>
          <a:prstGeom prst="roundRect">
            <a:avLst>
              <a:gd name="adj" fmla="val 5926"/>
            </a:avLst>
          </a:prstGeom>
          <a:solidFill>
            <a:srgbClr val="0B1F3A"/>
          </a:solidFill>
          <a:ln/>
        </p:spPr>
      </p:sp>
      <p:sp>
        <p:nvSpPr>
          <p:cNvPr id="7" name="Text 5"/>
          <p:cNvSpPr txBox="1"/>
          <p:nvPr/>
        </p:nvSpPr>
        <p:spPr>
          <a:xfrm>
            <a:off x="1051560" y="1965960"/>
            <a:ext cx="1005840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Bir bankanın bilgi sistemi, bir bireysel kredi başvurusunun tutarlı ve adil biçimde ön onay alıp almayacağına karar vermeli.</a:t>
            </a:r>
            <a:endParaRPr lang="en-US" sz="1500" dirty="0"/>
          </a:p>
        </p:txBody>
      </p:sp>
      <p:sp>
        <p:nvSpPr>
          <p:cNvPr id="8" name="Text 6"/>
          <p:cNvSpPr txBox="1"/>
          <p:nvPr/>
        </p:nvSpPr>
        <p:spPr>
          <a:xfrm>
            <a:off x="822960" y="3063240"/>
            <a:ext cx="10424160" cy="30632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Girdi: başvuranın geliri, mevcut borcu, kredi skoru</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Adımlar: borç/gelir oranını hesapla, kredi skorunu bir eşikle karşılaştır, iki kontrolü birleştir</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Çıktı: "onaylandı", "reddedildi" veya "manuel incelemeye gerek var"</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Her başvuran tam olarak aynı, iyi tanımlanmış adımlardan geçmelidir — algoritmanın değeri bu tutarlılıktır</a:t>
            </a:r>
            <a:endParaRPr lang="en-US" sz="155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İŞ AKIŞI</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Algoritmik Problem Çözme Süreci</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4572000"/>
          </a:xfrm>
          <a:prstGeom prst="rect">
            <a:avLst/>
          </a:prstGeom>
          <a:noFill/>
          <a:ln/>
        </p:spPr>
        <p:txBody>
          <a:bodyPr wrap="square" lIns="0" tIns="0" rIns="0" bIns="0" rtlCol="0" anchor="t"/>
          <a:lstStyle/>
          <a:p>
            <a:pPr marL="228600" indent="-228600">
              <a:spcAft>
                <a:spcPts val="1400"/>
              </a:spcAft>
              <a:buSzPct val="100000"/>
              <a:buChar char="•"/>
            </a:pPr>
            <a:r>
              <a:rPr lang="en-US" sz="1700" b="1" dirty="0">
                <a:solidFill>
                  <a:srgbClr val="1B2430"/>
                </a:solidFill>
                <a:latin typeface="Calibri" pitchFamily="34" charset="0"/>
                <a:ea typeface="Calibri" pitchFamily="34" charset="-122"/>
                <a:cs typeface="Calibri" pitchFamily="34" charset="-120"/>
              </a:rPr>
              <a:t>1. Problemi anlayın — girdi nedir, istenen çıktı nedir?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2. Kod yazmadan önce düz dilde veya sözde kodla bir çözüm planlayın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3. İlgili veri için uygun veri yapılarını seçin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4. Planı koda çevirin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5. Normal durumlar, uç durumlar ve geçersiz girdilerle test edin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6. Önce doğruluk, sonra verimlilik için iyileştirin</a:t>
            </a:r>
            <a:endParaRPr lang="en-US" sz="17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txBox="1"/>
          <p:nvPr/>
        </p:nvSpPr>
        <p:spPr>
          <a:xfrm>
            <a:off x="822960" y="2331720"/>
            <a:ext cx="3657600" cy="411480"/>
          </a:xfrm>
          <a:prstGeom prst="rect">
            <a:avLst/>
          </a:prstGeom>
          <a:noFill/>
          <a:ln/>
        </p:spPr>
        <p:txBody>
          <a:bodyPr wrap="square" lIns="0" tIns="0" rIns="0" bIns="0" rtlCol="0" anchor="ctr"/>
          <a:lstStyle/>
          <a:p>
            <a:pPr marL="0" indent="0">
              <a:buNone/>
            </a:pPr>
            <a:r>
              <a:rPr lang="en-US" sz="1600" b="1" dirty="0">
                <a:solidFill>
                  <a:srgbClr val="E8A33D"/>
                </a:solidFill>
                <a:latin typeface="Calibri" pitchFamily="34" charset="0"/>
                <a:ea typeface="Calibri" pitchFamily="34" charset="-122"/>
                <a:cs typeface="Calibri" pitchFamily="34" charset="-120"/>
              </a:rPr>
              <a:t>02 / 05</a:t>
            </a:r>
            <a:endParaRPr lang="en-US" sz="1600" dirty="0"/>
          </a:p>
        </p:txBody>
      </p:sp>
      <p:sp>
        <p:nvSpPr>
          <p:cNvPr id="4" name="Shape 2"/>
          <p:cNvSpPr/>
          <p:nvPr/>
        </p:nvSpPr>
        <p:spPr>
          <a:xfrm>
            <a:off x="822960" y="2880360"/>
            <a:ext cx="1463040" cy="0"/>
          </a:xfrm>
          <a:prstGeom prst="line">
            <a:avLst/>
          </a:prstGeom>
          <a:noFill/>
          <a:ln w="25400">
            <a:solidFill>
              <a:srgbClr val="E8A33D"/>
            </a:solidFill>
            <a:prstDash val="solid"/>
          </a:ln>
        </p:spPr>
      </p:sp>
      <p:sp>
        <p:nvSpPr>
          <p:cNvPr id="5" name="Text 3"/>
          <p:cNvSpPr txBox="1"/>
          <p:nvPr/>
        </p:nvSpPr>
        <p:spPr>
          <a:xfrm>
            <a:off x="822960" y="3108960"/>
            <a:ext cx="10241280" cy="16459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Sözde Kod ve Akış Şemaları</a:t>
            </a:r>
            <a:endParaRPr lang="en-US" sz="34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Sözde Kod</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737360"/>
            <a:ext cx="10515600" cy="1463040"/>
          </a:xfrm>
          <a:prstGeom prst="roundRect">
            <a:avLst>
              <a:gd name="adj" fmla="val 5000"/>
            </a:avLst>
          </a:prstGeom>
          <a:solidFill>
            <a:srgbClr val="F3F5F8"/>
          </a:solidFill>
          <a:ln w="12700">
            <a:solidFill>
              <a:srgbClr val="D9DFE6"/>
            </a:solidFill>
            <a:prstDash val="solid"/>
          </a:ln>
        </p:spPr>
      </p:sp>
      <p:sp>
        <p:nvSpPr>
          <p:cNvPr id="6" name="Text 4"/>
          <p:cNvSpPr txBox="1"/>
          <p:nvPr/>
        </p:nvSpPr>
        <p:spPr>
          <a:xfrm>
            <a:off x="1097280" y="1874520"/>
            <a:ext cx="10058400" cy="45720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Pseudocode (Sözde Kod)</a:t>
            </a:r>
            <a:endParaRPr lang="en-US" sz="2000" dirty="0"/>
          </a:p>
        </p:txBody>
      </p:sp>
      <p:sp>
        <p:nvSpPr>
          <p:cNvPr id="7" name="Text 5"/>
          <p:cNvSpPr txBox="1"/>
          <p:nvPr/>
        </p:nvSpPr>
        <p:spPr>
          <a:xfrm>
            <a:off x="1097280" y="2331720"/>
            <a:ext cx="9966960" cy="777240"/>
          </a:xfrm>
          <a:prstGeom prst="rect">
            <a:avLst/>
          </a:prstGeom>
          <a:noFill/>
          <a:ln/>
        </p:spPr>
        <p:txBody>
          <a:bodyPr wrap="square" lIns="0" tIns="0" rIns="0" bIns="0" rtlCol="0" anchor="t"/>
          <a:lstStyle/>
          <a:p>
            <a:pPr marL="0" indent="0">
              <a:buNone/>
            </a:pPr>
            <a:r>
              <a:rPr lang="en-US" sz="1500" dirty="0">
                <a:solidFill>
                  <a:srgbClr val="1B2430"/>
                </a:solidFill>
                <a:latin typeface="Calibri" pitchFamily="34" charset="0"/>
                <a:ea typeface="Calibri" pitchFamily="34" charset="-122"/>
                <a:cs typeface="Calibri" pitchFamily="34" charset="-120"/>
              </a:rPr>
              <a:t>Bir algoritmanın mantığını, belirli bir dilin sözdizimini düşünmeden, yapılandırılmış düz dil ifadeleriyle betimleyen, dilden bağımsız gayriresmî bir yoldur — koda dökülebilecek kadar kesindir.</a:t>
            </a:r>
            <a:endParaRPr lang="en-US" sz="1500" dirty="0"/>
          </a:p>
        </p:txBody>
      </p:sp>
      <p:sp>
        <p:nvSpPr>
          <p:cNvPr id="8" name="Text 6"/>
          <p:cNvSpPr txBox="1"/>
          <p:nvPr/>
        </p:nvSpPr>
        <p:spPr>
          <a:xfrm>
            <a:off x="822960" y="3429000"/>
            <a:ext cx="2743200" cy="320040"/>
          </a:xfrm>
          <a:prstGeom prst="rect">
            <a:avLst/>
          </a:prstGeom>
          <a:noFill/>
          <a:ln/>
        </p:spPr>
        <p:txBody>
          <a:bodyPr wrap="square" lIns="0" tIns="0" rIns="0" bIns="0" rtlCol="0" anchor="ctr"/>
          <a:lstStyle/>
          <a:p>
            <a:pPr marL="0" indent="0">
              <a:buNone/>
            </a:pPr>
            <a:r>
              <a:rPr lang="tr-TR" sz="1100" b="1" kern="0" spc="150" dirty="0" smtClean="0">
                <a:solidFill>
                  <a:srgbClr val="C1791F"/>
                </a:solidFill>
                <a:latin typeface="Calibri" pitchFamily="34" charset="0"/>
                <a:ea typeface="Calibri" pitchFamily="34" charset="-122"/>
                <a:cs typeface="Calibri" pitchFamily="34" charset="-120"/>
              </a:rPr>
              <a:t>Örnek</a:t>
            </a:r>
            <a:endParaRPr lang="en-US" sz="1100" dirty="0"/>
          </a:p>
        </p:txBody>
      </p:sp>
      <p:sp>
        <p:nvSpPr>
          <p:cNvPr id="9" name="Text 7"/>
          <p:cNvSpPr txBox="1"/>
          <p:nvPr/>
        </p:nvSpPr>
        <p:spPr>
          <a:xfrm>
            <a:off x="822960" y="3794760"/>
            <a:ext cx="10515600" cy="2194560"/>
          </a:xfrm>
          <a:prstGeom prst="rect">
            <a:avLst/>
          </a:prstGeom>
          <a:noFill/>
          <a:ln/>
        </p:spPr>
        <p:txBody>
          <a:bodyPr wrap="square" lIns="0" tIns="0" rIns="0" bIns="0" rtlCol="0" anchor="t"/>
          <a:lstStyle/>
          <a:p>
            <a:pPr marL="0" indent="0">
              <a:buNone/>
            </a:pPr>
            <a:r>
              <a:rPr lang="en-US" sz="1500" dirty="0">
                <a:solidFill>
                  <a:srgbClr val="5B6B7C"/>
                </a:solidFill>
                <a:latin typeface="Calibri" pitchFamily="34" charset="0"/>
                <a:ea typeface="Calibri" pitchFamily="34" charset="-122"/>
                <a:cs typeface="Calibri" pitchFamily="34" charset="-120"/>
              </a:rPr>
              <a:t>BAŞLA</a:t>
            </a:r>
            <a:endParaRPr lang="en-US" sz="1500" dirty="0"/>
          </a:p>
          <a:p>
            <a:pPr marL="0" indent="0">
              <a:buNone/>
            </a:pPr>
            <a:r>
              <a:rPr lang="en-US" sz="1500" dirty="0">
                <a:solidFill>
                  <a:srgbClr val="5B6B7C"/>
                </a:solidFill>
                <a:latin typeface="Calibri" pitchFamily="34" charset="0"/>
                <a:ea typeface="Calibri" pitchFamily="34" charset="-122"/>
                <a:cs typeface="Calibri" pitchFamily="34" charset="-120"/>
              </a:rPr>
              <a:t>  sipariş tutarları listesini OKU</a:t>
            </a:r>
            <a:endParaRPr lang="en-US" sz="1500" dirty="0"/>
          </a:p>
          <a:p>
            <a:pPr marL="0" indent="0">
              <a:buNone/>
            </a:pPr>
            <a:r>
              <a:rPr lang="en-US" sz="1500" dirty="0">
                <a:solidFill>
                  <a:srgbClr val="5B6B7C"/>
                </a:solidFill>
                <a:latin typeface="Calibri" pitchFamily="34" charset="0"/>
                <a:ea typeface="Calibri" pitchFamily="34" charset="-122"/>
                <a:cs typeface="Calibri" pitchFamily="34" charset="-120"/>
              </a:rPr>
              <a:t>  toplam DEĞERİNİ 0 YAP</a:t>
            </a:r>
            <a:endParaRPr lang="en-US" sz="1500" dirty="0"/>
          </a:p>
          <a:p>
            <a:pPr marL="0" indent="0">
              <a:buNone/>
            </a:pPr>
            <a:r>
              <a:rPr lang="en-US" sz="1500" dirty="0">
                <a:solidFill>
                  <a:srgbClr val="5B6B7C"/>
                </a:solidFill>
                <a:latin typeface="Calibri" pitchFamily="34" charset="0"/>
                <a:ea typeface="Calibri" pitchFamily="34" charset="-122"/>
                <a:cs typeface="Calibri" pitchFamily="34" charset="-120"/>
              </a:rPr>
              <a:t>  listedeki HER tutar İÇİN</a:t>
            </a:r>
            <a:endParaRPr lang="en-US" sz="1500" dirty="0"/>
          </a:p>
          <a:p>
            <a:pPr marL="0" indent="0">
              <a:buNone/>
            </a:pPr>
            <a:r>
              <a:rPr lang="en-US" sz="1500" dirty="0">
                <a:solidFill>
                  <a:srgbClr val="5B6B7C"/>
                </a:solidFill>
                <a:latin typeface="Calibri" pitchFamily="34" charset="0"/>
                <a:ea typeface="Calibri" pitchFamily="34" charset="-122"/>
                <a:cs typeface="Calibri" pitchFamily="34" charset="-120"/>
              </a:rPr>
              <a:t>      toplam = toplam + tutar</a:t>
            </a:r>
            <a:endParaRPr lang="en-US" sz="1500" dirty="0"/>
          </a:p>
          <a:p>
            <a:pPr marL="0" indent="0">
              <a:buNone/>
            </a:pPr>
            <a:r>
              <a:rPr lang="en-US" sz="1500" dirty="0">
                <a:solidFill>
                  <a:srgbClr val="5B6B7C"/>
                </a:solidFill>
                <a:latin typeface="Calibri" pitchFamily="34" charset="0"/>
                <a:ea typeface="Calibri" pitchFamily="34" charset="-122"/>
                <a:cs typeface="Calibri" pitchFamily="34" charset="-120"/>
              </a:rPr>
              <a:t>  DÖNGÜYÜ BİTİR</a:t>
            </a:r>
            <a:endParaRPr lang="en-US" sz="1500" dirty="0"/>
          </a:p>
          <a:p>
            <a:pPr marL="0" indent="0">
              <a:buNone/>
            </a:pPr>
            <a:r>
              <a:rPr lang="en-US" sz="1500" dirty="0">
                <a:solidFill>
                  <a:srgbClr val="5B6B7C"/>
                </a:solidFill>
                <a:latin typeface="Calibri" pitchFamily="34" charset="0"/>
                <a:ea typeface="Calibri" pitchFamily="34" charset="-122"/>
                <a:cs typeface="Calibri" pitchFamily="34" charset="-120"/>
              </a:rPr>
              <a:t>  toplamı YAZDIR</a:t>
            </a:r>
            <a:endParaRPr lang="en-US" sz="1500" dirty="0"/>
          </a:p>
          <a:p>
            <a:pPr marL="0" indent="0">
              <a:buNone/>
            </a:pPr>
            <a:r>
              <a:rPr lang="en-US" sz="1500" dirty="0">
                <a:solidFill>
                  <a:srgbClr val="5B6B7C"/>
                </a:solidFill>
                <a:latin typeface="Calibri" pitchFamily="34" charset="0"/>
                <a:ea typeface="Calibri" pitchFamily="34" charset="-122"/>
                <a:cs typeface="Calibri" pitchFamily="34" charset="-120"/>
              </a:rPr>
              <a:t>BİTİR</a:t>
            </a:r>
            <a:endParaRPr lang="en-US" sz="15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UYGULAMA</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Sözde Koddan Python'a</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554480"/>
            <a:ext cx="10515600" cy="3063240"/>
          </a:xfrm>
          <a:prstGeom prst="roundRect">
            <a:avLst>
              <a:gd name="adj" fmla="val 1791"/>
            </a:avLst>
          </a:prstGeom>
          <a:solidFill>
            <a:srgbClr val="0B1F3A"/>
          </a:solidFill>
          <a:ln/>
        </p:spPr>
      </p:sp>
      <p:sp>
        <p:nvSpPr>
          <p:cNvPr id="6" name="Text 4"/>
          <p:cNvSpPr txBox="1"/>
          <p:nvPr/>
        </p:nvSpPr>
        <p:spPr>
          <a:xfrm>
            <a:off x="1097280" y="1737360"/>
            <a:ext cx="9966960" cy="2697480"/>
          </a:xfrm>
          <a:prstGeom prst="rect">
            <a:avLst/>
          </a:prstGeom>
          <a:noFill/>
          <a:ln/>
        </p:spPr>
        <p:txBody>
          <a:bodyPr wrap="square" lIns="0" tIns="0" rIns="0" bIns="0" rtlCol="0" anchor="t"/>
          <a:lstStyle/>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Sözde kod:</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toplam DEĞERİNİ 0 YAP</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siparis_listesindeki HER tutar İÇİN</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toplam = toplam + tutar</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toplamı YAZDIR</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siparis_listesi = [120.50, 980.00, 45.25, 300.75]</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toplam = 0</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for tutar in siparis_listesi:</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toplam = toplam + tutar</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print(toplam)</a:t>
            </a:r>
            <a:endParaRPr lang="en-US" sz="1350" dirty="0"/>
          </a:p>
        </p:txBody>
      </p:sp>
      <p:sp>
        <p:nvSpPr>
          <p:cNvPr id="7" name="Shape 5"/>
          <p:cNvSpPr/>
          <p:nvPr/>
        </p:nvSpPr>
        <p:spPr>
          <a:xfrm>
            <a:off x="822960" y="4754880"/>
            <a:ext cx="10515600" cy="1051560"/>
          </a:xfrm>
          <a:prstGeom prst="roundRect">
            <a:avLst>
              <a:gd name="adj" fmla="val 5217"/>
            </a:avLst>
          </a:prstGeom>
          <a:solidFill>
            <a:srgbClr val="F3F5F8"/>
          </a:solidFill>
          <a:ln w="12700">
            <a:solidFill>
              <a:srgbClr val="D9DFE6"/>
            </a:solidFill>
            <a:prstDash val="solid"/>
          </a:ln>
        </p:spPr>
      </p:sp>
      <p:sp>
        <p:nvSpPr>
          <p:cNvPr id="8" name="Text 6"/>
          <p:cNvSpPr txBox="1"/>
          <p:nvPr/>
        </p:nvSpPr>
        <p:spPr>
          <a:xfrm>
            <a:off x="1005840" y="4828032"/>
            <a:ext cx="1828800" cy="274320"/>
          </a:xfrm>
          <a:prstGeom prst="rect">
            <a:avLst/>
          </a:prstGeom>
          <a:noFill/>
          <a:ln/>
        </p:spPr>
        <p:txBody>
          <a:bodyPr wrap="square" lIns="0" tIns="0" rIns="0" bIns="0" rtlCol="0" anchor="ctr"/>
          <a:lstStyle/>
          <a:p>
            <a:pPr marL="0" indent="0">
              <a:buNone/>
            </a:pPr>
            <a:r>
              <a:rPr lang="tr-TR" sz="1000" b="1" kern="0" spc="100" dirty="0" smtClean="0">
                <a:solidFill>
                  <a:srgbClr val="C1791F"/>
                </a:solidFill>
                <a:latin typeface="Calibri" pitchFamily="34" charset="0"/>
                <a:ea typeface="Calibri" pitchFamily="34" charset="-122"/>
                <a:cs typeface="Calibri" pitchFamily="34" charset="-120"/>
              </a:rPr>
              <a:t>Çıktı</a:t>
            </a:r>
            <a:endParaRPr lang="en-US" sz="1000" dirty="0"/>
          </a:p>
        </p:txBody>
      </p:sp>
      <p:sp>
        <p:nvSpPr>
          <p:cNvPr id="9" name="Text 7"/>
          <p:cNvSpPr txBox="1"/>
          <p:nvPr/>
        </p:nvSpPr>
        <p:spPr>
          <a:xfrm>
            <a:off x="1005840" y="5074920"/>
            <a:ext cx="10149840" cy="685800"/>
          </a:xfrm>
          <a:prstGeom prst="rect">
            <a:avLst/>
          </a:prstGeom>
          <a:noFill/>
          <a:ln/>
        </p:spPr>
        <p:txBody>
          <a:bodyPr wrap="square" lIns="0" tIns="0" rIns="0" bIns="0" rtlCol="0" anchor="ctr"/>
          <a:lstStyle/>
          <a:p>
            <a:pPr marL="0" indent="0">
              <a:buNone/>
            </a:pPr>
            <a:r>
              <a:rPr lang="en-US" sz="1300" dirty="0">
                <a:solidFill>
                  <a:srgbClr val="1B2430"/>
                </a:solidFill>
                <a:latin typeface="Consolas" pitchFamily="34" charset="0"/>
                <a:ea typeface="Consolas" pitchFamily="34" charset="-122"/>
                <a:cs typeface="Consolas" pitchFamily="34" charset="-120"/>
              </a:rPr>
              <a:t>1446.5</a:t>
            </a:r>
            <a:endParaRPr lang="en-US" sz="1300" dirty="0"/>
          </a:p>
        </p:txBody>
      </p:sp>
      <p:sp>
        <p:nvSpPr>
          <p:cNvPr id="10" name="Text 8"/>
          <p:cNvSpPr txBox="1"/>
          <p:nvPr/>
        </p:nvSpPr>
        <p:spPr>
          <a:xfrm>
            <a:off x="822960" y="6172200"/>
            <a:ext cx="10515600" cy="365760"/>
          </a:xfrm>
          <a:prstGeom prst="rect">
            <a:avLst/>
          </a:prstGeom>
          <a:noFill/>
          <a:ln/>
        </p:spPr>
        <p:txBody>
          <a:bodyPr wrap="square" lIns="0" tIns="0" rIns="0" bIns="0" rtlCol="0" anchor="ctr"/>
          <a:lstStyle/>
          <a:p>
            <a:pPr marL="0" indent="0">
              <a:buNone/>
            </a:pPr>
            <a:r>
              <a:rPr lang="en-US" sz="1250" i="1" dirty="0">
                <a:solidFill>
                  <a:srgbClr val="5B6B7C"/>
                </a:solidFill>
                <a:latin typeface="Calibri" pitchFamily="34" charset="0"/>
                <a:ea typeface="Calibri" pitchFamily="34" charset="-122"/>
                <a:cs typeface="Calibri" pitchFamily="34" charset="-120"/>
              </a:rPr>
              <a:t>Python kodunun sözde koda ne kadar yakın olduğuna dikkat edin — sözde kodu önce yazmanın amacı tam olarak bu yakınlıktır.</a:t>
            </a:r>
            <a:endParaRPr lang="en-US" sz="1250" dirty="0"/>
          </a:p>
        </p:txBody>
      </p:sp>
      <p:sp>
        <p:nvSpPr>
          <p:cNvPr id="11" name="Text 9"/>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2" name="Text 10"/>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DIYAGRAM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Bu Dönem Kullanacağınız Akış Şeması Sembolleri</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2377440"/>
            <a:ext cx="2251710" cy="1554480"/>
          </a:xfrm>
          <a:prstGeom prst="roundRect">
            <a:avLst>
              <a:gd name="adj" fmla="val 4706"/>
            </a:avLst>
          </a:prstGeom>
          <a:solidFill>
            <a:srgbClr val="0B1F3A"/>
          </a:solidFill>
          <a:ln/>
        </p:spPr>
      </p:sp>
      <p:sp>
        <p:nvSpPr>
          <p:cNvPr id="6" name="Text 4"/>
          <p:cNvSpPr txBox="1"/>
          <p:nvPr/>
        </p:nvSpPr>
        <p:spPr>
          <a:xfrm>
            <a:off x="960120" y="2514600"/>
            <a:ext cx="1977390"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Başla / Bitir</a:t>
            </a:r>
            <a:endParaRPr lang="en-US" sz="1350" dirty="0"/>
          </a:p>
        </p:txBody>
      </p:sp>
      <p:sp>
        <p:nvSpPr>
          <p:cNvPr id="7" name="Text 5"/>
          <p:cNvSpPr txBox="1"/>
          <p:nvPr/>
        </p:nvSpPr>
        <p:spPr>
          <a:xfrm>
            <a:off x="960120" y="3017520"/>
            <a:ext cx="1977390" cy="822960"/>
          </a:xfrm>
          <a:prstGeom prst="rect">
            <a:avLst/>
          </a:prstGeom>
          <a:noFill/>
          <a:ln/>
        </p:spPr>
        <p:txBody>
          <a:bodyPr wrap="square" lIns="0" tIns="0" rIns="0" bIns="0" rtlCol="0" anchor="t"/>
          <a:lstStyle/>
          <a:p>
            <a:pPr marL="0" indent="0" algn="ctr">
              <a:buNone/>
            </a:pPr>
            <a:r>
              <a:rPr lang="en-US" sz="1100" dirty="0">
                <a:solidFill>
                  <a:srgbClr val="D7E3F4"/>
                </a:solidFill>
                <a:latin typeface="Calibri" pitchFamily="34" charset="0"/>
                <a:ea typeface="Calibri" pitchFamily="34" charset="-122"/>
                <a:cs typeface="Calibri" pitchFamily="34" charset="-120"/>
              </a:rPr>
              <a:t>Oval — giriş ve çıkış noktalarını işaretler</a:t>
            </a:r>
            <a:endParaRPr lang="en-US" sz="1100" dirty="0"/>
          </a:p>
        </p:txBody>
      </p:sp>
      <p:sp>
        <p:nvSpPr>
          <p:cNvPr id="8" name="Shape 6"/>
          <p:cNvSpPr/>
          <p:nvPr/>
        </p:nvSpPr>
        <p:spPr>
          <a:xfrm>
            <a:off x="3074670" y="3154680"/>
            <a:ext cx="502920" cy="0"/>
          </a:xfrm>
          <a:prstGeom prst="line">
            <a:avLst/>
          </a:prstGeom>
          <a:noFill/>
          <a:ln w="28575">
            <a:solidFill>
              <a:srgbClr val="8A97A5"/>
            </a:solidFill>
            <a:prstDash val="solid"/>
            <a:tailEnd type="triangle"/>
          </a:ln>
        </p:spPr>
      </p:sp>
      <p:sp>
        <p:nvSpPr>
          <p:cNvPr id="9" name="Shape 7"/>
          <p:cNvSpPr/>
          <p:nvPr/>
        </p:nvSpPr>
        <p:spPr>
          <a:xfrm>
            <a:off x="3577590" y="2377440"/>
            <a:ext cx="2251710" cy="1554480"/>
          </a:xfrm>
          <a:prstGeom prst="roundRect">
            <a:avLst>
              <a:gd name="adj" fmla="val 4706"/>
            </a:avLst>
          </a:prstGeom>
          <a:solidFill>
            <a:srgbClr val="0B1F3A"/>
          </a:solidFill>
          <a:ln/>
        </p:spPr>
      </p:sp>
      <p:sp>
        <p:nvSpPr>
          <p:cNvPr id="10" name="Text 8"/>
          <p:cNvSpPr txBox="1"/>
          <p:nvPr/>
        </p:nvSpPr>
        <p:spPr>
          <a:xfrm>
            <a:off x="3714750" y="2514600"/>
            <a:ext cx="1977390"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Girdi / Çıktı</a:t>
            </a:r>
            <a:endParaRPr lang="en-US" sz="1350" dirty="0"/>
          </a:p>
        </p:txBody>
      </p:sp>
      <p:sp>
        <p:nvSpPr>
          <p:cNvPr id="11" name="Text 9"/>
          <p:cNvSpPr txBox="1"/>
          <p:nvPr/>
        </p:nvSpPr>
        <p:spPr>
          <a:xfrm>
            <a:off x="3714750" y="3017520"/>
            <a:ext cx="1977390" cy="822960"/>
          </a:xfrm>
          <a:prstGeom prst="rect">
            <a:avLst/>
          </a:prstGeom>
          <a:noFill/>
          <a:ln/>
        </p:spPr>
        <p:txBody>
          <a:bodyPr wrap="square" lIns="0" tIns="0" rIns="0" bIns="0" rtlCol="0" anchor="t"/>
          <a:lstStyle/>
          <a:p>
            <a:pPr marL="0" indent="0" algn="ctr">
              <a:buNone/>
            </a:pPr>
            <a:r>
              <a:rPr lang="en-US" sz="1100" dirty="0">
                <a:solidFill>
                  <a:srgbClr val="D7E3F4"/>
                </a:solidFill>
                <a:latin typeface="Calibri" pitchFamily="34" charset="0"/>
                <a:ea typeface="Calibri" pitchFamily="34" charset="-122"/>
                <a:cs typeface="Calibri" pitchFamily="34" charset="-120"/>
              </a:rPr>
              <a:t>Paralelkenar — gelen veya giden veri</a:t>
            </a:r>
            <a:endParaRPr lang="en-US" sz="1100" dirty="0"/>
          </a:p>
        </p:txBody>
      </p:sp>
      <p:sp>
        <p:nvSpPr>
          <p:cNvPr id="12" name="Shape 10"/>
          <p:cNvSpPr/>
          <p:nvPr/>
        </p:nvSpPr>
        <p:spPr>
          <a:xfrm>
            <a:off x="5829300" y="3154680"/>
            <a:ext cx="502920" cy="0"/>
          </a:xfrm>
          <a:prstGeom prst="line">
            <a:avLst/>
          </a:prstGeom>
          <a:noFill/>
          <a:ln w="28575">
            <a:solidFill>
              <a:srgbClr val="8A97A5"/>
            </a:solidFill>
            <a:prstDash val="solid"/>
            <a:tailEnd type="triangle"/>
          </a:ln>
        </p:spPr>
      </p:sp>
      <p:sp>
        <p:nvSpPr>
          <p:cNvPr id="13" name="Shape 11"/>
          <p:cNvSpPr/>
          <p:nvPr/>
        </p:nvSpPr>
        <p:spPr>
          <a:xfrm>
            <a:off x="6332220" y="2377440"/>
            <a:ext cx="2251710" cy="1554480"/>
          </a:xfrm>
          <a:prstGeom prst="roundRect">
            <a:avLst>
              <a:gd name="adj" fmla="val 4706"/>
            </a:avLst>
          </a:prstGeom>
          <a:solidFill>
            <a:srgbClr val="0B1F3A"/>
          </a:solidFill>
          <a:ln/>
        </p:spPr>
      </p:sp>
      <p:sp>
        <p:nvSpPr>
          <p:cNvPr id="14" name="Text 12"/>
          <p:cNvSpPr txBox="1"/>
          <p:nvPr/>
        </p:nvSpPr>
        <p:spPr>
          <a:xfrm>
            <a:off x="6469380" y="2514600"/>
            <a:ext cx="1977390"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İşlem</a:t>
            </a:r>
            <a:endParaRPr lang="en-US" sz="1350" dirty="0"/>
          </a:p>
        </p:txBody>
      </p:sp>
      <p:sp>
        <p:nvSpPr>
          <p:cNvPr id="15" name="Text 13"/>
          <p:cNvSpPr txBox="1"/>
          <p:nvPr/>
        </p:nvSpPr>
        <p:spPr>
          <a:xfrm>
            <a:off x="6469380" y="3017520"/>
            <a:ext cx="1977390" cy="822960"/>
          </a:xfrm>
          <a:prstGeom prst="rect">
            <a:avLst/>
          </a:prstGeom>
          <a:noFill/>
          <a:ln/>
        </p:spPr>
        <p:txBody>
          <a:bodyPr wrap="square" lIns="0" tIns="0" rIns="0" bIns="0" rtlCol="0" anchor="t"/>
          <a:lstStyle/>
          <a:p>
            <a:pPr marL="0" indent="0" algn="ctr">
              <a:buNone/>
            </a:pPr>
            <a:r>
              <a:rPr lang="en-US" sz="1100" dirty="0">
                <a:solidFill>
                  <a:srgbClr val="D7E3F4"/>
                </a:solidFill>
                <a:latin typeface="Calibri" pitchFamily="34" charset="0"/>
                <a:ea typeface="Calibri" pitchFamily="34" charset="-122"/>
                <a:cs typeface="Calibri" pitchFamily="34" charset="-120"/>
              </a:rPr>
              <a:t>Dikdörtgen — bir hesaplama veya atama</a:t>
            </a:r>
            <a:endParaRPr lang="en-US" sz="1100" dirty="0"/>
          </a:p>
        </p:txBody>
      </p:sp>
      <p:sp>
        <p:nvSpPr>
          <p:cNvPr id="16" name="Shape 14"/>
          <p:cNvSpPr/>
          <p:nvPr/>
        </p:nvSpPr>
        <p:spPr>
          <a:xfrm>
            <a:off x="8583930" y="3154680"/>
            <a:ext cx="502920" cy="0"/>
          </a:xfrm>
          <a:prstGeom prst="line">
            <a:avLst/>
          </a:prstGeom>
          <a:noFill/>
          <a:ln w="28575">
            <a:solidFill>
              <a:srgbClr val="8A97A5"/>
            </a:solidFill>
            <a:prstDash val="solid"/>
            <a:tailEnd type="triangle"/>
          </a:ln>
        </p:spPr>
      </p:sp>
      <p:sp>
        <p:nvSpPr>
          <p:cNvPr id="17" name="Shape 15"/>
          <p:cNvSpPr/>
          <p:nvPr/>
        </p:nvSpPr>
        <p:spPr>
          <a:xfrm>
            <a:off x="9086850" y="2377440"/>
            <a:ext cx="2251710" cy="1554480"/>
          </a:xfrm>
          <a:prstGeom prst="roundRect">
            <a:avLst>
              <a:gd name="adj" fmla="val 4706"/>
            </a:avLst>
          </a:prstGeom>
          <a:solidFill>
            <a:srgbClr val="C1791F"/>
          </a:solidFill>
          <a:ln/>
        </p:spPr>
      </p:sp>
      <p:sp>
        <p:nvSpPr>
          <p:cNvPr id="18" name="Text 16"/>
          <p:cNvSpPr txBox="1"/>
          <p:nvPr/>
        </p:nvSpPr>
        <p:spPr>
          <a:xfrm>
            <a:off x="9224010" y="2514600"/>
            <a:ext cx="1977390"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Karar</a:t>
            </a:r>
            <a:endParaRPr lang="en-US" sz="1350" dirty="0"/>
          </a:p>
        </p:txBody>
      </p:sp>
      <p:sp>
        <p:nvSpPr>
          <p:cNvPr id="19" name="Text 17"/>
          <p:cNvSpPr txBox="1"/>
          <p:nvPr/>
        </p:nvSpPr>
        <p:spPr>
          <a:xfrm>
            <a:off x="9224010" y="3017520"/>
            <a:ext cx="1977390" cy="822960"/>
          </a:xfrm>
          <a:prstGeom prst="rect">
            <a:avLst/>
          </a:prstGeom>
          <a:noFill/>
          <a:ln/>
        </p:spPr>
        <p:txBody>
          <a:bodyPr wrap="square" lIns="0" tIns="0" rIns="0" bIns="0" rtlCol="0" anchor="t"/>
          <a:lstStyle/>
          <a:p>
            <a:pPr marL="0" indent="0" algn="ctr">
              <a:buNone/>
            </a:pPr>
            <a:r>
              <a:rPr lang="en-US" sz="1100" dirty="0">
                <a:solidFill>
                  <a:srgbClr val="D7E3F4"/>
                </a:solidFill>
                <a:latin typeface="Calibri" pitchFamily="34" charset="0"/>
                <a:ea typeface="Calibri" pitchFamily="34" charset="-122"/>
                <a:cs typeface="Calibri" pitchFamily="34" charset="-120"/>
              </a:rPr>
              <a:t>Eşkenar dörtgen — evet/hayır dallanma noktası</a:t>
            </a:r>
            <a:endParaRPr lang="en-US" sz="1100" dirty="0"/>
          </a:p>
        </p:txBody>
      </p:sp>
      <p:sp>
        <p:nvSpPr>
          <p:cNvPr id="20" name="Text 18"/>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21" name="Text 19"/>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İŞ SENARYOSU</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Bir Kargo Ücreti Kararı Tasarlamak</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10515600" cy="1234440"/>
          </a:xfrm>
          <a:prstGeom prst="roundRect">
            <a:avLst>
              <a:gd name="adj" fmla="val 5926"/>
            </a:avLst>
          </a:prstGeom>
          <a:solidFill>
            <a:srgbClr val="0B1F3A"/>
          </a:solidFill>
          <a:ln/>
        </p:spPr>
      </p:sp>
      <p:sp>
        <p:nvSpPr>
          <p:cNvPr id="7" name="Text 5"/>
          <p:cNvSpPr txBox="1"/>
          <p:nvPr/>
        </p:nvSpPr>
        <p:spPr>
          <a:xfrm>
            <a:off x="1051560" y="1965960"/>
            <a:ext cx="1005840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Bir çevrim içi mağaza kargo ücretini hesaplamalı: bir harcama eşiğinin üzerinde ücretsiz, aksi halde sabit bir ücret, büyük boy ürünlerde ek bir ücret farkıyla birlikte.</a:t>
            </a:r>
            <a:endParaRPr lang="en-US" sz="1500" dirty="0"/>
          </a:p>
        </p:txBody>
      </p:sp>
      <p:sp>
        <p:nvSpPr>
          <p:cNvPr id="8" name="Text 6"/>
          <p:cNvSpPr txBox="1"/>
          <p:nvPr/>
        </p:nvSpPr>
        <p:spPr>
          <a:xfrm>
            <a:off x="822960" y="3063240"/>
            <a:ext cx="10424160" cy="30632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Önce akış şeması olarak taslak çıkarın: Başla → Sipariş tutarı ve boyutu girdisi → Karar (eşik üstü mü?) → Karar (büyük boy mu?) → Çıktı ücret → Bitir</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Akış şeması üzerinde anlaştıktan sonra sözde kodu, ardından Python'ı yazın</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Bu sıra — koddan önce akış şeması/sözde kod — mantık hatalarını, düzeltmesi hâlâ ucuzken yakalar</a:t>
            </a:r>
            <a:endParaRPr lang="en-US" sz="155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Uygulama: Önce Sözde Kod</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822960"/>
          </a:xfrm>
          <a:prstGeom prst="rect">
            <a:avLst/>
          </a:prstGeom>
          <a:noFill/>
          <a:ln/>
        </p:spPr>
        <p:txBody>
          <a:bodyPr wrap="square" lIns="0" tIns="0" rIns="0" bIns="0" rtlCol="0" anchor="ctr"/>
          <a:lstStyle/>
          <a:p>
            <a:pPr marL="0" indent="0">
              <a:buNone/>
            </a:pPr>
            <a:r>
              <a:rPr lang="en-US" sz="1650" b="1" dirty="0">
                <a:solidFill>
                  <a:srgbClr val="0B1F3A"/>
                </a:solidFill>
                <a:latin typeface="Calibri" pitchFamily="34" charset="0"/>
                <a:ea typeface="Calibri" pitchFamily="34" charset="-122"/>
                <a:cs typeface="Calibri" pitchFamily="34" charset="-120"/>
              </a:rPr>
              <a:t>Not defterinizi açmadan önce (kağıda veya bir metin hücresine) şunun için sözde kod yazın:</a:t>
            </a:r>
            <a:endParaRPr lang="en-US" sz="1650" dirty="0"/>
          </a:p>
        </p:txBody>
      </p:sp>
      <p:sp>
        <p:nvSpPr>
          <p:cNvPr id="6" name="Text 4"/>
          <p:cNvSpPr txBox="1"/>
          <p:nvPr/>
        </p:nvSpPr>
        <p:spPr>
          <a:xfrm>
            <a:off x="822960" y="2514600"/>
            <a:ext cx="6400800" cy="338328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Bir çalışan maaşları listesini okumak</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Ortalama maaşı hesaplamak</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Ortalamadan %50'den fazla yüksek olan herhangi bir maaşı "aykırı değer" olarak işaretlemek</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Ortalamayı ve aykırı değerler listesini yazdırmak</a:t>
            </a:r>
            <a:endParaRPr lang="en-US" sz="1550" dirty="0"/>
          </a:p>
        </p:txBody>
      </p:sp>
      <p:sp>
        <p:nvSpPr>
          <p:cNvPr id="7" name="Shape 5"/>
          <p:cNvSpPr/>
          <p:nvPr/>
        </p:nvSpPr>
        <p:spPr>
          <a:xfrm>
            <a:off x="7498080" y="2514600"/>
            <a:ext cx="3794760" cy="3383280"/>
          </a:xfrm>
          <a:prstGeom prst="roundRect">
            <a:avLst>
              <a:gd name="adj" fmla="val 2162"/>
            </a:avLst>
          </a:prstGeom>
          <a:solidFill>
            <a:srgbClr val="FFF6E8"/>
          </a:solidFill>
          <a:ln w="12700">
            <a:solidFill>
              <a:srgbClr val="E8A33D"/>
            </a:solidFill>
            <a:prstDash val="solid"/>
          </a:ln>
        </p:spPr>
      </p:sp>
      <p:sp>
        <p:nvSpPr>
          <p:cNvPr id="8" name="Text 6"/>
          <p:cNvSpPr txBox="1"/>
          <p:nvPr/>
        </p:nvSpPr>
        <p:spPr>
          <a:xfrm>
            <a:off x="7726680" y="2697480"/>
            <a:ext cx="3200400" cy="274320"/>
          </a:xfrm>
          <a:prstGeom prst="rect">
            <a:avLst/>
          </a:prstGeom>
          <a:noFill/>
          <a:ln/>
        </p:spPr>
        <p:txBody>
          <a:bodyPr wrap="square" lIns="0" tIns="0" rIns="0" bIns="0" rtlCol="0" anchor="ctr"/>
          <a:lstStyle/>
          <a:p>
            <a:pPr marL="0" indent="0">
              <a:buNone/>
            </a:pPr>
            <a:r>
              <a:rPr lang="tr-TR" sz="1100" b="1" kern="0" spc="150" dirty="0" smtClean="0">
                <a:solidFill>
                  <a:srgbClr val="C1791F"/>
                </a:solidFill>
                <a:latin typeface="Calibri" pitchFamily="34" charset="0"/>
                <a:ea typeface="Calibri" pitchFamily="34" charset="-122"/>
                <a:cs typeface="Calibri" pitchFamily="34" charset="-120"/>
              </a:rPr>
              <a:t>İpucu</a:t>
            </a:r>
            <a:endParaRPr lang="en-US" sz="1100" dirty="0"/>
          </a:p>
        </p:txBody>
      </p:sp>
      <p:sp>
        <p:nvSpPr>
          <p:cNvPr id="9" name="Text 7"/>
          <p:cNvSpPr txBox="1"/>
          <p:nvPr/>
        </p:nvSpPr>
        <p:spPr>
          <a:xfrm>
            <a:off x="7726680" y="3017520"/>
            <a:ext cx="3337560" cy="2743200"/>
          </a:xfrm>
          <a:prstGeom prst="rect">
            <a:avLst/>
          </a:prstGeom>
          <a:noFill/>
          <a:ln/>
        </p:spPr>
        <p:txBody>
          <a:bodyPr wrap="square" lIns="0" tIns="0" rIns="0" bIns="0" rtlCol="0" anchor="t"/>
          <a:lstStyle/>
          <a:p>
            <a:pPr marL="0" indent="0">
              <a:buNone/>
            </a:pPr>
            <a:r>
              <a:rPr lang="en-US" sz="1300" dirty="0">
                <a:solidFill>
                  <a:srgbClr val="5B6B7C"/>
                </a:solidFill>
                <a:latin typeface="Calibri" pitchFamily="34" charset="0"/>
                <a:ea typeface="Calibri" pitchFamily="34" charset="-122"/>
                <a:cs typeface="Calibri" pitchFamily="34" charset="-120"/>
              </a:rPr>
              <a:t>Şu şekilde yapılandırın: DEĞER YAP, HER... İÇİN, EĞER, YAZDIR — fatura toplamı örneğiyle aynı kalıplar.</a:t>
            </a:r>
            <a:endParaRPr lang="en-US" sz="13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txBox="1"/>
          <p:nvPr/>
        </p:nvSpPr>
        <p:spPr>
          <a:xfrm>
            <a:off x="822960" y="2331720"/>
            <a:ext cx="3657600" cy="411480"/>
          </a:xfrm>
          <a:prstGeom prst="rect">
            <a:avLst/>
          </a:prstGeom>
          <a:noFill/>
          <a:ln/>
        </p:spPr>
        <p:txBody>
          <a:bodyPr wrap="square" lIns="0" tIns="0" rIns="0" bIns="0" rtlCol="0" anchor="ctr"/>
          <a:lstStyle/>
          <a:p>
            <a:pPr marL="0" indent="0">
              <a:buNone/>
            </a:pPr>
            <a:r>
              <a:rPr lang="en-US" sz="1600" b="1" dirty="0">
                <a:solidFill>
                  <a:srgbClr val="E8A33D"/>
                </a:solidFill>
                <a:latin typeface="Calibri" pitchFamily="34" charset="0"/>
                <a:ea typeface="Calibri" pitchFamily="34" charset="-122"/>
                <a:cs typeface="Calibri" pitchFamily="34" charset="-120"/>
              </a:rPr>
              <a:t>03 / 05</a:t>
            </a:r>
            <a:endParaRPr lang="en-US" sz="1600" dirty="0"/>
          </a:p>
        </p:txBody>
      </p:sp>
      <p:sp>
        <p:nvSpPr>
          <p:cNvPr id="4" name="Shape 2"/>
          <p:cNvSpPr/>
          <p:nvPr/>
        </p:nvSpPr>
        <p:spPr>
          <a:xfrm>
            <a:off x="822960" y="2880360"/>
            <a:ext cx="1463040" cy="0"/>
          </a:xfrm>
          <a:prstGeom prst="line">
            <a:avLst/>
          </a:prstGeom>
          <a:noFill/>
          <a:ln w="25400">
            <a:solidFill>
              <a:srgbClr val="E8A33D"/>
            </a:solidFill>
            <a:prstDash val="solid"/>
          </a:ln>
        </p:spPr>
      </p:sp>
      <p:sp>
        <p:nvSpPr>
          <p:cNvPr id="5" name="Text 3"/>
          <p:cNvSpPr txBox="1"/>
          <p:nvPr/>
        </p:nvSpPr>
        <p:spPr>
          <a:xfrm>
            <a:off x="822960" y="3108960"/>
            <a:ext cx="10241280" cy="16459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Veri Yapısı Nedir?</a:t>
            </a:r>
            <a:endParaRPr lang="en-US" sz="34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Veri Yapısı</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737360"/>
            <a:ext cx="10515600" cy="1463040"/>
          </a:xfrm>
          <a:prstGeom prst="roundRect">
            <a:avLst>
              <a:gd name="adj" fmla="val 5000"/>
            </a:avLst>
          </a:prstGeom>
          <a:solidFill>
            <a:srgbClr val="F3F5F8"/>
          </a:solidFill>
          <a:ln w="12700">
            <a:solidFill>
              <a:srgbClr val="D9DFE6"/>
            </a:solidFill>
            <a:prstDash val="solid"/>
          </a:ln>
        </p:spPr>
      </p:sp>
      <p:sp>
        <p:nvSpPr>
          <p:cNvPr id="6" name="Text 4"/>
          <p:cNvSpPr txBox="1"/>
          <p:nvPr/>
        </p:nvSpPr>
        <p:spPr>
          <a:xfrm>
            <a:off x="1097280" y="1874520"/>
            <a:ext cx="10058400" cy="45720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Veri Yapısı</a:t>
            </a:r>
            <a:endParaRPr lang="en-US" sz="2000" dirty="0"/>
          </a:p>
        </p:txBody>
      </p:sp>
      <p:sp>
        <p:nvSpPr>
          <p:cNvPr id="7" name="Text 5"/>
          <p:cNvSpPr txBox="1"/>
          <p:nvPr/>
        </p:nvSpPr>
        <p:spPr>
          <a:xfrm>
            <a:off x="1097280" y="2331720"/>
            <a:ext cx="9966960" cy="777240"/>
          </a:xfrm>
          <a:prstGeom prst="rect">
            <a:avLst/>
          </a:prstGeom>
          <a:noFill/>
          <a:ln/>
        </p:spPr>
        <p:txBody>
          <a:bodyPr wrap="square" lIns="0" tIns="0" rIns="0" bIns="0" rtlCol="0" anchor="t"/>
          <a:lstStyle/>
          <a:p>
            <a:pPr marL="0" indent="0">
              <a:buNone/>
            </a:pPr>
            <a:r>
              <a:rPr lang="en-US" sz="1500" dirty="0">
                <a:solidFill>
                  <a:srgbClr val="1B2430"/>
                </a:solidFill>
                <a:latin typeface="Calibri" pitchFamily="34" charset="0"/>
                <a:ea typeface="Calibri" pitchFamily="34" charset="-122"/>
                <a:cs typeface="Calibri" pitchFamily="34" charset="-120"/>
              </a:rPr>
              <a:t>Bir programın veri üzerinde gerçekleştirmesi gereken işlemler için verimli bir şekilde kullanılabilmesi amacıyla, veriyi bellekte organize etme, saklama ve erişme biçimidir.</a:t>
            </a:r>
            <a:endParaRPr lang="en-US" sz="1500" dirty="0"/>
          </a:p>
        </p:txBody>
      </p:sp>
      <p:sp>
        <p:nvSpPr>
          <p:cNvPr id="8" name="Text 6"/>
          <p:cNvSpPr txBox="1"/>
          <p:nvPr/>
        </p:nvSpPr>
        <p:spPr>
          <a:xfrm>
            <a:off x="822960" y="3429000"/>
            <a:ext cx="2743200" cy="320040"/>
          </a:xfrm>
          <a:prstGeom prst="rect">
            <a:avLst/>
          </a:prstGeom>
          <a:noFill/>
          <a:ln/>
        </p:spPr>
        <p:txBody>
          <a:bodyPr wrap="square" lIns="0" tIns="0" rIns="0" bIns="0" rtlCol="0" anchor="ctr"/>
          <a:lstStyle/>
          <a:p>
            <a:pPr marL="0" indent="0">
              <a:buNone/>
            </a:pPr>
            <a:r>
              <a:rPr lang="tr-TR" sz="1100" b="1" kern="0" spc="150" dirty="0" smtClean="0">
                <a:solidFill>
                  <a:srgbClr val="C1791F"/>
                </a:solidFill>
                <a:latin typeface="Calibri" pitchFamily="34" charset="0"/>
                <a:ea typeface="Calibri" pitchFamily="34" charset="-122"/>
                <a:cs typeface="Calibri" pitchFamily="34" charset="-120"/>
              </a:rPr>
              <a:t>Örnek</a:t>
            </a:r>
            <a:endParaRPr lang="en-US" sz="1100" dirty="0"/>
          </a:p>
        </p:txBody>
      </p:sp>
      <p:sp>
        <p:nvSpPr>
          <p:cNvPr id="9" name="Text 7"/>
          <p:cNvSpPr txBox="1"/>
          <p:nvPr/>
        </p:nvSpPr>
        <p:spPr>
          <a:xfrm>
            <a:off x="822960" y="3794760"/>
            <a:ext cx="10515600" cy="2194560"/>
          </a:xfrm>
          <a:prstGeom prst="rect">
            <a:avLst/>
          </a:prstGeom>
          <a:noFill/>
          <a:ln/>
        </p:spPr>
        <p:txBody>
          <a:bodyPr wrap="square" lIns="0" tIns="0" rIns="0" bIns="0" rtlCol="0" anchor="t"/>
          <a:lstStyle/>
          <a:p>
            <a:pPr marL="0" indent="0">
              <a:buNone/>
            </a:pPr>
            <a:r>
              <a:rPr lang="en-US" sz="1500" dirty="0">
                <a:solidFill>
                  <a:srgbClr val="5B6B7C"/>
                </a:solidFill>
                <a:latin typeface="Calibri" pitchFamily="34" charset="0"/>
                <a:ea typeface="Calibri" pitchFamily="34" charset="-122"/>
                <a:cs typeface="Calibri" pitchFamily="34" charset="-120"/>
              </a:rPr>
              <a:t>Bir telefon rehberi kişileri alfabetik olarak organize eder çünkü en sık yaptığınız işlem — birini isme göre bulmak — bu şekilde hızlıdır. Aynı isimler katılım tarihine göre organize edilse bu arama yavaş olurdu.</a:t>
            </a:r>
            <a:endParaRPr lang="en-US" sz="15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Veri Yapısı Seçimi Neden Önemlidir</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457200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Aynı veri, farklı organize edildiğinde bir işlemi anlık ya da acı verici derecede yavaş hale getirebilir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Her yapı bir ödünleşim sunar: hızlı arama mı, düşük bellek kullanımı mı, hızlı ekleme mi — nadiren üçü birden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Kötü seçim yalnızca performans kaybettirmez — büyük bir sistemde bazı özellikleri neredeyse imkânsız hale getirebilir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Bu ders, her problemi bir listeye sıkıştırmak yerine doğru aracı seçebilmeniz için size bir yapı araç kutusu öğretmek için var</a:t>
            </a:r>
            <a:endParaRPr lang="en-US" sz="17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KARŞILAŞTIRMA</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Ham Veri ile Organize Edilmiş Bir Veri Yapısı</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5074920" cy="4526280"/>
          </a:xfrm>
          <a:prstGeom prst="roundRect">
            <a:avLst>
              <a:gd name="adj" fmla="val 1616"/>
            </a:avLst>
          </a:prstGeom>
          <a:solidFill>
            <a:srgbClr val="F3F5F8"/>
          </a:solidFill>
          <a:ln/>
        </p:spPr>
      </p:sp>
      <p:sp>
        <p:nvSpPr>
          <p:cNvPr id="6" name="Shape 4"/>
          <p:cNvSpPr/>
          <p:nvPr/>
        </p:nvSpPr>
        <p:spPr>
          <a:xfrm>
            <a:off x="822960" y="1600200"/>
            <a:ext cx="5074920" cy="548640"/>
          </a:xfrm>
          <a:prstGeom prst="roundRect">
            <a:avLst>
              <a:gd name="adj" fmla="val 13333"/>
            </a:avLst>
          </a:prstGeom>
          <a:solidFill>
            <a:srgbClr val="0B1F3A"/>
          </a:solidFill>
          <a:ln/>
        </p:spPr>
      </p:sp>
      <p:sp>
        <p:nvSpPr>
          <p:cNvPr id="7" name="Shape 5"/>
          <p:cNvSpPr/>
          <p:nvPr/>
        </p:nvSpPr>
        <p:spPr>
          <a:xfrm>
            <a:off x="822960" y="1874520"/>
            <a:ext cx="5074920" cy="274320"/>
          </a:xfrm>
          <a:prstGeom prst="rect">
            <a:avLst/>
          </a:prstGeom>
          <a:solidFill>
            <a:srgbClr val="0B1F3A"/>
          </a:solidFill>
          <a:ln/>
        </p:spPr>
      </p:sp>
      <p:sp>
        <p:nvSpPr>
          <p:cNvPr id="8" name="Text 6"/>
          <p:cNvSpPr txBox="1"/>
          <p:nvPr/>
        </p:nvSpPr>
        <p:spPr>
          <a:xfrm>
            <a:off x="1097280" y="1600200"/>
            <a:ext cx="452628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Organize Edilmemiş Veri</a:t>
            </a:r>
            <a:endParaRPr lang="en-US" sz="1600" dirty="0"/>
          </a:p>
        </p:txBody>
      </p:sp>
      <p:sp>
        <p:nvSpPr>
          <p:cNvPr id="9" name="Text 7"/>
          <p:cNvSpPr txBox="1"/>
          <p:nvPr/>
        </p:nvSpPr>
        <p:spPr>
          <a:xfrm>
            <a:off x="1143000" y="2377440"/>
            <a:ext cx="4434840" cy="35204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Geliş sırasına göre bir müşteri kaydı yığını</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Bir müşteriyi bulmak her kaydı kontrol etmek demek</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Yeni kayıt eklemek kolay — ama her şey diğer yavaş</a:t>
            </a:r>
            <a:endParaRPr lang="en-US" sz="1450" dirty="0"/>
          </a:p>
        </p:txBody>
      </p:sp>
      <p:sp>
        <p:nvSpPr>
          <p:cNvPr id="10" name="Shape 8"/>
          <p:cNvSpPr/>
          <p:nvPr/>
        </p:nvSpPr>
        <p:spPr>
          <a:xfrm>
            <a:off x="6263640" y="1600200"/>
            <a:ext cx="5074920" cy="4526280"/>
          </a:xfrm>
          <a:prstGeom prst="roundRect">
            <a:avLst>
              <a:gd name="adj" fmla="val 1616"/>
            </a:avLst>
          </a:prstGeom>
          <a:solidFill>
            <a:srgbClr val="F3F5F8"/>
          </a:solidFill>
          <a:ln/>
        </p:spPr>
      </p:sp>
      <p:sp>
        <p:nvSpPr>
          <p:cNvPr id="11" name="Shape 9"/>
          <p:cNvSpPr/>
          <p:nvPr/>
        </p:nvSpPr>
        <p:spPr>
          <a:xfrm>
            <a:off x="6263640" y="1600200"/>
            <a:ext cx="5074920" cy="548640"/>
          </a:xfrm>
          <a:prstGeom prst="roundRect">
            <a:avLst>
              <a:gd name="adj" fmla="val 13333"/>
            </a:avLst>
          </a:prstGeom>
          <a:solidFill>
            <a:srgbClr val="C1791F"/>
          </a:solidFill>
          <a:ln/>
        </p:spPr>
      </p:sp>
      <p:sp>
        <p:nvSpPr>
          <p:cNvPr id="12" name="Shape 10"/>
          <p:cNvSpPr/>
          <p:nvPr/>
        </p:nvSpPr>
        <p:spPr>
          <a:xfrm>
            <a:off x="6263640" y="1874520"/>
            <a:ext cx="5074920" cy="274320"/>
          </a:xfrm>
          <a:prstGeom prst="rect">
            <a:avLst/>
          </a:prstGeom>
          <a:solidFill>
            <a:srgbClr val="C1791F"/>
          </a:solidFill>
          <a:ln/>
        </p:spPr>
      </p:sp>
      <p:sp>
        <p:nvSpPr>
          <p:cNvPr id="13" name="Text 11"/>
          <p:cNvSpPr txBox="1"/>
          <p:nvPr/>
        </p:nvSpPr>
        <p:spPr>
          <a:xfrm>
            <a:off x="6537960" y="1600200"/>
            <a:ext cx="452628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Bir Yapı İçinde Organize Edilmiş</a:t>
            </a:r>
            <a:endParaRPr lang="en-US" sz="1600" dirty="0"/>
          </a:p>
        </p:txBody>
      </p:sp>
      <p:sp>
        <p:nvSpPr>
          <p:cNvPr id="14" name="Text 12"/>
          <p:cNvSpPr txBox="1"/>
          <p:nvPr/>
        </p:nvSpPr>
        <p:spPr>
          <a:xfrm>
            <a:off x="6583680" y="2377440"/>
            <a:ext cx="4434840" cy="35204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Müşteri ID'sine göre indekslenmiş kayıtlar (örn. bir sözlük)</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Bir müşteriyi bulmak neredeyse anlık</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Yapı, en önemli işlem için seçildi: arama</a:t>
            </a:r>
            <a:endParaRPr lang="en-US" sz="1450" dirty="0"/>
          </a:p>
        </p:txBody>
      </p:sp>
      <p:sp>
        <p:nvSpPr>
          <p:cNvPr id="15" name="Text 13"/>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6" name="Text 14"/>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YOL HARITASI</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Bu Dönem Kuracağımız Yapıların Ön İzlemesi</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15600" cy="4480560"/>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74676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Hafta</a:t>
                      </a:r>
                      <a:endParaRPr lang="en-US" sz="135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Yapı</a:t>
                      </a:r>
                      <a:endParaRPr lang="en-US" sz="135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Tipik İş Kullanımı</a:t>
                      </a:r>
                      <a:endParaRPr lang="en-US" sz="135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746760">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Diziler / Listeler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Sıralı kayıtlar: günlük işlemler, ürün katalogları</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6760">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Bağlı Listeler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Sık ekleme/çıkarma olan diziler, örn. görev kuyruğu</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746760">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Yığınlar ve Kuyruklar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Geri alma geçmişi, yazdırma/sipariş kuyrukları, iş akışı adımları</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6760">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Hash Tabloları</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Anahtarla anlık arama: kullanıcı adları, SKU'lar, oturum jetonları</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746760">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11–12</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Ağaçlar ve Graflar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Organizasyon şemaları, dosya sistemleri, ağlar, öneri bağlantıları</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4"/>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İŞ SENARYOSU</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Bir Sipariş Yönetim Sistemi İçin Yapı Seçmek</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10515600" cy="1234440"/>
          </a:xfrm>
          <a:prstGeom prst="roundRect">
            <a:avLst>
              <a:gd name="adj" fmla="val 5926"/>
            </a:avLst>
          </a:prstGeom>
          <a:solidFill>
            <a:srgbClr val="0B1F3A"/>
          </a:solidFill>
          <a:ln/>
        </p:spPr>
      </p:sp>
      <p:sp>
        <p:nvSpPr>
          <p:cNvPr id="7" name="Text 5"/>
          <p:cNvSpPr txBox="1"/>
          <p:nvPr/>
        </p:nvSpPr>
        <p:spPr>
          <a:xfrm>
            <a:off x="1051560" y="1965960"/>
            <a:ext cx="1005840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Bir YBS ekibi sipariş yönetimi arka ucunu tasarlıyor: siparişler sürekli gelir, geliş sırasına göre işlenmeli ve müşteriye göre aranabilir olmalıdır.</a:t>
            </a:r>
            <a:endParaRPr lang="en-US" sz="1500" dirty="0"/>
          </a:p>
        </p:txBody>
      </p:sp>
      <p:sp>
        <p:nvSpPr>
          <p:cNvPr id="8" name="Text 6"/>
          <p:cNvSpPr txBox="1"/>
          <p:nvPr/>
        </p:nvSpPr>
        <p:spPr>
          <a:xfrm>
            <a:off x="822960" y="3063240"/>
            <a:ext cx="10424160" cy="30632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Bir kuyruk, "geliş sırasına göre işle" ile doğal olarak eşleşir</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Müşteri ID'sine göre anahtarlanmış bir sözlük, "müşteriye göre ara" ile doğal olarak eşleşir</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Her iki iş için de tek bir düz liste kullanmak, birinde yavaş ve beceriksiz çözümler zorunlu kılar</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İşlemle eşleşen yapıyı seçmek, bu dersin geliştirdiği temel beceridir</a:t>
            </a:r>
            <a:endParaRPr lang="en-US" sz="155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txBox="1"/>
          <p:nvPr/>
        </p:nvSpPr>
        <p:spPr>
          <a:xfrm>
            <a:off x="822960" y="2331720"/>
            <a:ext cx="3657600" cy="411480"/>
          </a:xfrm>
          <a:prstGeom prst="rect">
            <a:avLst/>
          </a:prstGeom>
          <a:noFill/>
          <a:ln/>
        </p:spPr>
        <p:txBody>
          <a:bodyPr wrap="square" lIns="0" tIns="0" rIns="0" bIns="0" rtlCol="0" anchor="ctr"/>
          <a:lstStyle/>
          <a:p>
            <a:pPr marL="0" indent="0">
              <a:buNone/>
            </a:pPr>
            <a:r>
              <a:rPr lang="en-US" sz="1600" b="1" dirty="0">
                <a:solidFill>
                  <a:srgbClr val="E8A33D"/>
                </a:solidFill>
                <a:latin typeface="Calibri" pitchFamily="34" charset="0"/>
                <a:ea typeface="Calibri" pitchFamily="34" charset="-122"/>
                <a:cs typeface="Calibri" pitchFamily="34" charset="-120"/>
              </a:rPr>
              <a:t>04 / 05</a:t>
            </a:r>
            <a:endParaRPr lang="en-US" sz="1600" dirty="0"/>
          </a:p>
        </p:txBody>
      </p:sp>
      <p:sp>
        <p:nvSpPr>
          <p:cNvPr id="4" name="Shape 2"/>
          <p:cNvSpPr/>
          <p:nvPr/>
        </p:nvSpPr>
        <p:spPr>
          <a:xfrm>
            <a:off x="822960" y="2880360"/>
            <a:ext cx="1463040" cy="0"/>
          </a:xfrm>
          <a:prstGeom prst="line">
            <a:avLst/>
          </a:prstGeom>
          <a:noFill/>
          <a:ln w="25400">
            <a:solidFill>
              <a:srgbClr val="E8A33D"/>
            </a:solidFill>
            <a:prstDash val="solid"/>
          </a:ln>
        </p:spPr>
      </p:sp>
      <p:sp>
        <p:nvSpPr>
          <p:cNvPr id="5" name="Text 3"/>
          <p:cNvSpPr txBox="1"/>
          <p:nvPr/>
        </p:nvSpPr>
        <p:spPr>
          <a:xfrm>
            <a:off x="822960" y="3108960"/>
            <a:ext cx="10241280" cy="16459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Soyut Veri Tipleri</a:t>
            </a:r>
            <a:endParaRPr lang="en-US" sz="34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Soyut Veri Tipi (ADT)</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737360"/>
            <a:ext cx="10515600" cy="1463040"/>
          </a:xfrm>
          <a:prstGeom prst="roundRect">
            <a:avLst>
              <a:gd name="adj" fmla="val 5000"/>
            </a:avLst>
          </a:prstGeom>
          <a:solidFill>
            <a:srgbClr val="F3F5F8"/>
          </a:solidFill>
          <a:ln w="12700">
            <a:solidFill>
              <a:srgbClr val="D9DFE6"/>
            </a:solidFill>
            <a:prstDash val="solid"/>
          </a:ln>
        </p:spPr>
      </p:sp>
      <p:sp>
        <p:nvSpPr>
          <p:cNvPr id="6" name="Text 4"/>
          <p:cNvSpPr txBox="1"/>
          <p:nvPr/>
        </p:nvSpPr>
        <p:spPr>
          <a:xfrm>
            <a:off x="1097280" y="1874520"/>
            <a:ext cx="10058400" cy="45720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Soyut Veri Tipi</a:t>
            </a:r>
            <a:endParaRPr lang="en-US" sz="2000" dirty="0"/>
          </a:p>
        </p:txBody>
      </p:sp>
      <p:sp>
        <p:nvSpPr>
          <p:cNvPr id="7" name="Text 5"/>
          <p:cNvSpPr txBox="1"/>
          <p:nvPr/>
        </p:nvSpPr>
        <p:spPr>
          <a:xfrm>
            <a:off x="1097280" y="2331720"/>
            <a:ext cx="9966960" cy="777240"/>
          </a:xfrm>
          <a:prstGeom prst="rect">
            <a:avLst/>
          </a:prstGeom>
          <a:noFill/>
          <a:ln/>
        </p:spPr>
        <p:txBody>
          <a:bodyPr wrap="square" lIns="0" tIns="0" rIns="0" bIns="0" rtlCol="0" anchor="t"/>
          <a:lstStyle/>
          <a:p>
            <a:pPr marL="0" indent="0">
              <a:buNone/>
            </a:pPr>
            <a:r>
              <a:rPr lang="en-US" sz="1500" dirty="0">
                <a:solidFill>
                  <a:srgbClr val="1B2430"/>
                </a:solidFill>
                <a:latin typeface="Calibri" pitchFamily="34" charset="0"/>
                <a:ea typeface="Calibri" pitchFamily="34" charset="-122"/>
                <a:cs typeface="Calibri" pitchFamily="34" charset="-120"/>
              </a:rPr>
              <a:t>Desteklediği işlemler (örn. "push", "pop") ve bu işlemlerin davranışıyla tanımlanan kavramsal bir modeldir — bu işlemlerin bellekte gerçekte nasıl uygulandığından bağımsızdır.</a:t>
            </a:r>
            <a:endParaRPr lang="en-US" sz="1500" dirty="0"/>
          </a:p>
        </p:txBody>
      </p:sp>
      <p:sp>
        <p:nvSpPr>
          <p:cNvPr id="8" name="Text 6"/>
          <p:cNvSpPr txBox="1"/>
          <p:nvPr/>
        </p:nvSpPr>
        <p:spPr>
          <a:xfrm>
            <a:off x="822960" y="3429000"/>
            <a:ext cx="2743200" cy="320040"/>
          </a:xfrm>
          <a:prstGeom prst="rect">
            <a:avLst/>
          </a:prstGeom>
          <a:noFill/>
          <a:ln/>
        </p:spPr>
        <p:txBody>
          <a:bodyPr wrap="square" lIns="0" tIns="0" rIns="0" bIns="0" rtlCol="0" anchor="ctr"/>
          <a:lstStyle/>
          <a:p>
            <a:pPr marL="0" indent="0">
              <a:buNone/>
            </a:pPr>
            <a:r>
              <a:rPr lang="tr-TR" sz="1100" b="1" kern="0" spc="150" dirty="0" smtClean="0">
                <a:solidFill>
                  <a:srgbClr val="C1791F"/>
                </a:solidFill>
                <a:latin typeface="Calibri" pitchFamily="34" charset="0"/>
                <a:ea typeface="Calibri" pitchFamily="34" charset="-122"/>
                <a:cs typeface="Calibri" pitchFamily="34" charset="-120"/>
              </a:rPr>
              <a:t>Örnek</a:t>
            </a:r>
            <a:endParaRPr lang="en-US" sz="1100" dirty="0"/>
          </a:p>
        </p:txBody>
      </p:sp>
      <p:sp>
        <p:nvSpPr>
          <p:cNvPr id="9" name="Text 7"/>
          <p:cNvSpPr txBox="1"/>
          <p:nvPr/>
        </p:nvSpPr>
        <p:spPr>
          <a:xfrm>
            <a:off x="822960" y="3794760"/>
            <a:ext cx="10515600" cy="2194560"/>
          </a:xfrm>
          <a:prstGeom prst="rect">
            <a:avLst/>
          </a:prstGeom>
          <a:noFill/>
          <a:ln/>
        </p:spPr>
        <p:txBody>
          <a:bodyPr wrap="square" lIns="0" tIns="0" rIns="0" bIns="0" rtlCol="0" anchor="t"/>
          <a:lstStyle/>
          <a:p>
            <a:pPr marL="0" indent="0">
              <a:buNone/>
            </a:pPr>
            <a:r>
              <a:rPr lang="en-US" sz="1500" dirty="0">
                <a:solidFill>
                  <a:srgbClr val="5B6B7C"/>
                </a:solidFill>
                <a:latin typeface="Calibri" pitchFamily="34" charset="0"/>
                <a:ea typeface="Calibri" pitchFamily="34" charset="-122"/>
                <a:cs typeface="Calibri" pitchFamily="34" charset="-120"/>
              </a:rPr>
              <a:t>Bir Yığın (Stack) ADT'si push, pop ve peek ile ve "son giren ilk çıkar" kuralıyla tanımlanır. Bunun bir Python listesi üzerine mi yoksa bağlı bir liste üzerine mi kurulduğu, bu arayüzün arkasına gizlenmiş bir uygulama ayrıntısıdır.</a:t>
            </a:r>
            <a:endParaRPr lang="en-US" sz="15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Arayüz ile Uygulama</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5074920" cy="4526280"/>
          </a:xfrm>
          <a:prstGeom prst="roundRect">
            <a:avLst>
              <a:gd name="adj" fmla="val 1616"/>
            </a:avLst>
          </a:prstGeom>
          <a:solidFill>
            <a:srgbClr val="F3F5F8"/>
          </a:solidFill>
          <a:ln/>
        </p:spPr>
      </p:sp>
      <p:sp>
        <p:nvSpPr>
          <p:cNvPr id="6" name="Shape 4"/>
          <p:cNvSpPr/>
          <p:nvPr/>
        </p:nvSpPr>
        <p:spPr>
          <a:xfrm>
            <a:off x="822960" y="1600200"/>
            <a:ext cx="5074920" cy="548640"/>
          </a:xfrm>
          <a:prstGeom prst="roundRect">
            <a:avLst>
              <a:gd name="adj" fmla="val 13333"/>
            </a:avLst>
          </a:prstGeom>
          <a:solidFill>
            <a:srgbClr val="0B1F3A"/>
          </a:solidFill>
          <a:ln/>
        </p:spPr>
      </p:sp>
      <p:sp>
        <p:nvSpPr>
          <p:cNvPr id="7" name="Shape 5"/>
          <p:cNvSpPr/>
          <p:nvPr/>
        </p:nvSpPr>
        <p:spPr>
          <a:xfrm>
            <a:off x="822960" y="1874520"/>
            <a:ext cx="5074920" cy="274320"/>
          </a:xfrm>
          <a:prstGeom prst="rect">
            <a:avLst/>
          </a:prstGeom>
          <a:solidFill>
            <a:srgbClr val="0B1F3A"/>
          </a:solidFill>
          <a:ln/>
        </p:spPr>
      </p:sp>
      <p:sp>
        <p:nvSpPr>
          <p:cNvPr id="8" name="Text 6"/>
          <p:cNvSpPr txBox="1"/>
          <p:nvPr/>
        </p:nvSpPr>
        <p:spPr>
          <a:xfrm>
            <a:off x="1097280" y="1600200"/>
            <a:ext cx="452628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ADT ("ne" sorusu)</a:t>
            </a:r>
            <a:endParaRPr lang="en-US" sz="1600" dirty="0"/>
          </a:p>
        </p:txBody>
      </p:sp>
      <p:sp>
        <p:nvSpPr>
          <p:cNvPr id="9" name="Text 7"/>
          <p:cNvSpPr txBox="1"/>
          <p:nvPr/>
        </p:nvSpPr>
        <p:spPr>
          <a:xfrm>
            <a:off x="1143000" y="2377440"/>
            <a:ext cx="4434840" cy="35204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İzin verilen işlemleri tanımlar</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Beklenen davranış/kuralları tanımlar</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Aynı ADT'nin birden çok uygulaması olabilir</a:t>
            </a:r>
            <a:endParaRPr lang="en-US" sz="1450" dirty="0"/>
          </a:p>
        </p:txBody>
      </p:sp>
      <p:sp>
        <p:nvSpPr>
          <p:cNvPr id="10" name="Shape 8"/>
          <p:cNvSpPr/>
          <p:nvPr/>
        </p:nvSpPr>
        <p:spPr>
          <a:xfrm>
            <a:off x="6263640" y="1600200"/>
            <a:ext cx="5074920" cy="4526280"/>
          </a:xfrm>
          <a:prstGeom prst="roundRect">
            <a:avLst>
              <a:gd name="adj" fmla="val 1616"/>
            </a:avLst>
          </a:prstGeom>
          <a:solidFill>
            <a:srgbClr val="F3F5F8"/>
          </a:solidFill>
          <a:ln/>
        </p:spPr>
      </p:sp>
      <p:sp>
        <p:nvSpPr>
          <p:cNvPr id="11" name="Shape 9"/>
          <p:cNvSpPr/>
          <p:nvPr/>
        </p:nvSpPr>
        <p:spPr>
          <a:xfrm>
            <a:off x="6263640" y="1600200"/>
            <a:ext cx="5074920" cy="548640"/>
          </a:xfrm>
          <a:prstGeom prst="roundRect">
            <a:avLst>
              <a:gd name="adj" fmla="val 13333"/>
            </a:avLst>
          </a:prstGeom>
          <a:solidFill>
            <a:srgbClr val="C1791F"/>
          </a:solidFill>
          <a:ln/>
        </p:spPr>
      </p:sp>
      <p:sp>
        <p:nvSpPr>
          <p:cNvPr id="12" name="Shape 10"/>
          <p:cNvSpPr/>
          <p:nvPr/>
        </p:nvSpPr>
        <p:spPr>
          <a:xfrm>
            <a:off x="6263640" y="1874520"/>
            <a:ext cx="5074920" cy="274320"/>
          </a:xfrm>
          <a:prstGeom prst="rect">
            <a:avLst/>
          </a:prstGeom>
          <a:solidFill>
            <a:srgbClr val="C1791F"/>
          </a:solidFill>
          <a:ln/>
        </p:spPr>
      </p:sp>
      <p:sp>
        <p:nvSpPr>
          <p:cNvPr id="13" name="Text 11"/>
          <p:cNvSpPr txBox="1"/>
          <p:nvPr/>
        </p:nvSpPr>
        <p:spPr>
          <a:xfrm>
            <a:off x="6537960" y="1600200"/>
            <a:ext cx="452628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Somut Yapı ("nasıl" sorusu)</a:t>
            </a:r>
            <a:endParaRPr lang="en-US" sz="1600" dirty="0"/>
          </a:p>
        </p:txBody>
      </p:sp>
      <p:sp>
        <p:nvSpPr>
          <p:cNvPr id="14" name="Text 12"/>
          <p:cNvSpPr txBox="1"/>
          <p:nvPr/>
        </p:nvSpPr>
        <p:spPr>
          <a:xfrm>
            <a:off x="6583680" y="2377440"/>
            <a:ext cx="4434840" cy="35204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Gerçek bellek düzeni ve kod</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Örn. Python listesi üzerine kurulu bir Yığın ile bağlı liste üzerine kurulu bir Yığın</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ADT'yi kullananların bu ayrıntıyı bilmesi gerekmemeli</a:t>
            </a:r>
            <a:endParaRPr lang="en-US" sz="1450" dirty="0"/>
          </a:p>
        </p:txBody>
      </p:sp>
      <p:sp>
        <p:nvSpPr>
          <p:cNvPr id="15" name="Text 13"/>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6" name="Text 14"/>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ADT'ler YBS Sistemleri İçin Neden Önemlidir</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457200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ADT olarak düşünmek, düşük seviye uygulama ayrıntılarına karar vermeden önce bir sistemin mantığını tasarlamanızı sağlar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Bir ekibin, sistemin geri kalanını bozmadan bir uygulamayı sonradan (örn. performans için) değiştirmesine olanak tanır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Bu dönem kuracağımız her özel veri yapısı önce bir ADT — bir işlemler kümesi — olarak, sonra somut bir uygulama olarak tanıtılacak</a:t>
            </a:r>
            <a:endParaRPr lang="en-US" sz="17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txBox="1"/>
          <p:nvPr/>
        </p:nvSpPr>
        <p:spPr>
          <a:xfrm>
            <a:off x="822960" y="2331720"/>
            <a:ext cx="3657600" cy="411480"/>
          </a:xfrm>
          <a:prstGeom prst="rect">
            <a:avLst/>
          </a:prstGeom>
          <a:noFill/>
          <a:ln/>
        </p:spPr>
        <p:txBody>
          <a:bodyPr wrap="square" lIns="0" tIns="0" rIns="0" bIns="0" rtlCol="0" anchor="ctr"/>
          <a:lstStyle/>
          <a:p>
            <a:pPr marL="0" indent="0">
              <a:buNone/>
            </a:pPr>
            <a:r>
              <a:rPr lang="en-US" sz="1600" b="1" dirty="0">
                <a:solidFill>
                  <a:srgbClr val="E8A33D"/>
                </a:solidFill>
                <a:latin typeface="Calibri" pitchFamily="34" charset="0"/>
                <a:ea typeface="Calibri" pitchFamily="34" charset="-122"/>
                <a:cs typeface="Calibri" pitchFamily="34" charset="-120"/>
              </a:rPr>
              <a:t>05 / 05</a:t>
            </a:r>
            <a:endParaRPr lang="en-US" sz="1600" dirty="0"/>
          </a:p>
        </p:txBody>
      </p:sp>
      <p:sp>
        <p:nvSpPr>
          <p:cNvPr id="4" name="Shape 2"/>
          <p:cNvSpPr/>
          <p:nvPr/>
        </p:nvSpPr>
        <p:spPr>
          <a:xfrm>
            <a:off x="822960" y="2880360"/>
            <a:ext cx="1463040" cy="0"/>
          </a:xfrm>
          <a:prstGeom prst="line">
            <a:avLst/>
          </a:prstGeom>
          <a:noFill/>
          <a:ln w="25400">
            <a:solidFill>
              <a:srgbClr val="E8A33D"/>
            </a:solidFill>
            <a:prstDash val="solid"/>
          </a:ln>
        </p:spPr>
      </p:sp>
      <p:sp>
        <p:nvSpPr>
          <p:cNvPr id="5" name="Text 3"/>
          <p:cNvSpPr txBox="1"/>
          <p:nvPr/>
        </p:nvSpPr>
        <p:spPr>
          <a:xfrm>
            <a:off x="822960" y="3108960"/>
            <a:ext cx="10241280" cy="16459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Hesaplamalı Düşünme</a:t>
            </a:r>
            <a:endParaRPr lang="en-US" sz="34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Hesaplamalı Düşünmenin Dört Ayağı</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457200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Ayrıştırma — büyük bir problemi daha küçük, yönetilebilir alt problemlere bölmek</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Örüntü tanıma — bu problem ile daha önce çözdüklerinizin benzerliklerini fark etmek</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Soyutlama — önemli olana odaklanmak, ilgisiz ayrıntıyı görmezden gelmek</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Algoritma tasarımı — kesin, adım adım çözümü inşa etmek</a:t>
            </a:r>
            <a:endParaRPr lang="en-US" sz="17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İŞ SENARYOSU</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"Bir Müşteri Siparişini İşle"yi Ayrıştırmak</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10515600" cy="1234440"/>
          </a:xfrm>
          <a:prstGeom prst="roundRect">
            <a:avLst>
              <a:gd name="adj" fmla="val 5926"/>
            </a:avLst>
          </a:prstGeom>
          <a:solidFill>
            <a:srgbClr val="0B1F3A"/>
          </a:solidFill>
          <a:ln/>
        </p:spPr>
      </p:sp>
      <p:sp>
        <p:nvSpPr>
          <p:cNvPr id="7" name="Text 5"/>
          <p:cNvSpPr txBox="1"/>
          <p:nvPr/>
        </p:nvSpPr>
        <p:spPr>
          <a:xfrm>
            <a:off x="1051560" y="1965960"/>
            <a:ext cx="1005840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Tek bir istek — "bu siparişi işle" — aslında birbirine zincirlenmiş birkaç küçük algoritmik problemdir.</a:t>
            </a:r>
            <a:endParaRPr lang="en-US" sz="1500" dirty="0"/>
          </a:p>
        </p:txBody>
      </p:sp>
      <p:sp>
        <p:nvSpPr>
          <p:cNvPr id="8" name="Text 6"/>
          <p:cNvSpPr txBox="1"/>
          <p:nvPr/>
        </p:nvSpPr>
        <p:spPr>
          <a:xfrm>
            <a:off x="822960" y="3063240"/>
            <a:ext cx="10424160" cy="30632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Siparişi doğrula (tüm ürünler stokta mı?)</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Toplamı hesapla (fiyatları, indirimleri, vergiyi uygula)</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Envanteri güncelle (stok sayılarını azalt)</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İşlemi kaydet (sipariş geçmişine ekle)</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Bu alt problemlerin her biri bağımsız olarak tasarlanabilir, test edilebilir ve iyileştirilebilir</a:t>
            </a:r>
            <a:endParaRPr lang="en-US" sz="155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UYGULAMA</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Ayrıştırmayı Fonksiyonlara Dönüştürmek</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554480"/>
            <a:ext cx="10515600" cy="4160520"/>
          </a:xfrm>
          <a:prstGeom prst="roundRect">
            <a:avLst>
              <a:gd name="adj" fmla="val 1319"/>
            </a:avLst>
          </a:prstGeom>
          <a:solidFill>
            <a:srgbClr val="0B1F3A"/>
          </a:solidFill>
          <a:ln/>
        </p:spPr>
      </p:sp>
      <p:sp>
        <p:nvSpPr>
          <p:cNvPr id="6" name="Text 4"/>
          <p:cNvSpPr txBox="1"/>
          <p:nvPr/>
        </p:nvSpPr>
        <p:spPr>
          <a:xfrm>
            <a:off x="1097280" y="1737360"/>
            <a:ext cx="9966960" cy="3794760"/>
          </a:xfrm>
          <a:prstGeom prst="rect">
            <a:avLst/>
          </a:prstGeom>
          <a:noFill/>
          <a:ln/>
        </p:spPr>
        <p:txBody>
          <a:bodyPr wrap="square" lIns="0" tIns="0" rIns="0" bIns="0" rtlCol="0" anchor="t"/>
          <a:lstStyle/>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def siparisi_dogrula(sepet, envanter):</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return all(envanter.get(urun, 0) &gt; 0 for urun in sepet)</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def toplam_hesapla(sepet, fiyatlar, vergi_orani=0.18):</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ara_toplam = sum(fiyatlar[urun] for urun in sepet)</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return ara_toplam * (1 + vergi_orani)</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def siparisi_isle(sepet, envanter, fiyatlar):</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if not siparisi_dogrula(sepet, envanter):</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return "Sipariş reddedildi: ürün stokta yok"</a:t>
            </a:r>
            <a:endParaRPr lang="en-US" sz="1350" dirty="0"/>
          </a:p>
          <a:p>
            <a:pPr marL="0" indent="0">
              <a:lnSpc>
                <a:spcPct val="115000"/>
              </a:lnSpc>
              <a:buNone/>
            </a:pPr>
            <a:r>
              <a:rPr lang="en-US" sz="1350" dirty="0">
                <a:solidFill>
                  <a:srgbClr val="D7E3F4"/>
                </a:solidFill>
                <a:latin typeface="Consolas" pitchFamily="34" charset="0"/>
                <a:ea typeface="Consolas" pitchFamily="34" charset="-122"/>
                <a:cs typeface="Consolas" pitchFamily="34" charset="-120"/>
              </a:rPr>
              <a:t>    return round(toplam_hesapla(sepet, fiyatlar), 2)</a:t>
            </a:r>
            <a:endParaRPr lang="en-US" sz="1350" dirty="0"/>
          </a:p>
        </p:txBody>
      </p:sp>
      <p:sp>
        <p:nvSpPr>
          <p:cNvPr id="7" name="Text 5"/>
          <p:cNvSpPr txBox="1"/>
          <p:nvPr/>
        </p:nvSpPr>
        <p:spPr>
          <a:xfrm>
            <a:off x="822960" y="6172200"/>
            <a:ext cx="10515600" cy="365760"/>
          </a:xfrm>
          <a:prstGeom prst="rect">
            <a:avLst/>
          </a:prstGeom>
          <a:noFill/>
          <a:ln/>
        </p:spPr>
        <p:txBody>
          <a:bodyPr wrap="square" lIns="0" tIns="0" rIns="0" bIns="0" rtlCol="0" anchor="ctr"/>
          <a:lstStyle/>
          <a:p>
            <a:pPr marL="0" indent="0">
              <a:buNone/>
            </a:pPr>
            <a:r>
              <a:rPr lang="en-US" sz="1250" i="1" dirty="0">
                <a:solidFill>
                  <a:srgbClr val="5B6B7C"/>
                </a:solidFill>
                <a:latin typeface="Calibri" pitchFamily="34" charset="0"/>
                <a:ea typeface="Calibri" pitchFamily="34" charset="-122"/>
                <a:cs typeface="Calibri" pitchFamily="34" charset="-120"/>
              </a:rPr>
              <a:t>Ayrıştırmadaki her alt problem kendi küçük, test edilebilir fonksiyonuna dönüşür — algoritmik düşünmenin doğrudan kod yapısına dönüşmesi budur.</a:t>
            </a:r>
            <a:endParaRPr lang="en-US" sz="1250" dirty="0"/>
          </a:p>
        </p:txBody>
      </p:sp>
      <p:sp>
        <p:nvSpPr>
          <p:cNvPr id="8" name="Text 6"/>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9" name="Text 7"/>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Doğruluk ile Verimlilik</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737360"/>
            <a:ext cx="10515600" cy="1463040"/>
          </a:xfrm>
          <a:prstGeom prst="roundRect">
            <a:avLst>
              <a:gd name="adj" fmla="val 5000"/>
            </a:avLst>
          </a:prstGeom>
          <a:solidFill>
            <a:srgbClr val="F3F5F8"/>
          </a:solidFill>
          <a:ln w="12700">
            <a:solidFill>
              <a:srgbClr val="D9DFE6"/>
            </a:solidFill>
            <a:prstDash val="solid"/>
          </a:ln>
        </p:spPr>
      </p:sp>
      <p:sp>
        <p:nvSpPr>
          <p:cNvPr id="6" name="Text 4"/>
          <p:cNvSpPr txBox="1"/>
          <p:nvPr/>
        </p:nvSpPr>
        <p:spPr>
          <a:xfrm>
            <a:off x="1097280" y="1874520"/>
            <a:ext cx="10058400" cy="45720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Önce doğruluk, sonra verimlilik</a:t>
            </a:r>
            <a:endParaRPr lang="en-US" sz="2000" dirty="0"/>
          </a:p>
        </p:txBody>
      </p:sp>
      <p:sp>
        <p:nvSpPr>
          <p:cNvPr id="7" name="Text 5"/>
          <p:cNvSpPr txBox="1"/>
          <p:nvPr/>
        </p:nvSpPr>
        <p:spPr>
          <a:xfrm>
            <a:off x="1097280" y="2331720"/>
            <a:ext cx="9966960" cy="777240"/>
          </a:xfrm>
          <a:prstGeom prst="rect">
            <a:avLst/>
          </a:prstGeom>
          <a:noFill/>
          <a:ln/>
        </p:spPr>
        <p:txBody>
          <a:bodyPr wrap="square" lIns="0" tIns="0" rIns="0" bIns="0" rtlCol="0" anchor="t"/>
          <a:lstStyle/>
          <a:p>
            <a:pPr marL="0" indent="0">
              <a:buNone/>
            </a:pPr>
            <a:r>
              <a:rPr lang="en-US" sz="1500" dirty="0">
                <a:solidFill>
                  <a:srgbClr val="1B2430"/>
                </a:solidFill>
                <a:latin typeface="Calibri" pitchFamily="34" charset="0"/>
                <a:ea typeface="Calibri" pitchFamily="34" charset="-122"/>
                <a:cs typeface="Calibri" pitchFamily="34" charset="-120"/>
              </a:rPr>
              <a:t>Bir algoritma, uç durumlar dahil her geçerli girdi için doğru çıktıyı üretiyorsa doğrudur. Verimlilik (ne kadar zaman/bellek kullandığı) ayrı, sonraki bir konudur — bir şeyi hızlandırmak için asla doğruluktan ödün vermeyin.</a:t>
            </a:r>
            <a:endParaRPr lang="en-US" sz="1500" dirty="0"/>
          </a:p>
        </p:txBody>
      </p:sp>
      <p:sp>
        <p:nvSpPr>
          <p:cNvPr id="8" name="Text 6"/>
          <p:cNvSpPr txBox="1"/>
          <p:nvPr/>
        </p:nvSpPr>
        <p:spPr>
          <a:xfrm>
            <a:off x="822960" y="3429000"/>
            <a:ext cx="2743200" cy="320040"/>
          </a:xfrm>
          <a:prstGeom prst="rect">
            <a:avLst/>
          </a:prstGeom>
          <a:noFill/>
          <a:ln/>
        </p:spPr>
        <p:txBody>
          <a:bodyPr wrap="square" lIns="0" tIns="0" rIns="0" bIns="0" rtlCol="0" anchor="ctr"/>
          <a:lstStyle/>
          <a:p>
            <a:pPr marL="0" indent="0">
              <a:buNone/>
            </a:pPr>
            <a:r>
              <a:rPr lang="tr-TR" sz="1100" b="1" kern="0" spc="150" dirty="0" smtClean="0">
                <a:solidFill>
                  <a:srgbClr val="C1791F"/>
                </a:solidFill>
                <a:latin typeface="Calibri" pitchFamily="34" charset="0"/>
                <a:ea typeface="Calibri" pitchFamily="34" charset="-122"/>
                <a:cs typeface="Calibri" pitchFamily="34" charset="-120"/>
              </a:rPr>
              <a:t>Örnek</a:t>
            </a:r>
            <a:endParaRPr lang="en-US" sz="1100" dirty="0"/>
          </a:p>
        </p:txBody>
      </p:sp>
      <p:sp>
        <p:nvSpPr>
          <p:cNvPr id="9" name="Text 7"/>
          <p:cNvSpPr txBox="1"/>
          <p:nvPr/>
        </p:nvSpPr>
        <p:spPr>
          <a:xfrm>
            <a:off x="822960" y="3794760"/>
            <a:ext cx="10515600" cy="2194560"/>
          </a:xfrm>
          <a:prstGeom prst="rect">
            <a:avLst/>
          </a:prstGeom>
          <a:noFill/>
          <a:ln/>
        </p:spPr>
        <p:txBody>
          <a:bodyPr wrap="square" lIns="0" tIns="0" rIns="0" bIns="0" rtlCol="0" anchor="t"/>
          <a:lstStyle/>
          <a:p>
            <a:pPr marL="0" indent="0">
              <a:buNone/>
            </a:pPr>
            <a:r>
              <a:rPr lang="en-US" sz="1500" dirty="0">
                <a:solidFill>
                  <a:srgbClr val="5B6B7C"/>
                </a:solidFill>
                <a:latin typeface="Calibri" pitchFamily="34" charset="0"/>
                <a:ea typeface="Calibri" pitchFamily="34" charset="-122"/>
                <a:cs typeface="Calibri" pitchFamily="34" charset="-120"/>
              </a:rPr>
              <a:t>Doğru cevabı yavaş veren bir arama yine de faydalıdır. Yanlış cevabı anında veren bir arama işe yaramaz. Verimliliği, gelecek hafta başlayarak Big-O gösterimiyle resmî olarak inceleyeceğiz.</a:t>
            </a:r>
            <a:endParaRPr lang="en-US" sz="15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HAFTA 2 ÖN İZLEMESI</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İki Doğru Algoritma, Çok Farklı Hız</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10515600" cy="1234440"/>
          </a:xfrm>
          <a:prstGeom prst="roundRect">
            <a:avLst>
              <a:gd name="adj" fmla="val 5926"/>
            </a:avLst>
          </a:prstGeom>
          <a:solidFill>
            <a:srgbClr val="0B1F3A"/>
          </a:solidFill>
          <a:ln/>
        </p:spPr>
      </p:sp>
      <p:sp>
        <p:nvSpPr>
          <p:cNvPr id="7" name="Text 5"/>
          <p:cNvSpPr txBox="1"/>
          <p:nvPr/>
        </p:nvSpPr>
        <p:spPr>
          <a:xfrm>
            <a:off x="1051560" y="1965960"/>
            <a:ext cx="1005840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100.000 müşteriden oluşan bir listede bir müşterinin kaydını ID'ye göre bulmak için ya her kaydı tek tek tarayabilirsiniz ya da doğrudan anahtarla arayabilirsiniz.</a:t>
            </a:r>
            <a:endParaRPr lang="en-US" sz="1500" dirty="0"/>
          </a:p>
        </p:txBody>
      </p:sp>
      <p:sp>
        <p:nvSpPr>
          <p:cNvPr id="8" name="Text 6"/>
          <p:cNvSpPr txBox="1"/>
          <p:nvPr/>
        </p:nvSpPr>
        <p:spPr>
          <a:xfrm>
            <a:off x="822960" y="3063240"/>
            <a:ext cx="10424160" cy="30632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Doğrusal tarama: kaydı 1 kontrol et, sonra 2, sonra 3… bulana kadar — doğru, ama potansiyel olarak 100.000'in tamamını kontrol eder</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Doğrudan arama (örn. ID'ye göre anahtarlanmış bir sözlük ile): neredeyse doğrudan cevaba atlar</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İkisi de aynı problem için doğru algoritmalardır — gelecek hafta bunları kesin olarak nasıl karşılaştıracağımızı öğreneceğiz</a:t>
            </a:r>
            <a:endParaRPr lang="en-US" sz="155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İYI UYGULAMALAR</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Algoritma Tasarımında Yaygın Tuzaklar</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457200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Bir plan olmadan doğrudan koda geçmek — küçük mantık hataları sonradan pahalı hale gelir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Uç durumları unutmak: boş bir liste, sıfır bir değer, eksik bir anahtar</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ADT'yi (ne yaptığını) tek bir somut uygulamayla (nasıl yapıldığıyla) karıştırmak</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Algoritma henüz doğru bile değilken hız için optimize etmek</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İşleme uygun olanı seçmek yerine alışkanlıkla bir veri yapısı seçmek ("ben zaten liste kullanırım")</a:t>
            </a:r>
            <a:endParaRPr lang="en-US" sz="17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en-US" sz="1200" b="1" kern="0" spc="150" dirty="0">
                <a:solidFill>
                  <a:srgbClr val="C1791F"/>
                </a:solidFill>
                <a:latin typeface="Calibri" pitchFamily="34" charset="0"/>
                <a:ea typeface="Calibri" pitchFamily="34" charset="-122"/>
                <a:cs typeface="Calibri" pitchFamily="34" charset="-120"/>
              </a:rPr>
              <a:t>REFERANS</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Hızlı Bir Tasarım Kontrol Listesi</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15600" cy="4480560"/>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74676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Soru</a:t>
                      </a:r>
                      <a:endParaRPr lang="en-US" sz="135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Neden Önemli</a:t>
                      </a:r>
                      <a:endParaRPr lang="en-US" sz="135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746760">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Girdi ve çıktı tam olarak nedir?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Belirsiz gereksinimler belirsiz algoritmalar üretir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6760">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Uç durumlar nelerdir?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Boş girdi, yinelenen değerler, geçersiz veri hepsi ele alınmalı</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746760">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Sözde kod veya akış şeması yazdım mı?</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Mantık hatalarını pahalı hale gelmeden yakalar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6760">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Bu veri üzerinde en sık hangi işlem yapılıyor?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Hangi veri yapısının gerçekten uyduğunu belirler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746760">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Hızı önemsemeden önce doğru mu?</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430"/>
                          </a:solidFill>
                          <a:latin typeface="Calibri" pitchFamily="34" charset="0"/>
                          <a:ea typeface="Calibri" pitchFamily="34" charset="-122"/>
                          <a:cs typeface="Calibri" pitchFamily="34" charset="-120"/>
                        </a:rPr>
                        <a:t>Hızlı yanlış cevap yine de yanlıştır</a:t>
                      </a:r>
                      <a:endParaRPr lang="en-US" sz="1300" dirty="0">
                        <a:latin typeface="Calibri" charset="0"/>
                        <a:ea typeface="Calibri" charset="0"/>
                        <a:cs typeface="Calibri" charset="0"/>
                      </a:endParaRPr>
                    </a:p>
                  </a:txBody>
                  <a:tcPr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7" name="Text 4"/>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marL="0" indent="0">
              <a:buNone/>
            </a:pPr>
            <a:r>
              <a:rPr lang="tr-TR" sz="1200" b="1" kern="0" spc="150" dirty="0" smtClean="0">
                <a:solidFill>
                  <a:srgbClr val="C1791F"/>
                </a:solidFill>
                <a:latin typeface="Calibri" pitchFamily="34" charset="0"/>
                <a:ea typeface="Calibri" pitchFamily="34" charset="-122"/>
                <a:cs typeface="Calibri" pitchFamily="34" charset="-120"/>
              </a:rPr>
              <a:t>BİLGİ KONTROLÜ</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tr-TR" sz="2600" b="1" dirty="0" smtClean="0">
                <a:solidFill>
                  <a:srgbClr val="0B1F3A"/>
                </a:solidFill>
                <a:latin typeface="Calibri" pitchFamily="34" charset="0"/>
                <a:ea typeface="Calibri" pitchFamily="34" charset="-122"/>
                <a:cs typeface="Calibri" pitchFamily="34" charset="-120"/>
              </a:rPr>
              <a:t>Hızlı Kontrol</a:t>
            </a:r>
            <a:r>
              <a:rPr lang="en-US" sz="2600" b="1" dirty="0" smtClean="0">
                <a:solidFill>
                  <a:srgbClr val="0B1F3A"/>
                </a:solidFill>
                <a:latin typeface="Calibri" pitchFamily="34" charset="0"/>
                <a:ea typeface="Calibri" pitchFamily="34" charset="-122"/>
                <a:cs typeface="Calibri" pitchFamily="34" charset="-120"/>
              </a:rPr>
              <a:t> </a:t>
            </a:r>
            <a:r>
              <a:rPr lang="en-US" sz="2600" b="1" dirty="0">
                <a:solidFill>
                  <a:srgbClr val="0B1F3A"/>
                </a:solidFill>
                <a:latin typeface="Calibri" pitchFamily="34" charset="0"/>
                <a:ea typeface="Calibri" pitchFamily="34" charset="-122"/>
                <a:cs typeface="Calibri" pitchFamily="34" charset="-120"/>
              </a:rPr>
              <a:t>1/2</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45920"/>
            <a:ext cx="10424160" cy="822960"/>
          </a:xfrm>
          <a:prstGeom prst="rect">
            <a:avLst/>
          </a:prstGeom>
          <a:noFill/>
          <a:ln/>
        </p:spPr>
        <p:txBody>
          <a:bodyPr wrap="square" lIns="0" tIns="0" rIns="0" bIns="0" rtlCol="0" anchor="ctr"/>
          <a:lstStyle/>
          <a:p>
            <a:pPr marL="0" indent="0">
              <a:buNone/>
            </a:pPr>
            <a:r>
              <a:rPr lang="en-US" sz="1800" b="1" dirty="0">
                <a:solidFill>
                  <a:srgbClr val="1B2430"/>
                </a:solidFill>
                <a:latin typeface="Calibri" pitchFamily="34" charset="0"/>
                <a:ea typeface="Calibri" pitchFamily="34" charset="-122"/>
                <a:cs typeface="Calibri" pitchFamily="34" charset="-120"/>
              </a:rPr>
              <a:t>Aşağıdakilerden hangisi iyi bir algoritmanın beş özelliğinden biri DEĞİLDİR?</a:t>
            </a:r>
            <a:endParaRPr lang="en-US" sz="1800" dirty="0"/>
          </a:p>
        </p:txBody>
      </p:sp>
      <p:sp>
        <p:nvSpPr>
          <p:cNvPr id="6" name="Shape 4"/>
          <p:cNvSpPr/>
          <p:nvPr/>
        </p:nvSpPr>
        <p:spPr>
          <a:xfrm>
            <a:off x="822960" y="2606040"/>
            <a:ext cx="10424160" cy="658368"/>
          </a:xfrm>
          <a:prstGeom prst="roundRect">
            <a:avLst>
              <a:gd name="adj" fmla="val 9722"/>
            </a:avLst>
          </a:prstGeom>
          <a:solidFill>
            <a:srgbClr val="F3F5F8"/>
          </a:solidFill>
          <a:ln w="12700">
            <a:solidFill>
              <a:srgbClr val="D9DFE6"/>
            </a:solidFill>
            <a:prstDash val="solid"/>
          </a:ln>
        </p:spPr>
      </p:sp>
      <p:sp>
        <p:nvSpPr>
          <p:cNvPr id="7" name="Text 5"/>
          <p:cNvSpPr txBox="1"/>
          <p:nvPr/>
        </p:nvSpPr>
        <p:spPr>
          <a:xfrm>
            <a:off x="1005840" y="2606040"/>
            <a:ext cx="457200" cy="658368"/>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A</a:t>
            </a:r>
            <a:endParaRPr lang="en-US" sz="1500" dirty="0"/>
          </a:p>
        </p:txBody>
      </p:sp>
      <p:sp>
        <p:nvSpPr>
          <p:cNvPr id="8" name="Text 6"/>
          <p:cNvSpPr txBox="1"/>
          <p:nvPr/>
        </p:nvSpPr>
        <p:spPr>
          <a:xfrm>
            <a:off x="1554480" y="2606040"/>
            <a:ext cx="9509760" cy="658368"/>
          </a:xfrm>
          <a:prstGeom prst="rect">
            <a:avLst/>
          </a:prstGeom>
          <a:noFill/>
          <a:ln/>
        </p:spPr>
        <p:txBody>
          <a:bodyPr wrap="square" lIns="0" tIns="0" rIns="0" bIns="0" rtlCol="0" anchor="ctr"/>
          <a:lstStyle/>
          <a:p>
            <a:pPr marL="0" indent="0">
              <a:buNone/>
            </a:pPr>
            <a:r>
              <a:rPr lang="en-US" sz="1450" dirty="0">
                <a:solidFill>
                  <a:srgbClr val="1B2430"/>
                </a:solidFill>
                <a:latin typeface="Calibri" pitchFamily="34" charset="0"/>
                <a:ea typeface="Calibri" pitchFamily="34" charset="-122"/>
                <a:cs typeface="Calibri" pitchFamily="34" charset="-120"/>
              </a:rPr>
              <a:t>Sonluluk</a:t>
            </a:r>
            <a:endParaRPr lang="en-US" sz="1450" dirty="0"/>
          </a:p>
        </p:txBody>
      </p:sp>
      <p:sp>
        <p:nvSpPr>
          <p:cNvPr id="9" name="Shape 7"/>
          <p:cNvSpPr/>
          <p:nvPr/>
        </p:nvSpPr>
        <p:spPr>
          <a:xfrm>
            <a:off x="822960" y="3401568"/>
            <a:ext cx="10424160" cy="658368"/>
          </a:xfrm>
          <a:prstGeom prst="roundRect">
            <a:avLst>
              <a:gd name="adj" fmla="val 9722"/>
            </a:avLst>
          </a:prstGeom>
          <a:solidFill>
            <a:srgbClr val="F3F5F8"/>
          </a:solidFill>
          <a:ln w="12700">
            <a:solidFill>
              <a:srgbClr val="D9DFE6"/>
            </a:solidFill>
            <a:prstDash val="solid"/>
          </a:ln>
        </p:spPr>
      </p:sp>
      <p:sp>
        <p:nvSpPr>
          <p:cNvPr id="10" name="Text 8"/>
          <p:cNvSpPr txBox="1"/>
          <p:nvPr/>
        </p:nvSpPr>
        <p:spPr>
          <a:xfrm>
            <a:off x="1005840" y="3401568"/>
            <a:ext cx="457200" cy="658368"/>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B</a:t>
            </a:r>
            <a:endParaRPr lang="en-US" sz="1500" dirty="0"/>
          </a:p>
        </p:txBody>
      </p:sp>
      <p:sp>
        <p:nvSpPr>
          <p:cNvPr id="11" name="Text 9"/>
          <p:cNvSpPr txBox="1"/>
          <p:nvPr/>
        </p:nvSpPr>
        <p:spPr>
          <a:xfrm>
            <a:off x="1554480" y="3401568"/>
            <a:ext cx="9509760" cy="658368"/>
          </a:xfrm>
          <a:prstGeom prst="rect">
            <a:avLst/>
          </a:prstGeom>
          <a:noFill/>
          <a:ln/>
        </p:spPr>
        <p:txBody>
          <a:bodyPr wrap="square" lIns="0" tIns="0" rIns="0" bIns="0" rtlCol="0" anchor="ctr"/>
          <a:lstStyle/>
          <a:p>
            <a:pPr marL="0" indent="0">
              <a:buNone/>
            </a:pPr>
            <a:r>
              <a:rPr lang="en-US" sz="1450" dirty="0">
                <a:solidFill>
                  <a:srgbClr val="1B2430"/>
                </a:solidFill>
                <a:latin typeface="Calibri" pitchFamily="34" charset="0"/>
                <a:ea typeface="Calibri" pitchFamily="34" charset="-122"/>
                <a:cs typeface="Calibri" pitchFamily="34" charset="-120"/>
              </a:rPr>
              <a:t>Kesinlik</a:t>
            </a:r>
            <a:endParaRPr lang="en-US" sz="1450" dirty="0"/>
          </a:p>
        </p:txBody>
      </p:sp>
      <p:sp>
        <p:nvSpPr>
          <p:cNvPr id="12" name="Shape 10"/>
          <p:cNvSpPr/>
          <p:nvPr/>
        </p:nvSpPr>
        <p:spPr>
          <a:xfrm>
            <a:off x="822960" y="4197096"/>
            <a:ext cx="10424160" cy="658368"/>
          </a:xfrm>
          <a:prstGeom prst="roundRect">
            <a:avLst>
              <a:gd name="adj" fmla="val 9722"/>
            </a:avLst>
          </a:prstGeom>
          <a:solidFill>
            <a:srgbClr val="E9F3ED"/>
          </a:solidFill>
          <a:ln w="19050">
            <a:solidFill>
              <a:srgbClr val="3E8E5A"/>
            </a:solidFill>
            <a:prstDash val="solid"/>
          </a:ln>
        </p:spPr>
      </p:sp>
      <p:sp>
        <p:nvSpPr>
          <p:cNvPr id="13" name="Text 11"/>
          <p:cNvSpPr txBox="1"/>
          <p:nvPr/>
        </p:nvSpPr>
        <p:spPr>
          <a:xfrm>
            <a:off x="1005840" y="4197096"/>
            <a:ext cx="457200" cy="658368"/>
          </a:xfrm>
          <a:prstGeom prst="rect">
            <a:avLst/>
          </a:prstGeom>
          <a:noFill/>
          <a:ln/>
        </p:spPr>
        <p:txBody>
          <a:bodyPr wrap="square" lIns="0" tIns="0" rIns="0" bIns="0" rtlCol="0" anchor="ctr"/>
          <a:lstStyle/>
          <a:p>
            <a:pPr marL="0" indent="0">
              <a:buNone/>
            </a:pPr>
            <a:r>
              <a:rPr lang="en-US" sz="1500" b="1" dirty="0">
                <a:solidFill>
                  <a:srgbClr val="3E8E5A"/>
                </a:solidFill>
                <a:latin typeface="Calibri" pitchFamily="34" charset="0"/>
                <a:ea typeface="Calibri" pitchFamily="34" charset="-122"/>
                <a:cs typeface="Calibri" pitchFamily="34" charset="-120"/>
              </a:rPr>
              <a:t>C</a:t>
            </a:r>
            <a:endParaRPr lang="en-US" sz="1500" dirty="0"/>
          </a:p>
        </p:txBody>
      </p:sp>
      <p:sp>
        <p:nvSpPr>
          <p:cNvPr id="14" name="Text 12"/>
          <p:cNvSpPr txBox="1"/>
          <p:nvPr/>
        </p:nvSpPr>
        <p:spPr>
          <a:xfrm>
            <a:off x="1554480" y="4197096"/>
            <a:ext cx="9509760" cy="658368"/>
          </a:xfrm>
          <a:prstGeom prst="rect">
            <a:avLst/>
          </a:prstGeom>
          <a:noFill/>
          <a:ln/>
        </p:spPr>
        <p:txBody>
          <a:bodyPr wrap="square" lIns="0" tIns="0" rIns="0" bIns="0" rtlCol="0" anchor="ctr"/>
          <a:lstStyle/>
          <a:p>
            <a:pPr marL="0" indent="0">
              <a:buNone/>
            </a:pPr>
            <a:r>
              <a:rPr lang="en-US" sz="1450" dirty="0">
                <a:solidFill>
                  <a:srgbClr val="1B2430"/>
                </a:solidFill>
                <a:latin typeface="Calibri" pitchFamily="34" charset="0"/>
                <a:ea typeface="Calibri" pitchFamily="34" charset="-122"/>
                <a:cs typeface="Calibri" pitchFamily="34" charset="-120"/>
              </a:rPr>
              <a:t>Popülerlik</a:t>
            </a:r>
            <a:endParaRPr lang="en-US" sz="1450" dirty="0"/>
          </a:p>
        </p:txBody>
      </p:sp>
      <p:sp>
        <p:nvSpPr>
          <p:cNvPr id="15" name="Shape 13"/>
          <p:cNvSpPr/>
          <p:nvPr/>
        </p:nvSpPr>
        <p:spPr>
          <a:xfrm>
            <a:off x="822960" y="4992624"/>
            <a:ext cx="10424160" cy="658368"/>
          </a:xfrm>
          <a:prstGeom prst="roundRect">
            <a:avLst>
              <a:gd name="adj" fmla="val 9722"/>
            </a:avLst>
          </a:prstGeom>
          <a:solidFill>
            <a:srgbClr val="F3F5F8"/>
          </a:solidFill>
          <a:ln w="12700">
            <a:solidFill>
              <a:srgbClr val="D9DFE6"/>
            </a:solidFill>
            <a:prstDash val="solid"/>
          </a:ln>
        </p:spPr>
      </p:sp>
      <p:sp>
        <p:nvSpPr>
          <p:cNvPr id="16" name="Text 14"/>
          <p:cNvSpPr txBox="1"/>
          <p:nvPr/>
        </p:nvSpPr>
        <p:spPr>
          <a:xfrm>
            <a:off x="1005840" y="4992624"/>
            <a:ext cx="457200" cy="658368"/>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D</a:t>
            </a:r>
            <a:endParaRPr lang="en-US" sz="1500" dirty="0"/>
          </a:p>
        </p:txBody>
      </p:sp>
      <p:sp>
        <p:nvSpPr>
          <p:cNvPr id="17" name="Text 15"/>
          <p:cNvSpPr txBox="1"/>
          <p:nvPr/>
        </p:nvSpPr>
        <p:spPr>
          <a:xfrm>
            <a:off x="1554480" y="4992624"/>
            <a:ext cx="9509760" cy="658368"/>
          </a:xfrm>
          <a:prstGeom prst="rect">
            <a:avLst/>
          </a:prstGeom>
          <a:noFill/>
          <a:ln/>
        </p:spPr>
        <p:txBody>
          <a:bodyPr wrap="square" lIns="0" tIns="0" rIns="0" bIns="0" rtlCol="0" anchor="ctr"/>
          <a:lstStyle/>
          <a:p>
            <a:pPr marL="0" indent="0">
              <a:buNone/>
            </a:pPr>
            <a:r>
              <a:rPr lang="en-US" sz="1450" dirty="0">
                <a:solidFill>
                  <a:srgbClr val="1B2430"/>
                </a:solidFill>
                <a:latin typeface="Calibri" pitchFamily="34" charset="0"/>
                <a:ea typeface="Calibri" pitchFamily="34" charset="-122"/>
                <a:cs typeface="Calibri" pitchFamily="34" charset="-120"/>
              </a:rPr>
              <a:t>Etkililik</a:t>
            </a:r>
            <a:endParaRPr lang="en-US" sz="1450" dirty="0"/>
          </a:p>
        </p:txBody>
      </p:sp>
      <p:sp>
        <p:nvSpPr>
          <p:cNvPr id="18" name="Text 16"/>
          <p:cNvSpPr txBox="1"/>
          <p:nvPr/>
        </p:nvSpPr>
        <p:spPr>
          <a:xfrm>
            <a:off x="822960" y="5879592"/>
            <a:ext cx="10424160" cy="640080"/>
          </a:xfrm>
          <a:prstGeom prst="rect">
            <a:avLst/>
          </a:prstGeom>
          <a:noFill/>
          <a:ln/>
        </p:spPr>
        <p:txBody>
          <a:bodyPr wrap="square" lIns="0" tIns="0" rIns="0" bIns="0" rtlCol="0" anchor="ctr"/>
          <a:lstStyle/>
          <a:p>
            <a:pPr marL="0" indent="0">
              <a:buNone/>
            </a:pPr>
            <a:r>
              <a:rPr lang="en-US" sz="1250" b="1" dirty="0">
                <a:solidFill>
                  <a:srgbClr val="C1791F"/>
                </a:solidFill>
                <a:latin typeface="Calibri" pitchFamily="34" charset="0"/>
                <a:ea typeface="Calibri" pitchFamily="34" charset="-122"/>
                <a:cs typeface="Calibri" pitchFamily="34" charset="-120"/>
              </a:rPr>
              <a:t>Why: </a:t>
            </a:r>
            <a:r>
              <a:rPr lang="en-US" sz="1250" dirty="0">
                <a:solidFill>
                  <a:srgbClr val="5B6B7C"/>
                </a:solidFill>
                <a:latin typeface="Calibri" pitchFamily="34" charset="0"/>
                <a:ea typeface="Calibri" pitchFamily="34" charset="-122"/>
                <a:cs typeface="Calibri" pitchFamily="34" charset="-120"/>
              </a:rPr>
              <a:t>Beş özellik girdi, çıktı, kesinlik, sonluluk ve etkililiktir — popülerlik doğrulukla hiç ilgili bir özellik değildir.</a:t>
            </a:r>
            <a:endParaRPr lang="en-US" sz="1250" dirty="0"/>
          </a:p>
        </p:txBody>
      </p:sp>
      <p:sp>
        <p:nvSpPr>
          <p:cNvPr id="19" name="Text 1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20" name="Text 18"/>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r>
              <a:rPr lang="tr-TR" sz="1200" b="1" kern="0" spc="150" dirty="0" smtClean="0">
                <a:solidFill>
                  <a:srgbClr val="C1791F"/>
                </a:solidFill>
                <a:latin typeface="Calibri" pitchFamily="34" charset="0"/>
                <a:ea typeface="Calibri" pitchFamily="34" charset="-122"/>
                <a:cs typeface="Calibri" pitchFamily="34" charset="-120"/>
              </a:rPr>
              <a:t>BİLGİ KONTROLÜ</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tr-TR" sz="2600" b="1" dirty="0" smtClean="0">
                <a:solidFill>
                  <a:srgbClr val="0B1F3A"/>
                </a:solidFill>
                <a:latin typeface="Calibri" pitchFamily="34" charset="0"/>
                <a:ea typeface="Calibri" pitchFamily="34" charset="-122"/>
                <a:cs typeface="Calibri" pitchFamily="34" charset="-120"/>
              </a:rPr>
              <a:t>Hızlı Kontrol</a:t>
            </a:r>
            <a:r>
              <a:rPr lang="en-US" sz="2600" b="1" dirty="0" smtClean="0">
                <a:solidFill>
                  <a:srgbClr val="0B1F3A"/>
                </a:solidFill>
                <a:latin typeface="Calibri" pitchFamily="34" charset="0"/>
                <a:ea typeface="Calibri" pitchFamily="34" charset="-122"/>
                <a:cs typeface="Calibri" pitchFamily="34" charset="-120"/>
              </a:rPr>
              <a:t> </a:t>
            </a:r>
            <a:r>
              <a:rPr lang="en-US" sz="2600" b="1" dirty="0">
                <a:solidFill>
                  <a:srgbClr val="0B1F3A"/>
                </a:solidFill>
                <a:latin typeface="Calibri" pitchFamily="34" charset="0"/>
                <a:ea typeface="Calibri" pitchFamily="34" charset="-122"/>
                <a:cs typeface="Calibri" pitchFamily="34" charset="-120"/>
              </a:rPr>
              <a:t>2/2</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45920"/>
            <a:ext cx="10424160" cy="822960"/>
          </a:xfrm>
          <a:prstGeom prst="rect">
            <a:avLst/>
          </a:prstGeom>
          <a:noFill/>
          <a:ln/>
        </p:spPr>
        <p:txBody>
          <a:bodyPr wrap="square" lIns="0" tIns="0" rIns="0" bIns="0" rtlCol="0" anchor="ctr"/>
          <a:lstStyle/>
          <a:p>
            <a:pPr marL="0" indent="0">
              <a:buNone/>
            </a:pPr>
            <a:r>
              <a:rPr lang="en-US" sz="1800" b="1" dirty="0">
                <a:solidFill>
                  <a:srgbClr val="1B2430"/>
                </a:solidFill>
                <a:latin typeface="Calibri" pitchFamily="34" charset="0"/>
                <a:ea typeface="Calibri" pitchFamily="34" charset="-122"/>
                <a:cs typeface="Calibri" pitchFamily="34" charset="-120"/>
              </a:rPr>
              <a:t>Bir Yığın ADT'si push/pop/peek ve "son giren ilk çıkar" ile tanımlanır. Onu Python listesi yerine bağlı liste üzerine uygulamak neyi değiştirir?</a:t>
            </a:r>
            <a:endParaRPr lang="en-US" sz="1800" dirty="0"/>
          </a:p>
        </p:txBody>
      </p:sp>
      <p:sp>
        <p:nvSpPr>
          <p:cNvPr id="6" name="Shape 4"/>
          <p:cNvSpPr/>
          <p:nvPr/>
        </p:nvSpPr>
        <p:spPr>
          <a:xfrm>
            <a:off x="822960" y="2606040"/>
            <a:ext cx="10424160" cy="658368"/>
          </a:xfrm>
          <a:prstGeom prst="roundRect">
            <a:avLst>
              <a:gd name="adj" fmla="val 9722"/>
            </a:avLst>
          </a:prstGeom>
          <a:solidFill>
            <a:srgbClr val="F3F5F8"/>
          </a:solidFill>
          <a:ln w="12700">
            <a:solidFill>
              <a:srgbClr val="D9DFE6"/>
            </a:solidFill>
            <a:prstDash val="solid"/>
          </a:ln>
        </p:spPr>
      </p:sp>
      <p:sp>
        <p:nvSpPr>
          <p:cNvPr id="7" name="Text 5"/>
          <p:cNvSpPr txBox="1"/>
          <p:nvPr/>
        </p:nvSpPr>
        <p:spPr>
          <a:xfrm>
            <a:off x="1005840" y="2606040"/>
            <a:ext cx="457200" cy="658368"/>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A</a:t>
            </a:r>
            <a:endParaRPr lang="en-US" sz="1500" dirty="0"/>
          </a:p>
        </p:txBody>
      </p:sp>
      <p:sp>
        <p:nvSpPr>
          <p:cNvPr id="8" name="Text 6"/>
          <p:cNvSpPr txBox="1"/>
          <p:nvPr/>
        </p:nvSpPr>
        <p:spPr>
          <a:xfrm>
            <a:off x="1554480" y="2606040"/>
            <a:ext cx="9509760" cy="658368"/>
          </a:xfrm>
          <a:prstGeom prst="rect">
            <a:avLst/>
          </a:prstGeom>
          <a:noFill/>
          <a:ln/>
        </p:spPr>
        <p:txBody>
          <a:bodyPr wrap="square" lIns="0" tIns="0" rIns="0" bIns="0" rtlCol="0" anchor="ctr"/>
          <a:lstStyle/>
          <a:p>
            <a:pPr marL="0" indent="0">
              <a:buNone/>
            </a:pPr>
            <a:r>
              <a:rPr lang="en-US" sz="1450" dirty="0">
                <a:solidFill>
                  <a:srgbClr val="1B2430"/>
                </a:solidFill>
                <a:latin typeface="Calibri" pitchFamily="34" charset="0"/>
                <a:ea typeface="Calibri" pitchFamily="34" charset="-122"/>
                <a:cs typeface="Calibri" pitchFamily="34" charset="-120"/>
              </a:rPr>
              <a:t>ADT'nin tanımlı davranışını</a:t>
            </a:r>
            <a:endParaRPr lang="en-US" sz="1450" dirty="0"/>
          </a:p>
        </p:txBody>
      </p:sp>
      <p:sp>
        <p:nvSpPr>
          <p:cNvPr id="9" name="Shape 7"/>
          <p:cNvSpPr/>
          <p:nvPr/>
        </p:nvSpPr>
        <p:spPr>
          <a:xfrm>
            <a:off x="822960" y="3401568"/>
            <a:ext cx="10424160" cy="658368"/>
          </a:xfrm>
          <a:prstGeom prst="roundRect">
            <a:avLst>
              <a:gd name="adj" fmla="val 9722"/>
            </a:avLst>
          </a:prstGeom>
          <a:solidFill>
            <a:srgbClr val="E9F3ED"/>
          </a:solidFill>
          <a:ln w="19050">
            <a:solidFill>
              <a:srgbClr val="3E8E5A"/>
            </a:solidFill>
            <a:prstDash val="solid"/>
          </a:ln>
        </p:spPr>
      </p:sp>
      <p:sp>
        <p:nvSpPr>
          <p:cNvPr id="10" name="Text 8"/>
          <p:cNvSpPr txBox="1"/>
          <p:nvPr/>
        </p:nvSpPr>
        <p:spPr>
          <a:xfrm>
            <a:off x="1005840" y="3401568"/>
            <a:ext cx="457200" cy="658368"/>
          </a:xfrm>
          <a:prstGeom prst="rect">
            <a:avLst/>
          </a:prstGeom>
          <a:noFill/>
          <a:ln/>
        </p:spPr>
        <p:txBody>
          <a:bodyPr wrap="square" lIns="0" tIns="0" rIns="0" bIns="0" rtlCol="0" anchor="ctr"/>
          <a:lstStyle/>
          <a:p>
            <a:pPr marL="0" indent="0">
              <a:buNone/>
            </a:pPr>
            <a:r>
              <a:rPr lang="en-US" sz="1500" b="1" dirty="0">
                <a:solidFill>
                  <a:srgbClr val="3E8E5A"/>
                </a:solidFill>
                <a:latin typeface="Calibri" pitchFamily="34" charset="0"/>
                <a:ea typeface="Calibri" pitchFamily="34" charset="-122"/>
                <a:cs typeface="Calibri" pitchFamily="34" charset="-120"/>
              </a:rPr>
              <a:t>B</a:t>
            </a:r>
            <a:endParaRPr lang="en-US" sz="1500" dirty="0"/>
          </a:p>
        </p:txBody>
      </p:sp>
      <p:sp>
        <p:nvSpPr>
          <p:cNvPr id="11" name="Text 9"/>
          <p:cNvSpPr txBox="1"/>
          <p:nvPr/>
        </p:nvSpPr>
        <p:spPr>
          <a:xfrm>
            <a:off x="1554480" y="3401568"/>
            <a:ext cx="9509760" cy="658368"/>
          </a:xfrm>
          <a:prstGeom prst="rect">
            <a:avLst/>
          </a:prstGeom>
          <a:noFill/>
          <a:ln/>
        </p:spPr>
        <p:txBody>
          <a:bodyPr wrap="square" lIns="0" tIns="0" rIns="0" bIns="0" rtlCol="0" anchor="ctr"/>
          <a:lstStyle/>
          <a:p>
            <a:pPr marL="0" indent="0">
              <a:buNone/>
            </a:pPr>
            <a:r>
              <a:rPr lang="en-US" sz="1450" dirty="0">
                <a:solidFill>
                  <a:srgbClr val="1B2430"/>
                </a:solidFill>
                <a:latin typeface="Calibri" pitchFamily="34" charset="0"/>
                <a:ea typeface="Calibri" pitchFamily="34" charset="-122"/>
                <a:cs typeface="Calibri" pitchFamily="34" charset="-120"/>
              </a:rPr>
              <a:t>Sadece altta yatan uygulamayı, arayüzü değil</a:t>
            </a:r>
            <a:endParaRPr lang="en-US" sz="1450" dirty="0"/>
          </a:p>
        </p:txBody>
      </p:sp>
      <p:sp>
        <p:nvSpPr>
          <p:cNvPr id="12" name="Shape 10"/>
          <p:cNvSpPr/>
          <p:nvPr/>
        </p:nvSpPr>
        <p:spPr>
          <a:xfrm>
            <a:off x="822960" y="4197096"/>
            <a:ext cx="10424160" cy="658368"/>
          </a:xfrm>
          <a:prstGeom prst="roundRect">
            <a:avLst>
              <a:gd name="adj" fmla="val 9722"/>
            </a:avLst>
          </a:prstGeom>
          <a:solidFill>
            <a:srgbClr val="F3F5F8"/>
          </a:solidFill>
          <a:ln w="12700">
            <a:solidFill>
              <a:srgbClr val="D9DFE6"/>
            </a:solidFill>
            <a:prstDash val="solid"/>
          </a:ln>
        </p:spPr>
      </p:sp>
      <p:sp>
        <p:nvSpPr>
          <p:cNvPr id="13" name="Text 11"/>
          <p:cNvSpPr txBox="1"/>
          <p:nvPr/>
        </p:nvSpPr>
        <p:spPr>
          <a:xfrm>
            <a:off x="1005840" y="4197096"/>
            <a:ext cx="457200" cy="658368"/>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C</a:t>
            </a:r>
            <a:endParaRPr lang="en-US" sz="1500" dirty="0"/>
          </a:p>
        </p:txBody>
      </p:sp>
      <p:sp>
        <p:nvSpPr>
          <p:cNvPr id="14" name="Text 12"/>
          <p:cNvSpPr txBox="1"/>
          <p:nvPr/>
        </p:nvSpPr>
        <p:spPr>
          <a:xfrm>
            <a:off x="1554480" y="4197096"/>
            <a:ext cx="9509760" cy="658368"/>
          </a:xfrm>
          <a:prstGeom prst="rect">
            <a:avLst/>
          </a:prstGeom>
          <a:noFill/>
          <a:ln/>
        </p:spPr>
        <p:txBody>
          <a:bodyPr wrap="square" lIns="0" tIns="0" rIns="0" bIns="0" rtlCol="0" anchor="ctr"/>
          <a:lstStyle/>
          <a:p>
            <a:pPr marL="0" indent="0">
              <a:buNone/>
            </a:pPr>
            <a:r>
              <a:rPr lang="en-US" sz="1450" dirty="0">
                <a:solidFill>
                  <a:srgbClr val="1B2430"/>
                </a:solidFill>
                <a:latin typeface="Calibri" pitchFamily="34" charset="0"/>
                <a:ea typeface="Calibri" pitchFamily="34" charset="-122"/>
                <a:cs typeface="Calibri" pitchFamily="34" charset="-120"/>
              </a:rPr>
              <a:t>push ve pop'a izin verilip verilmediğini</a:t>
            </a:r>
            <a:endParaRPr lang="en-US" sz="1450" dirty="0"/>
          </a:p>
        </p:txBody>
      </p:sp>
      <p:sp>
        <p:nvSpPr>
          <p:cNvPr id="15" name="Shape 13"/>
          <p:cNvSpPr/>
          <p:nvPr/>
        </p:nvSpPr>
        <p:spPr>
          <a:xfrm>
            <a:off x="822960" y="4992624"/>
            <a:ext cx="10424160" cy="658368"/>
          </a:xfrm>
          <a:prstGeom prst="roundRect">
            <a:avLst>
              <a:gd name="adj" fmla="val 9722"/>
            </a:avLst>
          </a:prstGeom>
          <a:solidFill>
            <a:srgbClr val="F3F5F8"/>
          </a:solidFill>
          <a:ln w="12700">
            <a:solidFill>
              <a:srgbClr val="D9DFE6"/>
            </a:solidFill>
            <a:prstDash val="solid"/>
          </a:ln>
        </p:spPr>
      </p:sp>
      <p:sp>
        <p:nvSpPr>
          <p:cNvPr id="16" name="Text 14"/>
          <p:cNvSpPr txBox="1"/>
          <p:nvPr/>
        </p:nvSpPr>
        <p:spPr>
          <a:xfrm>
            <a:off x="1005840" y="4992624"/>
            <a:ext cx="457200" cy="658368"/>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D</a:t>
            </a:r>
            <a:endParaRPr lang="en-US" sz="1500" dirty="0"/>
          </a:p>
        </p:txBody>
      </p:sp>
      <p:sp>
        <p:nvSpPr>
          <p:cNvPr id="17" name="Text 15"/>
          <p:cNvSpPr txBox="1"/>
          <p:nvPr/>
        </p:nvSpPr>
        <p:spPr>
          <a:xfrm>
            <a:off x="1554480" y="4992624"/>
            <a:ext cx="9509760" cy="658368"/>
          </a:xfrm>
          <a:prstGeom prst="rect">
            <a:avLst/>
          </a:prstGeom>
          <a:noFill/>
          <a:ln/>
        </p:spPr>
        <p:txBody>
          <a:bodyPr wrap="square" lIns="0" tIns="0" rIns="0" bIns="0" rtlCol="0" anchor="ctr"/>
          <a:lstStyle/>
          <a:p>
            <a:pPr marL="0" indent="0">
              <a:buNone/>
            </a:pPr>
            <a:r>
              <a:rPr lang="en-US" sz="1450" dirty="0">
                <a:solidFill>
                  <a:srgbClr val="1B2430"/>
                </a:solidFill>
                <a:latin typeface="Calibri" pitchFamily="34" charset="0"/>
                <a:ea typeface="Calibri" pitchFamily="34" charset="-122"/>
                <a:cs typeface="Calibri" pitchFamily="34" charset="-120"/>
              </a:rPr>
              <a:t>Bir ADT tanımlandıktan sonra hiçbir şey değiştirilemez</a:t>
            </a:r>
            <a:endParaRPr lang="en-US" sz="1450" dirty="0"/>
          </a:p>
        </p:txBody>
      </p:sp>
      <p:sp>
        <p:nvSpPr>
          <p:cNvPr id="18" name="Text 16"/>
          <p:cNvSpPr txBox="1"/>
          <p:nvPr/>
        </p:nvSpPr>
        <p:spPr>
          <a:xfrm>
            <a:off x="822960" y="5879592"/>
            <a:ext cx="10424160" cy="640080"/>
          </a:xfrm>
          <a:prstGeom prst="rect">
            <a:avLst/>
          </a:prstGeom>
          <a:noFill/>
          <a:ln/>
        </p:spPr>
        <p:txBody>
          <a:bodyPr wrap="square" lIns="0" tIns="0" rIns="0" bIns="0" rtlCol="0" anchor="ctr"/>
          <a:lstStyle/>
          <a:p>
            <a:pPr marL="0" indent="0">
              <a:buNone/>
            </a:pPr>
            <a:r>
              <a:rPr lang="en-US" sz="1250" b="1" dirty="0">
                <a:solidFill>
                  <a:srgbClr val="C1791F"/>
                </a:solidFill>
                <a:latin typeface="Calibri" pitchFamily="34" charset="0"/>
                <a:ea typeface="Calibri" pitchFamily="34" charset="-122"/>
                <a:cs typeface="Calibri" pitchFamily="34" charset="-120"/>
              </a:rPr>
              <a:t>Why: </a:t>
            </a:r>
            <a:r>
              <a:rPr lang="en-US" sz="1250" dirty="0">
                <a:solidFill>
                  <a:srgbClr val="5B6B7C"/>
                </a:solidFill>
                <a:latin typeface="Calibri" pitchFamily="34" charset="0"/>
                <a:ea typeface="Calibri" pitchFamily="34" charset="-122"/>
                <a:cs typeface="Calibri" pitchFamily="34" charset="-120"/>
              </a:rPr>
              <a:t>ADT'nin işlemleri ve kuralları sabit kalır; yalnızca somut, "nasıl inşa edildiği" uygulaması değişir.</a:t>
            </a:r>
            <a:endParaRPr lang="en-US" sz="1250" dirty="0"/>
          </a:p>
        </p:txBody>
      </p:sp>
      <p:sp>
        <p:nvSpPr>
          <p:cNvPr id="19" name="Text 1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20" name="Text 18"/>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Uygulama: Ayrıştır ve Yapı Seç</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822960"/>
          </a:xfrm>
          <a:prstGeom prst="rect">
            <a:avLst/>
          </a:prstGeom>
          <a:noFill/>
          <a:ln/>
        </p:spPr>
        <p:txBody>
          <a:bodyPr wrap="square" lIns="0" tIns="0" rIns="0" bIns="0" rtlCol="0" anchor="ctr"/>
          <a:lstStyle/>
          <a:p>
            <a:pPr marL="0" indent="0">
              <a:buNone/>
            </a:pPr>
            <a:r>
              <a:rPr lang="en-US" sz="1650" b="1" dirty="0">
                <a:solidFill>
                  <a:srgbClr val="0B1F3A"/>
                </a:solidFill>
                <a:latin typeface="Calibri" pitchFamily="34" charset="0"/>
                <a:ea typeface="Calibri" pitchFamily="34" charset="-122"/>
                <a:cs typeface="Calibri" pitchFamily="34" charset="-120"/>
              </a:rPr>
              <a:t>Üyelerin kitap ödünç alıp iade edebildiği bir kütüphane sistemi için, not defterinizde:</a:t>
            </a:r>
            <a:endParaRPr lang="en-US" sz="1650" dirty="0"/>
          </a:p>
        </p:txBody>
      </p:sp>
      <p:sp>
        <p:nvSpPr>
          <p:cNvPr id="6" name="Text 4"/>
          <p:cNvSpPr txBox="1"/>
          <p:nvPr/>
        </p:nvSpPr>
        <p:spPr>
          <a:xfrm>
            <a:off x="822960" y="2514600"/>
            <a:ext cx="6400800" cy="338328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"Bir üye kitap ödünç alır"ı 3-4 küçük alt adıma ayrıştırın</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Her alt adım için hangi veriyi okuması veya güncellemesi gerektiğini not edin</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Bir kitabı ISBN'sine göre aramaya hangi veri kabının (liste, sözlük vb.) uygun olduğunu önerin</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"Bir kitabın mevcut olup olmadığını kontrol et" adımı için sözde kod yazın</a:t>
            </a:r>
            <a:endParaRPr lang="en-US" sz="1550" dirty="0"/>
          </a:p>
        </p:txBody>
      </p:sp>
      <p:sp>
        <p:nvSpPr>
          <p:cNvPr id="7" name="Shape 5"/>
          <p:cNvSpPr/>
          <p:nvPr/>
        </p:nvSpPr>
        <p:spPr>
          <a:xfrm>
            <a:off x="7498080" y="2514600"/>
            <a:ext cx="3794760" cy="3383280"/>
          </a:xfrm>
          <a:prstGeom prst="roundRect">
            <a:avLst>
              <a:gd name="adj" fmla="val 2162"/>
            </a:avLst>
          </a:prstGeom>
          <a:solidFill>
            <a:srgbClr val="FFF6E8"/>
          </a:solidFill>
          <a:ln w="12700">
            <a:solidFill>
              <a:srgbClr val="E8A33D"/>
            </a:solidFill>
            <a:prstDash val="solid"/>
          </a:ln>
        </p:spPr>
      </p:sp>
      <p:sp>
        <p:nvSpPr>
          <p:cNvPr id="8" name="Text 6"/>
          <p:cNvSpPr txBox="1"/>
          <p:nvPr/>
        </p:nvSpPr>
        <p:spPr>
          <a:xfrm>
            <a:off x="7726680" y="2697480"/>
            <a:ext cx="3200400" cy="274320"/>
          </a:xfrm>
          <a:prstGeom prst="rect">
            <a:avLst/>
          </a:prstGeom>
          <a:noFill/>
          <a:ln/>
        </p:spPr>
        <p:txBody>
          <a:bodyPr wrap="square" lIns="0" tIns="0" rIns="0" bIns="0" rtlCol="0" anchor="ctr"/>
          <a:lstStyle/>
          <a:p>
            <a:pPr marL="0" indent="0">
              <a:buNone/>
            </a:pPr>
            <a:r>
              <a:rPr lang="en-US" sz="1100" b="1" kern="0" spc="150" dirty="0">
                <a:solidFill>
                  <a:srgbClr val="C1791F"/>
                </a:solidFill>
                <a:latin typeface="Calibri" pitchFamily="34" charset="0"/>
                <a:ea typeface="Calibri" pitchFamily="34" charset="-122"/>
                <a:cs typeface="Calibri" pitchFamily="34" charset="-120"/>
              </a:rPr>
              <a:t>HINT</a:t>
            </a:r>
            <a:endParaRPr lang="en-US" sz="1100" dirty="0"/>
          </a:p>
        </p:txBody>
      </p:sp>
      <p:sp>
        <p:nvSpPr>
          <p:cNvPr id="9" name="Text 7"/>
          <p:cNvSpPr txBox="1"/>
          <p:nvPr/>
        </p:nvSpPr>
        <p:spPr>
          <a:xfrm>
            <a:off x="7726680" y="3017520"/>
            <a:ext cx="3337560" cy="2743200"/>
          </a:xfrm>
          <a:prstGeom prst="rect">
            <a:avLst/>
          </a:prstGeom>
          <a:noFill/>
          <a:ln/>
        </p:spPr>
        <p:txBody>
          <a:bodyPr wrap="square" lIns="0" tIns="0" rIns="0" bIns="0" rtlCol="0" anchor="t"/>
          <a:lstStyle/>
          <a:p>
            <a:pPr marL="0" indent="0">
              <a:buNone/>
            </a:pPr>
            <a:r>
              <a:rPr lang="en-US" sz="1300" dirty="0">
                <a:solidFill>
                  <a:srgbClr val="5B6B7C"/>
                </a:solidFill>
                <a:latin typeface="Calibri" pitchFamily="34" charset="0"/>
                <a:ea typeface="Calibri" pitchFamily="34" charset="-122"/>
                <a:cs typeface="Calibri" pitchFamily="34" charset="-120"/>
              </a:rPr>
              <a:t>Şunu sorun: bu veri üzerinde en sık hangi işlem oluyor — arama mı, ekleme mi, çıkarma mı? Bu cevap doğru yapıya işaret eder.</a:t>
            </a:r>
            <a:endParaRPr lang="en-US" sz="13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22960" y="658368"/>
            <a:ext cx="10241280" cy="685800"/>
          </a:xfrm>
          <a:prstGeom prst="rect">
            <a:avLst/>
          </a:prstGeom>
          <a:noFill/>
          <a:ln/>
        </p:spPr>
        <p:txBody>
          <a:bodyPr wrap="square" lIns="0" tIns="0" rIns="0" bIns="0"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Hafta 1 Özeti</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45920"/>
            <a:ext cx="6400800" cy="4389120"/>
          </a:xfrm>
          <a:prstGeom prst="rect">
            <a:avLst/>
          </a:prstGeom>
          <a:noFill/>
          <a:ln/>
        </p:spPr>
        <p:txBody>
          <a:bodyPr wrap="square" lIns="0" tIns="0" rIns="0" bIns="0" rtlCol="0" anchor="t"/>
          <a:lstStyle/>
          <a:p>
            <a:pPr marL="342900" indent="-342900">
              <a:spcAft>
                <a:spcPts val="1300"/>
              </a:spcAft>
              <a:buSzPct val="100000"/>
              <a:buChar char="✓"/>
            </a:pPr>
            <a:r>
              <a:rPr lang="en-US" sz="1600" dirty="0">
                <a:solidFill>
                  <a:srgbClr val="1B2430"/>
                </a:solidFill>
                <a:latin typeface="Calibri" pitchFamily="34" charset="0"/>
                <a:ea typeface="Calibri" pitchFamily="34" charset="-122"/>
                <a:cs typeface="Calibri" pitchFamily="34" charset="-120"/>
              </a:rPr>
              <a:t>Bir algoritma, beş tanımlayıcı özelliğe sahip sonlu, kesin, sonlanan bir adımlar dizisidir</a:t>
            </a:r>
            <a:endParaRPr lang="en-US" sz="1600" dirty="0"/>
          </a:p>
          <a:p>
            <a:pPr marL="342900" indent="-342900">
              <a:spcAft>
                <a:spcPts val="1300"/>
              </a:spcAft>
              <a:buSzPct val="100000"/>
              <a:buChar char="✓"/>
            </a:pPr>
            <a:r>
              <a:rPr lang="en-US" sz="1600" dirty="0">
                <a:solidFill>
                  <a:srgbClr val="1B2430"/>
                </a:solidFill>
                <a:latin typeface="Calibri" pitchFamily="34" charset="0"/>
                <a:ea typeface="Calibri" pitchFamily="34" charset="-122"/>
                <a:cs typeface="Calibri" pitchFamily="34" charset="-120"/>
              </a:rPr>
              <a:t>Sözde kod ve akış şemaları, kod yazmadan önce mantığı tasarlamanızı ve kontrol etmenizi sağlar</a:t>
            </a:r>
            <a:endParaRPr lang="en-US" sz="1600" dirty="0"/>
          </a:p>
          <a:p>
            <a:pPr marL="342900" indent="-342900">
              <a:spcAft>
                <a:spcPts val="1300"/>
              </a:spcAft>
              <a:buSzPct val="100000"/>
              <a:buChar char="✓"/>
            </a:pPr>
            <a:r>
              <a:rPr lang="en-US" sz="1600" dirty="0">
                <a:solidFill>
                  <a:srgbClr val="1B2430"/>
                </a:solidFill>
                <a:latin typeface="Calibri" pitchFamily="34" charset="0"/>
                <a:ea typeface="Calibri" pitchFamily="34" charset="-122"/>
                <a:cs typeface="Calibri" pitchFamily="34" charset="-120"/>
              </a:rPr>
              <a:t>Bir veri yapısı, bir programın gerçekten gerçekleştirmesi gereken işlemler için veriyi organize eder</a:t>
            </a:r>
            <a:endParaRPr lang="en-US" sz="1600" dirty="0"/>
          </a:p>
          <a:p>
            <a:pPr marL="342900" indent="-342900">
              <a:spcAft>
                <a:spcPts val="1300"/>
              </a:spcAft>
              <a:buSzPct val="100000"/>
              <a:buChar char="✓"/>
            </a:pPr>
            <a:r>
              <a:rPr lang="en-US" sz="1600" dirty="0">
                <a:solidFill>
                  <a:srgbClr val="1B2430"/>
                </a:solidFill>
                <a:latin typeface="Calibri" pitchFamily="34" charset="0"/>
                <a:ea typeface="Calibri" pitchFamily="34" charset="-122"/>
                <a:cs typeface="Calibri" pitchFamily="34" charset="-120"/>
              </a:rPr>
              <a:t>Bir ADT, bir yapının ne yaptığını nasıl uygulandığından ayırır</a:t>
            </a:r>
            <a:endParaRPr lang="en-US" sz="1600" dirty="0"/>
          </a:p>
          <a:p>
            <a:pPr marL="342900" indent="-342900">
              <a:spcAft>
                <a:spcPts val="1300"/>
              </a:spcAft>
              <a:buSzPct val="100000"/>
              <a:buChar char="✓"/>
            </a:pPr>
            <a:r>
              <a:rPr lang="en-US" sz="1600" dirty="0">
                <a:solidFill>
                  <a:srgbClr val="1B2430"/>
                </a:solidFill>
                <a:latin typeface="Calibri" pitchFamily="34" charset="0"/>
                <a:ea typeface="Calibri" pitchFamily="34" charset="-122"/>
                <a:cs typeface="Calibri" pitchFamily="34" charset="-120"/>
              </a:rPr>
              <a:t>Ayrıştırma, örüntü tanıma, soyutlama ve algoritma tasarımı hesaplamalı düşünmenin dört ayağıdır</a:t>
            </a:r>
            <a:endParaRPr lang="en-US" sz="1600" dirty="0"/>
          </a:p>
        </p:txBody>
      </p:sp>
      <p:sp>
        <p:nvSpPr>
          <p:cNvPr id="6" name="Shape 4"/>
          <p:cNvSpPr/>
          <p:nvPr/>
        </p:nvSpPr>
        <p:spPr>
          <a:xfrm>
            <a:off x="7498080" y="1645920"/>
            <a:ext cx="3794760" cy="4389120"/>
          </a:xfrm>
          <a:prstGeom prst="roundRect">
            <a:avLst>
              <a:gd name="adj" fmla="val 1928"/>
            </a:avLst>
          </a:prstGeom>
          <a:solidFill>
            <a:srgbClr val="0B1F3A"/>
          </a:solidFill>
          <a:ln/>
        </p:spPr>
      </p:sp>
      <p:sp>
        <p:nvSpPr>
          <p:cNvPr id="7" name="Text 5"/>
          <p:cNvSpPr txBox="1"/>
          <p:nvPr/>
        </p:nvSpPr>
        <p:spPr>
          <a:xfrm>
            <a:off x="7726680" y="1874520"/>
            <a:ext cx="3200400" cy="27432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NEXT WEEK</a:t>
            </a:r>
            <a:endParaRPr lang="en-US" sz="1100" dirty="0"/>
          </a:p>
        </p:txBody>
      </p:sp>
      <p:sp>
        <p:nvSpPr>
          <p:cNvPr id="8" name="Text 6"/>
          <p:cNvSpPr txBox="1"/>
          <p:nvPr/>
        </p:nvSpPr>
        <p:spPr>
          <a:xfrm>
            <a:off x="7726680" y="2194560"/>
            <a:ext cx="3291840" cy="36576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Hafta 2: Algoritma Analizi ve Big-O Gösterimi — bir algoritmanın verimliliğini sezgisel değil, kesin olarak nasıl ölçüp karşılaştıracağımız.</a:t>
            </a:r>
            <a:endParaRPr lang="en-US" sz="140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8A97A5"/>
                </a:solidFill>
                <a:latin typeface="Calibri" pitchFamily="34" charset="0"/>
                <a:ea typeface="Calibri" pitchFamily="34" charset="-122"/>
                <a:cs typeface="Calibri" pitchFamily="34" charset="-120"/>
              </a:rPr>
              <a:t>Veri Yapıları ve Algoritmalar — Hafta 1: Algoritmik Düşünme ve Veri Yapılarına Giriş</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marL="0" indent="0" algn="r">
              <a:buNone/>
            </a:pPr>
            <a:r>
              <a:rPr lang="en-US" sz="900" dirty="0">
                <a:solidFill>
                  <a:srgbClr val="8A97A5"/>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2798</Words>
  <Application>Microsoft Office PowerPoint</Application>
  <PresentationFormat>Geniş ekran</PresentationFormat>
  <Paragraphs>391</Paragraphs>
  <Slides>35</Slides>
  <Notes>35</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35</vt:i4>
      </vt:variant>
    </vt:vector>
  </HeadingPairs>
  <TitlesOfParts>
    <vt:vector size="39" baseType="lpstr">
      <vt:lpstr>Arial</vt:lpstr>
      <vt:lpstr>Calibri</vt:lpstr>
      <vt:lpstr>Consolas</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Kağan OKATAN</cp:lastModifiedBy>
  <cp:revision>5</cp:revision>
  <dcterms:created xsi:type="dcterms:W3CDTF">2026-09-20T13:07:36Z</dcterms:created>
  <dcterms:modified xsi:type="dcterms:W3CDTF">2026-09-30T11:36:48Z</dcterms:modified>
</cp:coreProperties>
</file>