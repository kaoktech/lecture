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9082735" y="-1645920"/>
            <a:ext cx="5029200" cy="5029200"/>
          </a:xfrm>
          <a:prstGeom prst="ellipse">
            <a:avLst/>
          </a:prstGeom>
          <a:solidFill>
            <a:srgbClr val="16335C"/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4480560"/>
            <a:ext cx="4389120" cy="4389120"/>
          </a:xfrm>
          <a:prstGeom prst="ellipse">
            <a:avLst/>
          </a:prstGeom>
          <a:solidFill>
            <a:srgbClr val="122A4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5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Yığınlar (Stack)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Basit ve güçlü bir kural — son giren ilk çıkar — geri alma sistemlerinde, doğrulamada ve fonksiyon çağrılarının gerçekte nasıl işlediğinde anında uygulamaları olan.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01168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6035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Yönetim Bilişim Sistemleri · Veri Yapıları ve Algoritmalar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Neler Göreceğiz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5630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5630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46304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Yığın ADT'si ve LIFO ilkesi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9052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kural, birçok kullanım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33354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33354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24028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işlemler: push, pop, peek, is_empty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66776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karmaşıklıkları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301752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11078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11078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301752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Python'da bir yığın uygulamak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44500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liste ile, ve bir bağlı liste ile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379476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88802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88802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379476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uygulamalar: geri alma, parantez doğrulama, çağrı yığını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22224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 etseniz de etmeseniz de yığınların ortaya çıktığı yerler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2960" y="457200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466526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466526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457200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Sonek (postfix) ifadeleri değerlendirmek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554480" y="499948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 bir yığın algoritması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2960" y="534924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544250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" y="544250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554480" y="534924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zaman bir yığına başvurmalı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554480" y="577672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iş probleminde kalıbı tanımak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5: Yığınlar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Yığın Nedir?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5: Yığınlar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Yığın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Yığın (Stack ADT)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Öğeleri sıkı bir Son Giren İlk Çıkar (LIFO) sırasında saklayan soyut bir veri tipidir: en son eklenen öğe her zaman ilk kaldırılan olur.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tabak yığını: yeni tabakları üste koyarsınız ve her zaman önce üstteki tabağı alırsınız. Üstündekileri kaldırmadan alttaki tabağa ulaşamazsınız.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5: Yığınlar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 İlkesi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 = Son Giren İlk Çıkar — en yeni öğe her zaman önce kaldırılır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Yığının ortasındaki veya altındaki öğelere erişim yoktur — sadece üst her zaman görünür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kısıtlama tam olarak yığınları kullanışlı yapan şeydir: en son adımları önce geri almanız gereken herhangi bir süreci modeller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Kuyruk (Hafta 6) ile karşılaştırın: İlk Giren İlk Çıkar — tam tersi disiplin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5: Yığınlar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SENARYOSU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Adımlı Bir İşlemi Geri Almak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bankacılık sistemi bir transferi birkaç küçük adımda işler (A hesabından düş, B hesabına ekle, işlemi günlüğe kaydet). 3. adım başarısız olursa, önceki adımlar ters sırada geri alınmalıdır.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tamamlanan adım gerçekleştiği anda bir yığına itilir (push)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şey başarısız olursa, adımlar birer birer çıkarılır (pop) ve tersine çevrilir — en son önce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olarak ters sırada geri almak doğruluk için gereklidir — bu yapısal olarak bir yığındır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5: Yığınlar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Yığın İşlemleri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5: Yığınlar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Dört Temel Yığın İşlemi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push(x) — x'i yığının üstüne ekle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pop() — üstteki öğeyi kaldır ve döndür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peek() / top() — üstteki öğeyi kaldırmadan döndür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is_empty() — yığında öğe kalıp kalmadığını kontrol et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589520" y="1600200"/>
            <a:ext cx="3703320" cy="4480560"/>
          </a:xfrm>
          <a:prstGeom prst="roundRect">
            <a:avLst>
              <a:gd name="adj" fmla="val 1975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Hepsi Bu Kadar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2148840"/>
            <a:ext cx="3200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yığının tüm arayüzü bu dört işlemdir. Kısıtlama tam olarak konudur — LIFO davranışını garanti eden şey budur.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5: Yığınlar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REFERANS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Yığın İşlemlerinin Karmaşıklığı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448056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İşlem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Karmaşıklık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Neden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push(x)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Bilinen bir uca ekleme — kayma yok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Aynı bilinen uçtan kaldırma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peek()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Üst öğeye doğrudan erişim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is_empty()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Sadece bir boyutu veya referansı kontrol eder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5: Yığınlar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Yığın Uygulamak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5: Yığınlar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Listesi Kullanarak Yığın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4160520"/>
          </a:xfrm>
          <a:prstGeom prst="roundRect">
            <a:avLst>
              <a:gd name="adj" fmla="val 1319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Yigin: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self._ogeler = []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push(self, oge):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self._ogeler.append(oge)      # sona ekle — O(1)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pop(self):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self._ogeler.pop()     # sondan kaldır — O(1)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peek(self):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self._ogeler[-1]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is_empty(self):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len(self._ogeler) == 0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 sonunu "üst" olarak kullanmak her işlemi O(1) tutan şeydir — baş, O(n) kaymayı zorlardı.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5: Yığınlar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Bağlı Liste Kullanarak Yığın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4160520"/>
          </a:xfrm>
          <a:prstGeom prst="roundRect">
            <a:avLst>
              <a:gd name="adj" fmla="val 1319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Yigin: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self.head = None   # head, yığının ÜSTÜDÜR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push(self, oge):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dugum = Node(oge)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dugum.sonraki = self.head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self.head = dugum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pop(self):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self.head is None: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IndexError("boş yığından pop")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deger = self.head.deger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self.head = self.head.sonraki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deger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bağlı listenin başına push ve pop yapmak ikisi de O(1)'dir — Hafta 4'te head'e eklemenin hızlı olma nedeniyle aynı.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5: Yığınlar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KARŞILAŞTIRMA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Tabanlı ile Bağlı-Liste Tabanlı Yığın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874520"/>
            <a:ext cx="5074920" cy="2743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Tabanlı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Python'da uygulaması çok basit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Öğe başına biraz daha bellek verimli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Python'ın listesi bunu içeride zaten iyi yapıyor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11" name="Shape 9"/>
          <p:cNvSpPr/>
          <p:nvPr/>
        </p:nvSpPr>
        <p:spPr>
          <a:xfrm>
            <a:off x="626364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C1791F"/>
          </a:solidFill>
          <a:ln/>
        </p:spPr>
      </p:sp>
      <p:sp>
        <p:nvSpPr>
          <p:cNvPr id="12" name="Shape 10"/>
          <p:cNvSpPr/>
          <p:nvPr/>
        </p:nvSpPr>
        <p:spPr>
          <a:xfrm>
            <a:off x="6263640" y="1874520"/>
            <a:ext cx="5074920" cy="274320"/>
          </a:xfrm>
          <a:prstGeom prst="rect">
            <a:avLst/>
          </a:prstGeom>
          <a:solidFill>
            <a:srgbClr val="C179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Bağlı-Liste Tabanlı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Hiç yeniden boyutlandırma/tahsis gerekmez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Bellek bir seferde bir düğüm tahsis edilmesi gerektiğinde kullanışlı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seviye dillerde daha yaygın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5: Yığınlar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Uygulamalar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5: Yığınlar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Yığınla Resmî Bir Geri Alma Özelliği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geri_al_yigini = Yigin()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eylem_gerceklestir(eylem):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print("Yapılıyor:", eylem)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geri_al_yigini.push(eylem)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geri_al():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geri_al_yigini.is_empty():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print("Geri alınacak bir şey yok")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eylem = geri_al_yigini.pop()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print("Geri alınıyor:", eylem)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eylem_gerceklestir("'Merhaba' yaz")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eylem_gerceklestir("seçimi kalınlaştır")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geri_al()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geri_al()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Yapılıyor: 'Merhaba' yaz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Yapılıyor: seçimi kalınlaştır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Geri alınıyor: seçimi kalınlaştır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Geri alınıyor: 'Merhaba' yaz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5: Yığınlar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Dengeli Parantezler / Parantez Eşleştirme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Parantez Doğrulama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 bir yığın problemi: bir string'deki her açılış parantezinin doğru eşleşen, doğru içi içe geçmiş bir kapanış parantezi olup olmadığını kontrol etmek.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"( [ ] )"  -&gt; dengeli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"( [ ) ]"  -&gt; DENGELİ DEĞİL (çapraz, içi içe değil)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5: Yığınlar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Yığınla Dengeli Parantezleri Doğrulamak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dengeli_mi(metin):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yigin = Yigin()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ciftler = {')': '(', ']': '[', '}': '{'}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karakter in metin: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karakter in "([{":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yigin.push(karakter)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karakter in ")]}":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yigin.is_empty() or yigin.pop() != ciftler[karakter]: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return False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yigin.is_empty()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print(dengeli_mi("( [ ] )"))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print(dengeli_mi("( [ ) ]"))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kapanış parantezi en son açılanla eşleşmelidir — tam olarak bir yığının zorladığı LIFO davranışı.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5: Yığınlar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SENARYOSU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 İçe İş Kurallarını veya Veriyi Doğrulamak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sistem, yapılandırma dosyalarının, formüllerin veya iç içe JSON benzeri iş kurallarının daha ileri işlemeden önce doğru eşleşen parantezlere sahip olduğunu doğrular.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Bozuk iç içe yapılar (eşleşmeyen veya çapraz parantezler) sonraki hatalara neden olmadan önce reddedilmelidir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Parantezlerin neyi temsil ettiğine bakılmaksızın tam olarak aynı parantez eşleştirme algoritması uygulanır — parantezler, süslü parantezler veya iş kuralı blokları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Bu, herhangi bir yapılandırılmış iş verisini ayrıştırmadan önce yaygın gerçek bir ön işleme adımıdır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5: Yığınlar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Çağrı Yığını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Çağrı Yığını (Call Stack)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programlama dilinin fonksiyon çağrılarını takip etmek için kullandığı mekanizmadır: bir fonksiyon her çağrıldığında yeni bir "çerçeve" itilir; döndüğünde o çerçeve çıkarılır. Bu, tam olarak incelediğimiz anlamda bir yığındır.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fonksiyonu B'yi çağırırsa, o da C'yi çağırırsa, çağrı yığını [A, B, C]'dir — C önce biter ve çıkarılır, sonra B, sonra A. Son çağrılan, ilk dönen.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5: Yığınlar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Özyineleme ve Çağrı Yığını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özyinelemeli fonksiyon çağrısı, o çağrının yerel değişkenlerini tutan yeni bir çerçeveyi çağrı yığınına iter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çağrı döndüğünde (taban durumuna ulaştığında veya bittiğinde), çerçevesi çıkarılır ve kontrol çağırana döner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yüzden özyineleme doğal olarak ters sırada "çözülür" — bu, herhangi bir başka yığınla aynı LIFO davranışıdır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veya sınırsız özyineleme, bellek tükenene kadar çağrı yığınını büyütebilir — bir yığın taşması (stack overflow)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5: Yığınlar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SENARYOSU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Sınırsız Özyinelemeden Yığın Taşması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rapor üreteci, toplam çalışan sayısını hesaplamak için bir şirketin organizasyon şemasını özyinelemeli olarak işler, ama bir veri hatası dairesel bir raporlama ilişkisi yaratır.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özyinelemeli çağrı, özyinelemenin sonunda bir taban duruma ulaşmasını bekleyerek çağrı yığınına başka bir çerçeve iter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Dairesel bir ilişkiyle, asla ulaşmaz — çağrı yığını program çökene kadar sınırsız büyür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tam olarak özyinelemeli algoritmaların net, ulaşılabilir bir taban duruma ihtiyaç duymasının nedenidir, ve gerçek sistemlerin önce veri yapılarını doğrulama nedenidir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5: Yığınlar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İfade Değerlendirme ve Özet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5: Yığınlar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İnfiks ile Sonek (Postfix) Gösterimi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İnfiks (insanların yazdığı): 3 + 4 * 2 — operatörler işlenenler arasında oturur, parantez/öncelik kuralları gerektirir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Sonek (Ters Lehçe Gösterimi): 3 4 2 * + — operatörler işlenenlerinden sonra gelir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Sonekte belirsizlik yoktur ve parantez gerekmez — bir yığınla soldan sağa değerlendirilebilir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Birçok hesap makinesi ve elektronik tablo motoru, formülleri değerlendirmeden önce içeride sonek'e dönüştürür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5: Yığınlar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Yığınla Sonek İfadesini Değerlendirmek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sonek_degerlendir(ifade):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yigin = Yigin()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token in ifade.split():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token in "+-*/":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 = yigin.pop()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 = yigin.pop()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token == "+": yigin.push(a + b)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elif token == "-": yigin.push(a - b)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elif token == "*": yigin.push(a * b)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elif token == "/": yigin.push(a / b)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yigin.push(float(token))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yigin.pop()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print(sonek_degerlendir("3 4 2 * +"))   # 3 + (4 * 2)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11.0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Sayılar itilir; her operatör iki işlenenini çıkarır, hesaplar ve sonucu geri iter.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5: Yığınlar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SENARYOSU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Elektronik Tablo Motorunda Formülleri Hesaplamak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Hafif bir elektronik tablo motorunun, kullanıcının girdiği =(A1+A2)*A3 gibi formülleri doğru ve verimli bir şekilde değerlendirmesi gerekiyor.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Motor, infiks formülü ayrıştırır, içeride sonek'e dönüştürür, sonra bir yığınla değerlendirir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Bu, parantezleri ve operatör önceliğini doğrudan ele almak için karmaşık, hataya açık mantık yazmaktan kaçınır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olarak aynı kalıp — sonek'i değerlendiren bir yığın — günlük yazılımın büyük bir kısmının altında yatar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5: Yığınlar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Yığınla String Tersine Çevirmek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string_tersine_cevir(s):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yigin = Yigin()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karakter in s: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yigin.push(karakter)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tersine_cevrilmis = []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not yigin.is_empty():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tersine_cevrilmis.append(yigin.pop())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"".join(tersine_cevrilmis)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print(string_tersine_cevir("fatura"))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arutaf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şeyi itip sonra hepsini çıkarmak doğal olarak sırayı tersine çevirir — LIFO'nun doğrudan bir sonucu.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5: Yığınlar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SENARYOSU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HTML/XML Etiketlerini Eşleştirmek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içerik yönetim sistemi, bir şablondan üretilen HTML'nin her açılış etiketinin doğru sırada, doğru iç içe geçmiş şekilde kapatıldığını doğrular.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&lt;div&gt;&lt;span&gt;metin&lt;/span&gt;&lt;/div&gt; geçerlidir; &lt;div&gt;&lt;span&gt;metin&lt;/div&gt;&lt;/span&gt; geçerli değildir — etiketler içi içe geçmek yerine çaprazlaşır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Bu, açılış/kapanış etiketlerinin parantez rolünü oynadığı, parantez eşleştirmeyle tamamen aynı algoritmadır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HTML/XML ayrıştırıcıları, bu yığın tabanlı kontrolü ilk doğrulama adımlarından biri olarak kullanır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5: Yığınlar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İYI UYGULAMALAR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Yığınlarla Çalışırken Yaygın Hatalar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 is_empty() kontrol etmeden boş bir yığında pop() veya peek() çağırmak — çökmeye neden olur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listesinin başını "üst" olarak kullanmak (liste.pop(0)) — bu O(1) değil, O(n)'dir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yığını (LIFO) bir kuyrukla (FIFO) karıştırmak — yanlışını kullanmak sessizce yanlış sıra üretir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yığının ortasına erişme veya arama yolu olmadığını unutmak — buna ihtiyacınız varsa, yığın yanlış yapıdır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5: Yığınlar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REFERANS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Yığınların Günlük Yazılımda Saklandığı Yerler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448056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Yığının Takip Ettiği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Metin düzenleyici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Geri al/yinele geçmişi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tarayıcısı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Geri düğmesi için sayfa geçmişi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Programlama dili çalışma zamanı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Fonksiyon çağrı çerçeveleri (çağrı yığını)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 editörü / 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Parantez, süslü parantez ve tırnak eşleştirme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Elektronik tablo motoru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Formüllerde operatör değerlendirme sırası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5: Yığınlar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REHBERI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Zaman Bir Yığına Başvurmalı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dizi adımı ters çevirmeniz gerektiğinde, en yeniden başlayarak — geri alma, rollback, geri izleme (backtracking)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Eşleşen, iç içe çiftleri kontrol etmeniz gerektiğinde — parantezler, etiketler, iç içe iş kuralları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Özyinelemeyi uyguluyor veya üzerine düşünüyorsanız — her zaman bir çağrı yığını tarafından desteklenir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 içe yapıya sahip ifadeleri değerlendirmeniz veya ayrıştırmanız gerektiğinde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5: Yığınlar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Uygulama: Yigin Sınıfını Genişletmek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5 not defterinizde, liste tabanlı Yigin sınıfını kullanarak: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Yigin kullanarak string'i tersine çeviren bir string_tersine_cevir(s) fonksiyonu yazın (her karakteri push edip, sonra hepsini pop edin)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Boş bir girdi string'i durumunu da ele alan bir dengeli_mi fonksiyonu yazın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dengeli_mi'yi en az 3 geçerli ve 3 geçersiz parantez string'inde test edin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98080" y="2514600"/>
            <a:ext cx="3794760" cy="3383280"/>
          </a:xfrm>
          <a:prstGeom prst="roundRect">
            <a:avLst>
              <a:gd name="adj" fmla="val 2162"/>
            </a:avLst>
          </a:prstGeom>
          <a:solidFill>
            <a:srgbClr val="FFF6E8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2668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26680" y="3017520"/>
            <a:ext cx="3337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yığından her karakteri çıkarmak doğal olarak onları ters sırada üretir — tüm numara budur.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5: Yığınlar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1/2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Aşağıdakilerden hangisi bir yığın kullanmak için geçerli bir sebep DEĞİLDİR?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6060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0604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al/yinele uygulamak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401568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401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401568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Dengeli parantezleri doğrulamak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197096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E9F3ED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19709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9709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müşteriyi ID'sine göre anında bulmak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4992624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99262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992624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Özyineleme sırasında fonksiyon çağrılarını takip etmek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8795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Anahtarla anında arama bir sözlük/hash tablosunun işidir (Hafta 10) — bir yığının rastgele bir öğeyi bulmanın hızlı bir yolu yoktur.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5: Yığınlar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2/2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peek(), pop()'a kıyasla ne yapar?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6060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0604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Alttaki öğeyi kaldırır ve döndürür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401568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E9F3ED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401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401568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Üstteki öğeyi kaldırmadan döndürür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197096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19709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9709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Üstteki öğeyi kaldırır ve döndürür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4992624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99262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992624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Yığının boş olup olmadığını kontrol eder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8795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peek(), yığını değiştirmeden üstteki öğeye bakar; pop() onu kaldırır.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5: Yığınlar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Uygulama: Sonek Hesap Makinesi Genişletmesi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Slaytlardaki sonek_degerlendir fonksiyonunu genişletin: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 operatörü % için destek ekleyin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Sıfıra bölmeyi çökme yerine bir hata mesajı döndürerek ele alın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"10 2 /", "5 0 /" ve "6 3 %" üzerinde test edin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yorumda, sonek ifadesi bozuk olsaydı (çok fazla operatör) ne olacağını açıklayın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98080" y="2514600"/>
            <a:ext cx="3794760" cy="3383280"/>
          </a:xfrm>
          <a:prstGeom prst="roundRect">
            <a:avLst>
              <a:gd name="adj" fmla="val 2162"/>
            </a:avLst>
          </a:prstGeom>
          <a:solidFill>
            <a:srgbClr val="FFF6E8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2668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26680" y="3017520"/>
            <a:ext cx="3337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Bozuk bir sonek ifadesi boş bir yığından pop denemeye çalışacaktır — bu, bir hatanın ortaya çıkması için doğal bir yerdir.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5: Yığınlar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5 Özeti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6400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yığın Son Giren İlk Çıkar'ı zorlar — her işlem (push, pop, peek, is_empty) O(1)'dir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Yığınlar bir Python listesi üzerinde (sonu kullanarak) veya bir bağlı liste üzerinde (head'i kullanarak) uygulanabilir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uygulamalar geri al/yinele, parantez doğrulama ve her fonksiyon çağrısının arkasındaki çağrı yığınını içerir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Sonek ifade değerlendirmesi, gerçek hesap makinelerinde ve elektronik tablolarda kullanılan klasik, zarif bir yığın algoritmasıdır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Kalıbı tanıyın: son adımları tersine çevirmek, iç içe çiftleri eşleştirmek, veya çağrıları takip etmek — bu bir yığındır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0" y="1645920"/>
            <a:ext cx="3794760" cy="4389120"/>
          </a:xfrm>
          <a:prstGeom prst="roundRect">
            <a:avLst>
              <a:gd name="adj" fmla="val 1928"/>
            </a:avLst>
          </a:prstGeom>
          <a:solidFill>
            <a:srgbClr val="0B1F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2668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26680" y="219456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6: Kuyruklar — ayna görüntüsü disiplin, İlk Giren İlk Çıkar, gelen sırayla şeyleri işlemek için.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5: Yığınlar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2026-09-20T19:34:28Z</dcterms:created>
  <dcterms:modified xsi:type="dcterms:W3CDTF">2026-09-20T19:34:28Z</dcterms:modified>
</cp:coreProperties>
</file>