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74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E3A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1E3A6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</a:t>
            </a:r>
            <a:r>
              <a:rPr lang="en-US" sz="1500" b="1" kern="0" spc="300" dirty="0" smtClean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tr-TR" sz="1500" b="1" kern="0" spc="300" dirty="0" smtClean="0">
              <a:solidFill>
                <a:srgbClr val="3B82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Procedural Thinking to Objects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— Week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0992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procedural and object-oriented programming, and describe at least three concrete limitations of the procedural style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terms class, object, attribute, and method in your own words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958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50215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briefly describe the four core OOP principles we will build toward this semester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2569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398264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working Python 3.x + VS Code development environment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3218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29437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a Python script from both the terminal and VS Code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Review (15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0" y="15819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refresher on syntax we'll rely on all semester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Programming, Revisited (25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23591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and a case study showing where it strains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OOP (35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31363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classes, and a first look at the four pillars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OOP? (15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913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Modularity, reusability, maintainability, real-world modeling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(20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6908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VS Code, verified and ready for the lab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First Python Program (30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5468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practice, procedural exercises + reflection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Python Recap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used all of this in Introduction to Programming — let's warm up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50292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 &amp; types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"Ada"          # str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               # int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 = 3.75             # float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= True       # bool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print(f"{name} is {age} years old")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0A0F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801368"/>
            <a:ext cx="49834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conditionals &amp; loops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grade in [92, 68, 74]: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grade &gt;= 70: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print("Pass")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print("Fail")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972800" cy="2057400"/>
          </a:xfrm>
          <a:prstGeom prst="roundRect">
            <a:avLst>
              <a:gd name="adj" fmla="val 5333"/>
            </a:avLst>
          </a:prstGeom>
          <a:solidFill>
            <a:srgbClr val="141F3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today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9087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4608576"/>
            <a:ext cx="10104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OOP concept we introduce this semester builds on these exact fundamentals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7187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4989576"/>
            <a:ext cx="10104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contain functions (called methods) that use this same syntax internally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5287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5370576"/>
            <a:ext cx="10104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this feels shaky, flag it during the lab — we'll reinforce it before moving to classes next week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PROCEDURAL PROGRAMMING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Procedural Programming?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E3A6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paradigm where a program is built as a sequence of instructions and function (procedure) calls that operate on data — the data and the logic that acts on it are kept separate.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2834640"/>
          </a:xfrm>
          <a:prstGeom prst="roundRect">
            <a:avLst>
              <a:gd name="adj" fmla="val 3871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organized around a top-to-bottom flow of execution — main() calls functions in order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9369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311396"/>
            <a:ext cx="10104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typically stored in simple structures: variables, lists, dictionaries, tuples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7375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791456"/>
            <a:ext cx="10104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receive data as parameters and return results — they don't “belong” to the data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5381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5271516"/>
            <a:ext cx="10104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style used in your Introduction to Programming course, and it's a completely valid way to write small, linear programs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 Example, Line by Line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18488"/>
            <a:ext cx="5120640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 = "Ada"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student_grade = 92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print_report(name, grade):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{grade}")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letter_grade(grade):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grade &gt;= 90: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"AA"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"Other"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print_report(student_name, student_grade)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print(letter_grade(student_grade))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508760"/>
            <a:ext cx="5239512" cy="4572000"/>
          </a:xfrm>
          <a:prstGeom prst="roundRect">
            <a:avLst>
              <a:gd name="adj" fmla="val 2400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69164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here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219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2139696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student_name and student_grade are plain variables — nothing ties them together except that we, the programmer, remember to pass both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363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3054096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print_report() and letter_grade() are standalone functions — they could just as easily operate on a completely different student's data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5079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3968496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code stops you from calling letter_grade(student_name) by mistake — the data has no “self-knowledge” of what it represents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96519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720" y="4882896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fine for one student. Let's see what happens at scale.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Up: From 1 Student to 30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the program above into something closer to a real classroom, and watch where it starts to strain.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512064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("Ada", 92),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("Mert", 84),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("Elif", 58),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27 more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grade in students: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print_report(name, grade)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print(letter_grade(grade))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239512" cy="3200400"/>
          </a:xfrm>
          <a:prstGeom prst="roundRect">
            <a:avLst>
              <a:gd name="adj" fmla="val 3429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2860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Manageable... for now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1635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2734056"/>
            <a:ext cx="437083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keep (name, grade) paired, and a loop avoids copy-pasting the function calls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57835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3496056"/>
            <a:ext cx="437083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this only works because every student has exactly two pieces of data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3403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4258056"/>
            <a:ext cx="437083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we need more information per student, the tuple stops being enough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Requirement: Add Attendance Tracking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registrar's office now wants attendance rate tracked, with a hard rule: below 70% attendance is an automatic fail, regardless of grade.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51206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("Ada", 92, 0.95),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("Mert", 84, 0.65),   # fails on attendance!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("Elif", 58, 0.88),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passes(name, grade, attendance):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attendance &lt; 0.70: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grade &gt;= 60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5239512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3317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happened?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6207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2779776"/>
            <a:ext cx="437083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tuple in the list had to be updated to add the third field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5455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3572256"/>
            <a:ext cx="437083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that unpacks a student tuple (print_report, letter_grade, and now passes) needs its signature checked or rewritten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44703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4364736"/>
            <a:ext cx="437083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easy to unpack fields in the wrong order (name, attendance, grade) with no error — tuples don't enforce meaning, only position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Copy-Paste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course also needs to track Instructors and Teaching Assistants — two more “things” that also have names, and their own rules.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1828800"/>
          </a:xfrm>
          <a:prstGeom prst="roundRect">
            <a:avLst>
              <a:gd name="adj" fmla="val 4000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1054303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print_student_report(name, grade, attendance):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print_instructor_report(name, courses, office):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print_ta_report(name, hours, supervisor): ...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Three near-identical functions, three near-identical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shapes, and zero shared structure between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10908792" cy="1874520"/>
          </a:xfrm>
          <a:prstGeom prst="roundRect">
            <a:avLst>
              <a:gd name="adj" fmla="val 5854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434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to notice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7375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4791456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“kind of thing” in the system means another parallel set of tuples and functions — this is the copy-paste explosion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9379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5111496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place that represents “what a Student is” — that knowledge is scattered across every function that touches student data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1383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5431536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gap that a class is designed to close: one definition, in one place, for what a Student is and does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Pain Points of Procedural Code at Scale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08792" cy="804672"/>
          </a:xfrm>
          <a:prstGeom prst="roundRect">
            <a:avLst>
              <a:gd name="adj" fmla="val 11364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5564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276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binding between data and behavior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0" y="16276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passing the wrong tuple to the wrong function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487168"/>
            <a:ext cx="10908792" cy="804672"/>
          </a:xfrm>
          <a:prstGeom prst="roundRect">
            <a:avLst>
              <a:gd name="adj" fmla="val 11364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8833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60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position-based data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17920" y="2560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Tuples/lists rely on field order, not names — easy to shuffle by accident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419856"/>
            <a:ext cx="10908792" cy="804672"/>
          </a:xfrm>
          <a:prstGeom prst="roundRect">
            <a:avLst>
              <a:gd name="adj" fmla="val 11364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2102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4930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logic per entity type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17920" y="34930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Instructor, TA each need their own nearly-identical functions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352544"/>
            <a:ext cx="10908792" cy="804672"/>
          </a:xfrm>
          <a:prstGeom prst="roundRect">
            <a:avLst>
              <a:gd name="adj" fmla="val 11364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5371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4256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extend safely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217920" y="44256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one field means touching every function that unpacks that data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285232"/>
            <a:ext cx="10908792" cy="804672"/>
          </a:xfrm>
          <a:prstGeom prst="roundRect">
            <a:avLst>
              <a:gd name="adj" fmla="val 11364"/>
            </a:avLst>
          </a:prstGeom>
          <a:solidFill>
            <a:srgbClr val="141F3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8640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3583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place for validation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217920" y="535838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enforces that attendance stays between 0 and 1, for example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Better Way to Organize This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ties data and behavior together, in one place, per “kind of thing.”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OBJECT-ORIENTED PROGRAMMING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Object-Oriented Programming?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E3A6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paradigm that organizes software around objects — self-contained units that bundle together data (attributes) and the behavior that operates on that data (methods).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2834640"/>
          </a:xfrm>
          <a:prstGeom prst="roundRect">
            <a:avLst>
              <a:gd name="adj" fmla="val 3871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shift in thinking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Procedural: “What sequence of steps solves this problem?”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537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47141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Object-oriented: “What kinds of things exist in this problem, and what do they know and do?”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9379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11149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object doesn't just hold a name and grade — it can carry a method like calculate_gpa() that belongs to it directly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Object = State + Behavior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(Attributes)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 object holds — its current values, at this moment in time.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914400" y="315468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0A0F1C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264408"/>
            <a:ext cx="4434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self.name = "Ada"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self.grade = 92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self.attendance = 0.95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nouns — the things you'd list if describing a student on paper.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9632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(Methods)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73952" y="24688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an object can perform — usually using or changing its own state.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73952" y="315468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0A0F1C"/>
          </a:solidFill>
          <a:ln/>
        </p:spPr>
      </p:sp>
      <p:sp>
        <p:nvSpPr>
          <p:cNvPr id="15" name="Text 11"/>
          <p:cNvSpPr/>
          <p:nvPr/>
        </p:nvSpPr>
        <p:spPr>
          <a:xfrm>
            <a:off x="6656832" y="3264408"/>
            <a:ext cx="4434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is_passing(self):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self.attendance &lt; 0.70: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self.grade &gt;= 60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73952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verbs — the things a student can do, or that can be done to them.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A Car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touch Python syntax, let's build the intuition in plain language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2148840"/>
          </a:xfrm>
          <a:prstGeom prst="roundRect">
            <a:avLst>
              <a:gd name="adj" fmla="val 5106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— what a car has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10104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brand, model, current speed, fuel level, number of doors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2209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939796"/>
            <a:ext cx="10104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can be different for every car, even cars of the same model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10972800" cy="2148840"/>
          </a:xfrm>
          <a:prstGeom prst="roundRect">
            <a:avLst>
              <a:gd name="adj" fmla="val 5106"/>
            </a:avLst>
          </a:prstGeom>
          <a:solidFill>
            <a:srgbClr val="141F33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— what a car can do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908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608576"/>
            <a:ext cx="10104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accelerate(), brake(), refuel(), honk_horn()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0809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5225796"/>
            <a:ext cx="10104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actions typically read or change the car's own attributes — braking changes speed, refueling changes fuel level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Analogy to Code: The Blueprint Concept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E3A6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defines what attributes and methods every car will have — but it isn't a car itself. Nobody can drive a blueprint.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factory that designs a car model once, then manufactures many individual cars from that one design.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99632" y="164592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41F3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68312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an Instance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73952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car built from the blueprint — with its own color, its own current fuel level.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73952" y="3291840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0A0F1C"/>
          </a:solidFill>
          <a:ln/>
        </p:spPr>
      </p:sp>
      <p:sp>
        <p:nvSpPr>
          <p:cNvPr id="13" name="Text 9"/>
          <p:cNvSpPr/>
          <p:nvPr/>
        </p:nvSpPr>
        <p:spPr>
          <a:xfrm>
            <a:off x="6656832" y="3401568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next week's syntax, previewed: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my_car = Car("red", "Toyota")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your_car = Car("blue", "Fiat")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my_car.accelerate()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vs. Object — Don't Confuse the Two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0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/ template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063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instance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many times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92)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analogy: “Class” is to “Cookie cutter” as “Object” is to “Cookie.” One cutter, many cookies — each can have its own icing (state).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Class, Many Objects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has the same structure, but its own independent state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194560" y="2606040"/>
            <a:ext cx="0" cy="777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200400" y="30175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object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= 92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606040"/>
            <a:ext cx="0" cy="1920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0" y="41605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 object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= 84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606040"/>
            <a:ext cx="0" cy="3063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00400" y="53035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object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5760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= 58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1691640"/>
            <a:ext cx="3867912" cy="4160520"/>
          </a:xfrm>
          <a:prstGeom prst="roundRect">
            <a:avLst>
              <a:gd name="adj" fmla="val 2837"/>
            </a:avLst>
          </a:prstGeom>
          <a:solidFill>
            <a:srgbClr val="14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18745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404872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75320" y="2322576"/>
            <a:ext cx="2999232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the same attributes (name, grade) and methods, because they all come from the Student class</a:t>
            </a:r>
            <a:endParaRPr lang="en-US" sz="12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486912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275320" y="3404616"/>
            <a:ext cx="2999232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each object's values are independent — changing Ada's grade does not affect Mert's</a:t>
            </a:r>
            <a:endParaRPr lang="en-US" sz="12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568952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75320" y="4486656"/>
            <a:ext cx="2999232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tuples could not guarantee for us in Part 1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of 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dedicate a full week to each — today is a first preview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3A6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1F33"/>
          </a:solidFill>
          <a:ln/>
        </p:spPr>
      </p:sp>
      <p:sp>
        <p:nvSpPr>
          <p:cNvPr id="10" name="Shape 7"/>
          <p:cNvSpPr/>
          <p:nvPr/>
        </p:nvSpPr>
        <p:spPr>
          <a:xfrm>
            <a:off x="3703320" y="201168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0332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1F33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1671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9224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06840" y="17373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1F33"/>
          </a:solidFill>
          <a:ln/>
        </p:spPr>
      </p:sp>
      <p:sp>
        <p:nvSpPr>
          <p:cNvPr id="20" name="Shape 15"/>
          <p:cNvSpPr/>
          <p:nvPr/>
        </p:nvSpPr>
        <p:spPr>
          <a:xfrm>
            <a:off x="9281160" y="201168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21671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8116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solves a specific problem we ran into in Part 1's case study — we'll connect the dots explicitly each week.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PREVIEW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8686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134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23113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and the methods that operate on it inside one object, and controlling access to that data from the outside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925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7695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attendance from being set to 1.5, or a grade from being set to "banana", by validating changes through methods instead of direct access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0507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92277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solves Pain Point 5 from Part 1: “no natural place for validation”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5089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76859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in Week 4, including Python's public / protected / private conventions and the @property decorator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PREVIEW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8686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134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23113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class can be built on top of an existing one, automatically getting its attributes and methods, then adding or overriding only what's different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925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7695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GraduateStudent class could inherit everything from Student and add a thesis_title attribute — without rewriting name, grade, or is_passing()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0507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92277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solves Pain Point 3 from Part 1: “duplicated logic per entity type”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5089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76859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in Week 5, including the super() function and building class hierarchies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PREVIEW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8686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134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23113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classes can implement the same method name in their own way, and calling code doesn't need to know which exact class it's dealing with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925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7695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print_report() could work identically whether called on a Student, Instructor, or TA object, each printing itself appropriately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0507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92277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need for the copy-pasted print_student_report / print_instructor_report / print_ta_report functions from Part 1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5089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76859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in Week 6, through method overriding and Python's duck typing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PREVIEW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8686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134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23113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only what a user of a class needs to know, and hiding the implementation details behind a simple interface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925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7695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my_car.accelerate() without needing to know how the engine actually manages fuel injection internally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0507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92277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large systems easier to reason about — you interact with a small, well-defined surface, not the full complexity underneath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5089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76859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in Week 7, using Python's abc module to define abstract classes and required methods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vs. Object-Oriented — Side by Side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671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unit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167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operating on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21671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bundling data + behavior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2880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2880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together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935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935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5935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per entity type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0" y="3593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and extend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0682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430682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easy to forget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0" y="43068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inside the object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0200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F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200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new features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0" y="50200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many functions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0" y="502005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touches one class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Object-Oriented Programming? (1/2)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E3A6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systems get broken into self-contained units. Each class can be understood, tested, and debugged largely on its own, without holding the entire program in your head at once.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99632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74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68312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73952" y="2468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inheritance, new classes can build on existing ones instead of starting from scratch. A well-designed Student class becomes the foundation for GraduateStudent, ExchangeStudent, and more.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Object-Oriented Programming? (2/2)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bug in how attendance is validated means editing the Student class in one place — every part of the program that uses a Student object gets the fix automatically.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99632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E3A6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74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68312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Modeling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73952" y="24688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map naturally onto the entities we're already thinking about: Student, Course, Instructor, BankAccount, Vehicle. Code structure ends up mirroring the problem domain, which makes it easier to discuss and design.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 an Object-Oriented Language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facts worth knowing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32257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Python is technically an object already — even an int or a str has methods, like "hello".upper()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5069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16839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supports OOP but doesn't force it — you can mix procedural functions and classes freely, and we'll do exactly that this semester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401421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defined with the class keyword, and every instance method's first parameter is conventionally named self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4233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86003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 not enforce strict access control the way some languages do — encapsulation in Python relies on naming conventions (Week 4) more than hard restrictions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ENVIRONMENT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Python 3.x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python.org/downloads and download the latest Python 3.x installer for your OS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2783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14553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during setup, check “Add python.exe to PATH” — this is the single most common setup mistake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96849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consider installing via python.org directly, or Homebrew (brew install python3) if you already use it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7375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79145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most distributions ship Python 3 already — confirm the version is 3.10 or newer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ENVIRONMENT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Install VS Code &amp; the Python Extension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VS Code from code.visualstudio.com — it's free and works the same on Windows, macOS, and Linux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2783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14553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Extensions panel (Ctrl+Shift+X / Cmd+Shift+X) and install “Python” by Microsoft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96849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extension adds IntelliSense (autocomplete), linting (error highlighting), and a built-in debugger — all of which we'll use starting next week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7375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791456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but recommended: install the “Jupyter” extension too, since our weekly lab notebooks run inside VS Code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ENVIRONMENT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Verify Everything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512064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3.12.4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print("Hello, OOP!")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OOP!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exit()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239512" cy="2743200"/>
          </a:xfrm>
          <a:prstGeom prst="roundRect">
            <a:avLst>
              <a:gd name="adj" fmla="val 40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74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something's wrong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048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2322576"/>
            <a:ext cx="437083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“command not found” usually means PATH wasn't set — reinstall and check the PATH option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1447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2932176"/>
            <a:ext cx="437083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Python versions installed? Try python3 --version instead of python --version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24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3541776"/>
            <a:ext cx="437083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during the lab — we'll fix environments before moving 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466344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E3A6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920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8006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python --version prints 3.x and the print() statement runs without errors, your environment is ready for the lab.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6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Your First Python Program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8658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240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verify Python 3.x and VS Code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9260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7238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.py file and run it from the terminal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36118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5818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script using variables, input(), and print()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42976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439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procedural review exercises (Jupyter notebook)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40080" y="49834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2978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one review exercise using a function instead of inline code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code separates data and functions; at scale, this creates duplicated logic, fragile data structures, and no natural home for validation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42616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877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bundles state (attributes) and behavior (methods) into objects, modeled after real-world things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38728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8386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an object is one instance built from that blueprint, with its own independent state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379976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— encapsulation, inheritance, polymorphism, abstraction — each solve a specific pain point we identified today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30952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27608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+ VS Code environment is the foundation for every lab this semester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Classes and Objects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classes with the class keyword and the __init__() constructor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self and how objects come into existence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rebuild today's Student example as an actual class — and compare it directly to Part 1's procedural version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0292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Student, Book, and Product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E3A6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1 lab notebook, and be ready to see it rebuilt as a class next week.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3392</Words>
  <Application>Microsoft Office PowerPoint</Application>
  <PresentationFormat>Geniş ekran</PresentationFormat>
  <Paragraphs>467</Paragraphs>
  <Slides>34</Slides>
  <Notes>34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Kağan OKATAN</cp:lastModifiedBy>
  <cp:revision>2</cp:revision>
  <dcterms:created xsi:type="dcterms:W3CDTF">2026-08-16T06:57:57Z</dcterms:created>
  <dcterms:modified xsi:type="dcterms:W3CDTF">2026-08-16T07:16:10Z</dcterms:modified>
</cp:coreProperties>
</file>