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03920" y="-2286000"/>
            <a:ext cx="6400800" cy="6400800"/>
          </a:xfrm>
          <a:prstGeom prst="ellipse">
            <a:avLst/>
          </a:prstGeom>
          <a:solidFill>
            <a:srgbClr val="3D3308">
              <a:alpha val="60000"/>
            </a:srgbClr>
          </a:solidFill>
          <a:ln/>
        </p:spPr>
      </p:sp>
      <p:sp>
        <p:nvSpPr>
          <p:cNvPr id="3" name="Shape 1"/>
          <p:cNvSpPr/>
          <p:nvPr/>
        </p:nvSpPr>
        <p:spPr>
          <a:xfrm>
            <a:off x="10241280" y="4114800"/>
            <a:ext cx="3657600" cy="3657600"/>
          </a:xfrm>
          <a:prstGeom prst="ellipse">
            <a:avLst/>
          </a:prstGeom>
          <a:solidFill>
            <a:srgbClr val="3D3308">
              <a:alpha val="45000"/>
            </a:srgbClr>
          </a:solidFill>
          <a:ln/>
        </p:spPr>
      </p:sp>
      <p:sp>
        <p:nvSpPr>
          <p:cNvPr id="4" name="Text 2"/>
          <p:cNvSpPr/>
          <p:nvPr/>
        </p:nvSpPr>
        <p:spPr>
          <a:xfrm>
            <a:off x="731520" y="1371600"/>
            <a:ext cx="7315200" cy="457200"/>
          </a:xfrm>
          <a:prstGeom prst="rect">
            <a:avLst/>
          </a:prstGeom>
          <a:noFill/>
          <a:ln/>
        </p:spPr>
        <p:txBody>
          <a:bodyPr wrap="square" lIns="0" tIns="0" rIns="0" bIns="0" rtlCol="0" anchor="ctr"/>
          <a:lstStyle/>
          <a:p>
            <a:pPr indent="0" marL="0">
              <a:buNone/>
            </a:pPr>
            <a:r>
              <a:rPr lang="en-US" sz="1600" b="1" spc="300" kern="0" dirty="0">
                <a:solidFill>
                  <a:srgbClr val="EAB308"/>
                </a:solidFill>
                <a:latin typeface="Calibri" pitchFamily="34" charset="0"/>
                <a:ea typeface="Calibri" pitchFamily="34" charset="-122"/>
                <a:cs typeface="Calibri" pitchFamily="34" charset="-120"/>
              </a:rPr>
              <a:t>WEEK 8</a:t>
            </a:r>
            <a:endParaRPr lang="en-US" sz="1600" dirty="0"/>
          </a:p>
        </p:txBody>
      </p:sp>
      <p:sp>
        <p:nvSpPr>
          <p:cNvPr id="5" name="Text 3"/>
          <p:cNvSpPr/>
          <p:nvPr/>
        </p:nvSpPr>
        <p:spPr>
          <a:xfrm>
            <a:off x="731520" y="1828800"/>
            <a:ext cx="9875520" cy="1280160"/>
          </a:xfrm>
          <a:prstGeom prst="rect">
            <a:avLst/>
          </a:prstGeom>
          <a:noFill/>
          <a:ln/>
        </p:spPr>
        <p:txBody>
          <a:bodyPr wrap="square" lIns="0" tIns="0" rIns="0" bIns="0" rtlCol="0" anchor="ctr"/>
          <a:lstStyle/>
          <a:p>
            <a:pPr indent="0" marL="0">
              <a:lnSpc>
                <a:spcPct val="105000"/>
              </a:lnSpc>
              <a:buNone/>
            </a:pPr>
            <a:r>
              <a:rPr lang="en-US" sz="4200" b="1" dirty="0">
                <a:solidFill>
                  <a:srgbClr val="F1F5F9"/>
                </a:solidFill>
                <a:latin typeface="Calibri" pitchFamily="34" charset="0"/>
                <a:ea typeface="Calibri" pitchFamily="34" charset="-122"/>
                <a:cs typeface="Calibri" pitchFamily="34" charset="-120"/>
              </a:rPr>
              <a:t>Midterm Review</a:t>
            </a:r>
            <a:endParaRPr lang="en-US" sz="4200" dirty="0"/>
          </a:p>
        </p:txBody>
      </p:sp>
      <p:sp>
        <p:nvSpPr>
          <p:cNvPr id="6" name="Text 4"/>
          <p:cNvSpPr/>
          <p:nvPr/>
        </p:nvSpPr>
        <p:spPr>
          <a:xfrm>
            <a:off x="731520" y="3108960"/>
            <a:ext cx="8229600" cy="457200"/>
          </a:xfrm>
          <a:prstGeom prst="rect">
            <a:avLst/>
          </a:prstGeom>
          <a:noFill/>
          <a:ln/>
        </p:spPr>
        <p:txBody>
          <a:bodyPr wrap="square" lIns="0" tIns="0" rIns="0" bIns="0" rtlCol="0" anchor="ctr"/>
          <a:lstStyle/>
          <a:p>
            <a:pPr indent="0" marL="0">
              <a:buNone/>
            </a:pPr>
            <a:r>
              <a:rPr lang="en-US" sz="1700" dirty="0">
                <a:solidFill>
                  <a:srgbClr val="94A3B8"/>
                </a:solidFill>
                <a:latin typeface="Calibri" pitchFamily="34" charset="0"/>
                <a:ea typeface="Calibri" pitchFamily="34" charset="-122"/>
                <a:cs typeface="Calibri" pitchFamily="34" charset="-120"/>
              </a:rPr>
              <a:t>Consolidating Weeks 1–7 — Python 3.x</a:t>
            </a:r>
            <a:endParaRPr lang="en-US" sz="1700" dirty="0"/>
          </a:p>
        </p:txBody>
      </p:sp>
      <p:sp>
        <p:nvSpPr>
          <p:cNvPr id="7" name="Shape 5"/>
          <p:cNvSpPr/>
          <p:nvPr/>
        </p:nvSpPr>
        <p:spPr>
          <a:xfrm>
            <a:off x="731520" y="3749040"/>
            <a:ext cx="2011680" cy="0"/>
          </a:xfrm>
          <a:prstGeom prst="line">
            <a:avLst/>
          </a:prstGeom>
          <a:noFill/>
          <a:ln w="31750">
            <a:solidFill>
              <a:srgbClr val="EAB308"/>
            </a:solidFill>
            <a:prstDash val="solid"/>
          </a:ln>
        </p:spPr>
      </p:sp>
      <p:sp>
        <p:nvSpPr>
          <p:cNvPr id="8" name="Text 6"/>
          <p:cNvSpPr/>
          <p:nvPr/>
        </p:nvSpPr>
        <p:spPr>
          <a:xfrm>
            <a:off x="731520" y="5943600"/>
            <a:ext cx="731520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UYG203  ·  Object Oriented Programming  ·  Software Development</a:t>
            </a:r>
            <a:endParaRPr lang="en-US" sz="1200" dirty="0"/>
          </a:p>
        </p:txBody>
      </p:sp>
      <p:sp>
        <p:nvSpPr>
          <p:cNvPr id="9"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0"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14-Week Roadmap</a:t>
            </a:r>
            <a:endParaRPr lang="en-US" sz="2600" dirty="0"/>
          </a:p>
        </p:txBody>
      </p:sp>
      <p:sp>
        <p:nvSpPr>
          <p:cNvPr id="3" name="Text 1"/>
          <p:cNvSpPr/>
          <p:nvPr/>
        </p:nvSpPr>
        <p:spPr>
          <a:xfrm>
            <a:off x="640080" y="1051560"/>
            <a:ext cx="10881360" cy="45720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Where today's session fits into the semester</a:t>
            </a:r>
            <a:endParaRPr lang="en-US" sz="1350" dirty="0"/>
          </a:p>
        </p:txBody>
      </p:sp>
      <p:sp>
        <p:nvSpPr>
          <p:cNvPr id="4" name="Shape 2"/>
          <p:cNvSpPr/>
          <p:nvPr/>
        </p:nvSpPr>
        <p:spPr>
          <a:xfrm>
            <a:off x="640080" y="1691640"/>
            <a:ext cx="1536192" cy="1051560"/>
          </a:xfrm>
          <a:prstGeom prst="roundRect">
            <a:avLst>
              <a:gd name="adj" fmla="val 8696"/>
            </a:avLst>
          </a:prstGeom>
          <a:solidFill>
            <a:srgbClr val="1B2A45"/>
          </a:solidFill>
          <a:ln/>
        </p:spPr>
      </p:sp>
      <p:sp>
        <p:nvSpPr>
          <p:cNvPr id="5" name="Text 3"/>
          <p:cNvSpPr/>
          <p:nvPr/>
        </p:nvSpPr>
        <p:spPr>
          <a:xfrm>
            <a:off x="731520"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W1</a:t>
            </a:r>
            <a:endParaRPr lang="en-US" sz="1100" dirty="0"/>
          </a:p>
        </p:txBody>
      </p:sp>
      <p:sp>
        <p:nvSpPr>
          <p:cNvPr id="6" name="Text 4"/>
          <p:cNvSpPr/>
          <p:nvPr/>
        </p:nvSpPr>
        <p:spPr>
          <a:xfrm>
            <a:off x="731520"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Intro to OOP</a:t>
            </a:r>
            <a:endParaRPr lang="en-US" sz="1050" dirty="0"/>
          </a:p>
        </p:txBody>
      </p:sp>
      <p:sp>
        <p:nvSpPr>
          <p:cNvPr id="7" name="Shape 5"/>
          <p:cNvSpPr/>
          <p:nvPr/>
        </p:nvSpPr>
        <p:spPr>
          <a:xfrm>
            <a:off x="2304288" y="1691640"/>
            <a:ext cx="1536192" cy="1051560"/>
          </a:xfrm>
          <a:prstGeom prst="roundRect">
            <a:avLst>
              <a:gd name="adj" fmla="val 8696"/>
            </a:avLst>
          </a:prstGeom>
          <a:solidFill>
            <a:srgbClr val="1B2A45"/>
          </a:solidFill>
          <a:ln/>
        </p:spPr>
      </p:sp>
      <p:sp>
        <p:nvSpPr>
          <p:cNvPr id="8" name="Text 6"/>
          <p:cNvSpPr/>
          <p:nvPr/>
        </p:nvSpPr>
        <p:spPr>
          <a:xfrm>
            <a:off x="2395728"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W2</a:t>
            </a:r>
            <a:endParaRPr lang="en-US" sz="1100" dirty="0"/>
          </a:p>
        </p:txBody>
      </p:sp>
      <p:sp>
        <p:nvSpPr>
          <p:cNvPr id="9" name="Text 7"/>
          <p:cNvSpPr/>
          <p:nvPr/>
        </p:nvSpPr>
        <p:spPr>
          <a:xfrm>
            <a:off x="2395728"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Classes &amp; Objects</a:t>
            </a:r>
            <a:endParaRPr lang="en-US" sz="1050" dirty="0"/>
          </a:p>
        </p:txBody>
      </p:sp>
      <p:sp>
        <p:nvSpPr>
          <p:cNvPr id="10" name="Shape 8"/>
          <p:cNvSpPr/>
          <p:nvPr/>
        </p:nvSpPr>
        <p:spPr>
          <a:xfrm>
            <a:off x="3968496" y="1691640"/>
            <a:ext cx="1536192" cy="1051560"/>
          </a:xfrm>
          <a:prstGeom prst="roundRect">
            <a:avLst>
              <a:gd name="adj" fmla="val 8696"/>
            </a:avLst>
          </a:prstGeom>
          <a:solidFill>
            <a:srgbClr val="1B2A45"/>
          </a:solidFill>
          <a:ln/>
        </p:spPr>
      </p:sp>
      <p:sp>
        <p:nvSpPr>
          <p:cNvPr id="11" name="Text 9"/>
          <p:cNvSpPr/>
          <p:nvPr/>
        </p:nvSpPr>
        <p:spPr>
          <a:xfrm>
            <a:off x="4059936"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W3</a:t>
            </a:r>
            <a:endParaRPr lang="en-US" sz="1100" dirty="0"/>
          </a:p>
        </p:txBody>
      </p:sp>
      <p:sp>
        <p:nvSpPr>
          <p:cNvPr id="12" name="Text 10"/>
          <p:cNvSpPr/>
          <p:nvPr/>
        </p:nvSpPr>
        <p:spPr>
          <a:xfrm>
            <a:off x="4059936"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Attributes &amp; Methods</a:t>
            </a:r>
            <a:endParaRPr lang="en-US" sz="1050" dirty="0"/>
          </a:p>
        </p:txBody>
      </p:sp>
      <p:sp>
        <p:nvSpPr>
          <p:cNvPr id="13" name="Shape 11"/>
          <p:cNvSpPr/>
          <p:nvPr/>
        </p:nvSpPr>
        <p:spPr>
          <a:xfrm>
            <a:off x="5632704" y="1691640"/>
            <a:ext cx="1536192" cy="1051560"/>
          </a:xfrm>
          <a:prstGeom prst="roundRect">
            <a:avLst>
              <a:gd name="adj" fmla="val 8696"/>
            </a:avLst>
          </a:prstGeom>
          <a:solidFill>
            <a:srgbClr val="1B2A45"/>
          </a:solidFill>
          <a:ln/>
        </p:spPr>
      </p:sp>
      <p:sp>
        <p:nvSpPr>
          <p:cNvPr id="14" name="Text 12"/>
          <p:cNvSpPr/>
          <p:nvPr/>
        </p:nvSpPr>
        <p:spPr>
          <a:xfrm>
            <a:off x="5724144"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W4</a:t>
            </a:r>
            <a:endParaRPr lang="en-US" sz="1100" dirty="0"/>
          </a:p>
        </p:txBody>
      </p:sp>
      <p:sp>
        <p:nvSpPr>
          <p:cNvPr id="15" name="Text 13"/>
          <p:cNvSpPr/>
          <p:nvPr/>
        </p:nvSpPr>
        <p:spPr>
          <a:xfrm>
            <a:off x="5724144"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Encapsulation</a:t>
            </a:r>
            <a:endParaRPr lang="en-US" sz="1050" dirty="0"/>
          </a:p>
        </p:txBody>
      </p:sp>
      <p:sp>
        <p:nvSpPr>
          <p:cNvPr id="16" name="Shape 14"/>
          <p:cNvSpPr/>
          <p:nvPr/>
        </p:nvSpPr>
        <p:spPr>
          <a:xfrm>
            <a:off x="7296912" y="1691640"/>
            <a:ext cx="1536192" cy="1051560"/>
          </a:xfrm>
          <a:prstGeom prst="roundRect">
            <a:avLst>
              <a:gd name="adj" fmla="val 8696"/>
            </a:avLst>
          </a:prstGeom>
          <a:solidFill>
            <a:srgbClr val="1B2A45"/>
          </a:solidFill>
          <a:ln/>
        </p:spPr>
      </p:sp>
      <p:sp>
        <p:nvSpPr>
          <p:cNvPr id="17" name="Text 15"/>
          <p:cNvSpPr/>
          <p:nvPr/>
        </p:nvSpPr>
        <p:spPr>
          <a:xfrm>
            <a:off x="7388352"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W5</a:t>
            </a:r>
            <a:endParaRPr lang="en-US" sz="1100" dirty="0"/>
          </a:p>
        </p:txBody>
      </p:sp>
      <p:sp>
        <p:nvSpPr>
          <p:cNvPr id="18" name="Text 16"/>
          <p:cNvSpPr/>
          <p:nvPr/>
        </p:nvSpPr>
        <p:spPr>
          <a:xfrm>
            <a:off x="7388352"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Inheritance</a:t>
            </a:r>
            <a:endParaRPr lang="en-US" sz="1050" dirty="0"/>
          </a:p>
        </p:txBody>
      </p:sp>
      <p:sp>
        <p:nvSpPr>
          <p:cNvPr id="19" name="Shape 17"/>
          <p:cNvSpPr/>
          <p:nvPr/>
        </p:nvSpPr>
        <p:spPr>
          <a:xfrm>
            <a:off x="8961120" y="1691640"/>
            <a:ext cx="1536192" cy="1051560"/>
          </a:xfrm>
          <a:prstGeom prst="roundRect">
            <a:avLst>
              <a:gd name="adj" fmla="val 8696"/>
            </a:avLst>
          </a:prstGeom>
          <a:solidFill>
            <a:srgbClr val="1B2A45"/>
          </a:solidFill>
          <a:ln/>
        </p:spPr>
      </p:sp>
      <p:sp>
        <p:nvSpPr>
          <p:cNvPr id="20" name="Text 18"/>
          <p:cNvSpPr/>
          <p:nvPr/>
        </p:nvSpPr>
        <p:spPr>
          <a:xfrm>
            <a:off x="9052560"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W6</a:t>
            </a:r>
            <a:endParaRPr lang="en-US" sz="1100" dirty="0"/>
          </a:p>
        </p:txBody>
      </p:sp>
      <p:sp>
        <p:nvSpPr>
          <p:cNvPr id="21" name="Text 19"/>
          <p:cNvSpPr/>
          <p:nvPr/>
        </p:nvSpPr>
        <p:spPr>
          <a:xfrm>
            <a:off x="9052560"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Polymorphism</a:t>
            </a:r>
            <a:endParaRPr lang="en-US" sz="1050" dirty="0"/>
          </a:p>
        </p:txBody>
      </p:sp>
      <p:sp>
        <p:nvSpPr>
          <p:cNvPr id="22" name="Shape 20"/>
          <p:cNvSpPr/>
          <p:nvPr/>
        </p:nvSpPr>
        <p:spPr>
          <a:xfrm>
            <a:off x="10625328" y="1691640"/>
            <a:ext cx="1536192" cy="1051560"/>
          </a:xfrm>
          <a:prstGeom prst="roundRect">
            <a:avLst>
              <a:gd name="adj" fmla="val 8696"/>
            </a:avLst>
          </a:prstGeom>
          <a:solidFill>
            <a:srgbClr val="1B2A45"/>
          </a:solidFill>
          <a:ln/>
        </p:spPr>
      </p:sp>
      <p:sp>
        <p:nvSpPr>
          <p:cNvPr id="23" name="Text 21"/>
          <p:cNvSpPr/>
          <p:nvPr/>
        </p:nvSpPr>
        <p:spPr>
          <a:xfrm>
            <a:off x="10716768" y="1783080"/>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W7</a:t>
            </a:r>
            <a:endParaRPr lang="en-US" sz="1100" dirty="0"/>
          </a:p>
        </p:txBody>
      </p:sp>
      <p:sp>
        <p:nvSpPr>
          <p:cNvPr id="24" name="Text 22"/>
          <p:cNvSpPr/>
          <p:nvPr/>
        </p:nvSpPr>
        <p:spPr>
          <a:xfrm>
            <a:off x="10716768" y="2075688"/>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Abstraction</a:t>
            </a:r>
            <a:endParaRPr lang="en-US" sz="1050" dirty="0"/>
          </a:p>
        </p:txBody>
      </p:sp>
      <p:sp>
        <p:nvSpPr>
          <p:cNvPr id="25" name="Shape 23"/>
          <p:cNvSpPr/>
          <p:nvPr/>
        </p:nvSpPr>
        <p:spPr>
          <a:xfrm>
            <a:off x="640080" y="2907792"/>
            <a:ext cx="1536192" cy="1051560"/>
          </a:xfrm>
          <a:prstGeom prst="roundRect">
            <a:avLst>
              <a:gd name="adj" fmla="val 8696"/>
            </a:avLst>
          </a:prstGeom>
          <a:solidFill>
            <a:srgbClr val="EAB308"/>
          </a:solidFill>
          <a:ln/>
        </p:spPr>
      </p:sp>
      <p:sp>
        <p:nvSpPr>
          <p:cNvPr id="26" name="Text 24"/>
          <p:cNvSpPr/>
          <p:nvPr/>
        </p:nvSpPr>
        <p:spPr>
          <a:xfrm>
            <a:off x="731520" y="2999232"/>
            <a:ext cx="1353312" cy="274320"/>
          </a:xfrm>
          <a:prstGeom prst="rect">
            <a:avLst/>
          </a:prstGeom>
          <a:noFill/>
          <a:ln/>
        </p:spPr>
        <p:txBody>
          <a:bodyPr wrap="square" lIns="0" tIns="0" rIns="0" bIns="0" rtlCol="0" anchor="ctr"/>
          <a:lstStyle/>
          <a:p>
            <a:pPr indent="0" marL="0">
              <a:buNone/>
            </a:pPr>
            <a:r>
              <a:rPr lang="en-US" sz="1100" b="1" dirty="0">
                <a:solidFill>
                  <a:srgbClr val="0B1220"/>
                </a:solidFill>
                <a:latin typeface="Calibri" pitchFamily="34" charset="0"/>
                <a:ea typeface="Calibri" pitchFamily="34" charset="-122"/>
                <a:cs typeface="Calibri" pitchFamily="34" charset="-120"/>
              </a:rPr>
              <a:t>W8</a:t>
            </a:r>
            <a:endParaRPr lang="en-US" sz="1100" dirty="0"/>
          </a:p>
        </p:txBody>
      </p:sp>
      <p:sp>
        <p:nvSpPr>
          <p:cNvPr id="27" name="Text 25"/>
          <p:cNvSpPr/>
          <p:nvPr/>
        </p:nvSpPr>
        <p:spPr>
          <a:xfrm>
            <a:off x="731520" y="3291840"/>
            <a:ext cx="1353312" cy="594360"/>
          </a:xfrm>
          <a:prstGeom prst="rect">
            <a:avLst/>
          </a:prstGeom>
          <a:noFill/>
          <a:ln/>
        </p:spPr>
        <p:txBody>
          <a:bodyPr wrap="square" lIns="0" tIns="0" rIns="0" bIns="0" rtlCol="0" anchor="t"/>
          <a:lstStyle/>
          <a:p>
            <a:pPr indent="0" marL="0">
              <a:buNone/>
            </a:pPr>
            <a:r>
              <a:rPr lang="en-US" sz="1050" dirty="0">
                <a:solidFill>
                  <a:srgbClr val="0B1220"/>
                </a:solidFill>
                <a:latin typeface="Calibri" pitchFamily="34" charset="0"/>
                <a:ea typeface="Calibri" pitchFamily="34" charset="-122"/>
                <a:cs typeface="Calibri" pitchFamily="34" charset="-120"/>
              </a:rPr>
              <a:t>Midterm</a:t>
            </a:r>
            <a:endParaRPr lang="en-US" sz="1050" dirty="0"/>
          </a:p>
        </p:txBody>
      </p:sp>
      <p:sp>
        <p:nvSpPr>
          <p:cNvPr id="28" name="Shape 26"/>
          <p:cNvSpPr/>
          <p:nvPr/>
        </p:nvSpPr>
        <p:spPr>
          <a:xfrm>
            <a:off x="2304288" y="2907792"/>
            <a:ext cx="1536192" cy="1051560"/>
          </a:xfrm>
          <a:prstGeom prst="roundRect">
            <a:avLst>
              <a:gd name="adj" fmla="val 8696"/>
            </a:avLst>
          </a:prstGeom>
          <a:solidFill>
            <a:srgbClr val="141F33"/>
          </a:solidFill>
          <a:ln/>
        </p:spPr>
      </p:sp>
      <p:sp>
        <p:nvSpPr>
          <p:cNvPr id="29" name="Text 27"/>
          <p:cNvSpPr/>
          <p:nvPr/>
        </p:nvSpPr>
        <p:spPr>
          <a:xfrm>
            <a:off x="2395728" y="2999232"/>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W9</a:t>
            </a:r>
            <a:endParaRPr lang="en-US" sz="1100" dirty="0"/>
          </a:p>
        </p:txBody>
      </p:sp>
      <p:sp>
        <p:nvSpPr>
          <p:cNvPr id="30" name="Text 28"/>
          <p:cNvSpPr/>
          <p:nvPr/>
        </p:nvSpPr>
        <p:spPr>
          <a:xfrm>
            <a:off x="2395728"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Composition</a:t>
            </a:r>
            <a:endParaRPr lang="en-US" sz="1050" dirty="0"/>
          </a:p>
        </p:txBody>
      </p:sp>
      <p:sp>
        <p:nvSpPr>
          <p:cNvPr id="31" name="Shape 29"/>
          <p:cNvSpPr/>
          <p:nvPr/>
        </p:nvSpPr>
        <p:spPr>
          <a:xfrm>
            <a:off x="3968496" y="2907792"/>
            <a:ext cx="1536192" cy="1051560"/>
          </a:xfrm>
          <a:prstGeom prst="roundRect">
            <a:avLst>
              <a:gd name="adj" fmla="val 8696"/>
            </a:avLst>
          </a:prstGeom>
          <a:solidFill>
            <a:srgbClr val="141F33"/>
          </a:solidFill>
          <a:ln/>
        </p:spPr>
      </p:sp>
      <p:sp>
        <p:nvSpPr>
          <p:cNvPr id="32" name="Text 30"/>
          <p:cNvSpPr/>
          <p:nvPr/>
        </p:nvSpPr>
        <p:spPr>
          <a:xfrm>
            <a:off x="4059936" y="2999232"/>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W10</a:t>
            </a:r>
            <a:endParaRPr lang="en-US" sz="1100" dirty="0"/>
          </a:p>
        </p:txBody>
      </p:sp>
      <p:sp>
        <p:nvSpPr>
          <p:cNvPr id="33" name="Text 31"/>
          <p:cNvSpPr/>
          <p:nvPr/>
        </p:nvSpPr>
        <p:spPr>
          <a:xfrm>
            <a:off x="4059936"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Exceptions</a:t>
            </a:r>
            <a:endParaRPr lang="en-US" sz="1050" dirty="0"/>
          </a:p>
        </p:txBody>
      </p:sp>
      <p:sp>
        <p:nvSpPr>
          <p:cNvPr id="34" name="Shape 32"/>
          <p:cNvSpPr/>
          <p:nvPr/>
        </p:nvSpPr>
        <p:spPr>
          <a:xfrm>
            <a:off x="5632704" y="2907792"/>
            <a:ext cx="1536192" cy="1051560"/>
          </a:xfrm>
          <a:prstGeom prst="roundRect">
            <a:avLst>
              <a:gd name="adj" fmla="val 8696"/>
            </a:avLst>
          </a:prstGeom>
          <a:solidFill>
            <a:srgbClr val="141F33"/>
          </a:solidFill>
          <a:ln/>
        </p:spPr>
      </p:sp>
      <p:sp>
        <p:nvSpPr>
          <p:cNvPr id="35" name="Text 33"/>
          <p:cNvSpPr/>
          <p:nvPr/>
        </p:nvSpPr>
        <p:spPr>
          <a:xfrm>
            <a:off x="5724144" y="2999232"/>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W11</a:t>
            </a:r>
            <a:endParaRPr lang="en-US" sz="1100" dirty="0"/>
          </a:p>
        </p:txBody>
      </p:sp>
      <p:sp>
        <p:nvSpPr>
          <p:cNvPr id="36" name="Text 34"/>
          <p:cNvSpPr/>
          <p:nvPr/>
        </p:nvSpPr>
        <p:spPr>
          <a:xfrm>
            <a:off x="5724144"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File Handling</a:t>
            </a:r>
            <a:endParaRPr lang="en-US" sz="1050" dirty="0"/>
          </a:p>
        </p:txBody>
      </p:sp>
      <p:sp>
        <p:nvSpPr>
          <p:cNvPr id="37" name="Shape 35"/>
          <p:cNvSpPr/>
          <p:nvPr/>
        </p:nvSpPr>
        <p:spPr>
          <a:xfrm>
            <a:off x="7296912" y="2907792"/>
            <a:ext cx="1536192" cy="1051560"/>
          </a:xfrm>
          <a:prstGeom prst="roundRect">
            <a:avLst>
              <a:gd name="adj" fmla="val 8696"/>
            </a:avLst>
          </a:prstGeom>
          <a:solidFill>
            <a:srgbClr val="141F33"/>
          </a:solidFill>
          <a:ln/>
        </p:spPr>
      </p:sp>
      <p:sp>
        <p:nvSpPr>
          <p:cNvPr id="38" name="Text 36"/>
          <p:cNvSpPr/>
          <p:nvPr/>
        </p:nvSpPr>
        <p:spPr>
          <a:xfrm>
            <a:off x="7388352" y="2999232"/>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W12</a:t>
            </a:r>
            <a:endParaRPr lang="en-US" sz="1100" dirty="0"/>
          </a:p>
        </p:txBody>
      </p:sp>
      <p:sp>
        <p:nvSpPr>
          <p:cNvPr id="39" name="Text 37"/>
          <p:cNvSpPr/>
          <p:nvPr/>
        </p:nvSpPr>
        <p:spPr>
          <a:xfrm>
            <a:off x="7388352"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Modules &amp; Testing</a:t>
            </a:r>
            <a:endParaRPr lang="en-US" sz="1050" dirty="0"/>
          </a:p>
        </p:txBody>
      </p:sp>
      <p:sp>
        <p:nvSpPr>
          <p:cNvPr id="40" name="Shape 38"/>
          <p:cNvSpPr/>
          <p:nvPr/>
        </p:nvSpPr>
        <p:spPr>
          <a:xfrm>
            <a:off x="8961120" y="2907792"/>
            <a:ext cx="1536192" cy="1051560"/>
          </a:xfrm>
          <a:prstGeom prst="roundRect">
            <a:avLst>
              <a:gd name="adj" fmla="val 8696"/>
            </a:avLst>
          </a:prstGeom>
          <a:solidFill>
            <a:srgbClr val="141F33"/>
          </a:solidFill>
          <a:ln/>
        </p:spPr>
      </p:sp>
      <p:sp>
        <p:nvSpPr>
          <p:cNvPr id="41" name="Text 39"/>
          <p:cNvSpPr/>
          <p:nvPr/>
        </p:nvSpPr>
        <p:spPr>
          <a:xfrm>
            <a:off x="9052560" y="2999232"/>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W13</a:t>
            </a:r>
            <a:endParaRPr lang="en-US" sz="1100" dirty="0"/>
          </a:p>
        </p:txBody>
      </p:sp>
      <p:sp>
        <p:nvSpPr>
          <p:cNvPr id="42" name="Text 40"/>
          <p:cNvSpPr/>
          <p:nvPr/>
        </p:nvSpPr>
        <p:spPr>
          <a:xfrm>
            <a:off x="9052560"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Project Dev.</a:t>
            </a:r>
            <a:endParaRPr lang="en-US" sz="1050" dirty="0"/>
          </a:p>
        </p:txBody>
      </p:sp>
      <p:sp>
        <p:nvSpPr>
          <p:cNvPr id="43" name="Shape 41"/>
          <p:cNvSpPr/>
          <p:nvPr/>
        </p:nvSpPr>
        <p:spPr>
          <a:xfrm>
            <a:off x="10625328" y="2907792"/>
            <a:ext cx="1536192" cy="1051560"/>
          </a:xfrm>
          <a:prstGeom prst="roundRect">
            <a:avLst>
              <a:gd name="adj" fmla="val 8696"/>
            </a:avLst>
          </a:prstGeom>
          <a:solidFill>
            <a:srgbClr val="141F33"/>
          </a:solidFill>
          <a:ln/>
        </p:spPr>
      </p:sp>
      <p:sp>
        <p:nvSpPr>
          <p:cNvPr id="44" name="Text 42"/>
          <p:cNvSpPr/>
          <p:nvPr/>
        </p:nvSpPr>
        <p:spPr>
          <a:xfrm>
            <a:off x="10716768" y="2999232"/>
            <a:ext cx="1353312" cy="274320"/>
          </a:xfrm>
          <a:prstGeom prst="rect">
            <a:avLst/>
          </a:prstGeom>
          <a:noFill/>
          <a:ln/>
        </p:spPr>
        <p:txBody>
          <a:bodyPr wrap="square" lIns="0" tIns="0" rIns="0" bIns="0" rtlCol="0" anchor="ctr"/>
          <a:lstStyle/>
          <a:p>
            <a:pPr indent="0" marL="0">
              <a:buNone/>
            </a:pPr>
            <a:r>
              <a:rPr lang="en-US" sz="1100" b="1" dirty="0">
                <a:solidFill>
                  <a:srgbClr val="EAB308"/>
                </a:solidFill>
                <a:latin typeface="Calibri" pitchFamily="34" charset="0"/>
                <a:ea typeface="Calibri" pitchFamily="34" charset="-122"/>
                <a:cs typeface="Calibri" pitchFamily="34" charset="-120"/>
              </a:rPr>
              <a:t>W14</a:t>
            </a:r>
            <a:endParaRPr lang="en-US" sz="1100" dirty="0"/>
          </a:p>
        </p:txBody>
      </p:sp>
      <p:sp>
        <p:nvSpPr>
          <p:cNvPr id="45" name="Text 43"/>
          <p:cNvSpPr/>
          <p:nvPr/>
        </p:nvSpPr>
        <p:spPr>
          <a:xfrm>
            <a:off x="10716768" y="3291840"/>
            <a:ext cx="1353312" cy="594360"/>
          </a:xfrm>
          <a:prstGeom prst="rect">
            <a:avLst/>
          </a:prstGeom>
          <a:noFill/>
          <a:ln/>
        </p:spPr>
        <p:txBody>
          <a:bodyPr wrap="square" lIns="0" tIns="0" rIns="0" bIns="0" rtlCol="0" anchor="t"/>
          <a:lstStyle/>
          <a:p>
            <a:pPr indent="0" marL="0">
              <a:buNone/>
            </a:pPr>
            <a:r>
              <a:rPr lang="en-US" sz="1050" dirty="0">
                <a:solidFill>
                  <a:srgbClr val="F1F5F9"/>
                </a:solidFill>
                <a:latin typeface="Calibri" pitchFamily="34" charset="0"/>
                <a:ea typeface="Calibri" pitchFamily="34" charset="-122"/>
                <a:cs typeface="Calibri" pitchFamily="34" charset="-120"/>
              </a:rPr>
              <a:t>Presentations</a:t>
            </a:r>
            <a:endParaRPr lang="en-US" sz="1050" dirty="0"/>
          </a:p>
        </p:txBody>
      </p:sp>
      <p:sp>
        <p:nvSpPr>
          <p:cNvPr id="46" name="Text 44"/>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47" name="Text 4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EXAM FORMAT</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What to Expect This Week</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The midterm has two parts: a written section testing concepts and code-reading, and a practical section where you write working code under time pressure.</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Logistics</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Written section: definitions, short answer, and code-tracing questions (“what does this print?”)</a:t>
            </a:r>
            <a:endParaRPr lang="en-US" sz="1250" dirty="0"/>
          </a:p>
        </p:txBody>
      </p:sp>
      <p:pic>
        <p:nvPicPr>
          <p:cNvPr id="10" name="Image 1" descr="preencoded.png">    </p:cNvPr>
          <p:cNvPicPr>
            <a:picLocks noChangeAspect="1"/>
          </p:cNvPicPr>
          <p:nvPr/>
        </p:nvPicPr>
        <p:blipFill>
          <a:blip r:embed="rId2"/>
          <a:stretch>
            <a:fillRect/>
          </a:stretch>
        </p:blipFill>
        <p:spPr>
          <a:xfrm>
            <a:off x="914400" y="4721352"/>
            <a:ext cx="201168" cy="201168"/>
          </a:xfrm>
          <a:prstGeom prst="rect">
            <a:avLst/>
          </a:prstGeom>
        </p:spPr>
      </p:pic>
      <p:sp>
        <p:nvSpPr>
          <p:cNvPr id="11" name="Text 7"/>
          <p:cNvSpPr/>
          <p:nvPr/>
        </p:nvSpPr>
        <p:spPr>
          <a:xfrm>
            <a:off x="1234440" y="463905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Practical section: build a small class hierarchy from a written specification, similar to our weekly labs</a:t>
            </a:r>
            <a:endParaRPr lang="en-US" sz="1250" dirty="0"/>
          </a:p>
        </p:txBody>
      </p:sp>
      <p:pic>
        <p:nvPicPr>
          <p:cNvPr id="12" name="Image 2" descr="preencoded.png">    </p:cNvPr>
          <p:cNvPicPr>
            <a:picLocks noChangeAspect="1"/>
          </p:cNvPicPr>
          <p:nvPr/>
        </p:nvPicPr>
        <p:blipFill>
          <a:blip r:embed="rId3"/>
          <a:stretch>
            <a:fillRect/>
          </a:stretch>
        </p:blipFill>
        <p:spPr>
          <a:xfrm>
            <a:off x="914400" y="5529072"/>
            <a:ext cx="201168" cy="201168"/>
          </a:xfrm>
          <a:prstGeom prst="rect">
            <a:avLst/>
          </a:prstGeom>
        </p:spPr>
      </p:pic>
      <p:sp>
        <p:nvSpPr>
          <p:cNvPr id="13" name="Text 8"/>
          <p:cNvSpPr/>
          <p:nvPr/>
        </p:nvSpPr>
        <p:spPr>
          <a:xfrm>
            <a:off x="1234440" y="544677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Covers everything from Week 1 (procedural vs. OOP) through Week 7 (abstraction)</a:t>
            </a:r>
            <a:endParaRPr lang="en-US" sz="1250" dirty="0"/>
          </a:p>
        </p:txBody>
      </p:sp>
      <p:sp>
        <p:nvSpPr>
          <p:cNvPr id="14" name="Text 9"/>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5" name="Text 10"/>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Review Goals for Today</a:t>
            </a:r>
            <a:endParaRPr lang="en-US" sz="2600" dirty="0"/>
          </a:p>
        </p:txBody>
      </p:sp>
      <p:sp>
        <p:nvSpPr>
          <p:cNvPr id="3" name="Text 1"/>
          <p:cNvSpPr/>
          <p:nvPr/>
        </p:nvSpPr>
        <p:spPr>
          <a:xfrm>
            <a:off x="640080" y="1051560"/>
            <a:ext cx="10881360" cy="45720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By the end of today, you will be able to:</a:t>
            </a:r>
            <a:endParaRPr lang="en-US" sz="1350" dirty="0"/>
          </a:p>
        </p:txBody>
      </p:sp>
      <p:sp>
        <p:nvSpPr>
          <p:cNvPr id="4" name="Shape 2"/>
          <p:cNvSpPr/>
          <p:nvPr/>
        </p:nvSpPr>
        <p:spPr>
          <a:xfrm>
            <a:off x="640080" y="1691640"/>
            <a:ext cx="457200" cy="457200"/>
          </a:xfrm>
          <a:prstGeom prst="roundRect">
            <a:avLst>
              <a:gd name="adj" fmla="val 50000"/>
            </a:avLst>
          </a:prstGeom>
          <a:solidFill>
            <a:srgbClr val="1B2A45"/>
          </a:solidFill>
          <a:ln/>
        </p:spPr>
      </p:sp>
      <p:sp>
        <p:nvSpPr>
          <p:cNvPr id="5" name="Text 3"/>
          <p:cNvSpPr/>
          <p:nvPr/>
        </p:nvSpPr>
        <p:spPr>
          <a:xfrm>
            <a:off x="640080" y="1691640"/>
            <a:ext cx="457200" cy="457200"/>
          </a:xfrm>
          <a:prstGeom prst="rect">
            <a:avLst/>
          </a:prstGeom>
          <a:noFill/>
          <a:ln/>
        </p:spPr>
        <p:txBody>
          <a:bodyPr wrap="square" lIns="0" tIns="0" rIns="0" bIns="0" rtlCol="0" anchor="ctr"/>
          <a:lstStyle/>
          <a:p>
            <a:pPr algn="ctr" indent="0" marL="0">
              <a:buNone/>
            </a:pPr>
            <a:r>
              <a:rPr lang="en-US" sz="1600" b="1" dirty="0">
                <a:solidFill>
                  <a:srgbClr val="EAB308"/>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80160" y="1673352"/>
            <a:ext cx="1024128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Reconstruct, in your own words, what each of the seven weeks covered and why it mattered</a:t>
            </a:r>
            <a:endParaRPr lang="en-US" sz="1350" dirty="0"/>
          </a:p>
        </p:txBody>
      </p:sp>
      <p:sp>
        <p:nvSpPr>
          <p:cNvPr id="7" name="Shape 5"/>
          <p:cNvSpPr/>
          <p:nvPr/>
        </p:nvSpPr>
        <p:spPr>
          <a:xfrm>
            <a:off x="640080" y="2551176"/>
            <a:ext cx="457200" cy="457200"/>
          </a:xfrm>
          <a:prstGeom prst="roundRect">
            <a:avLst>
              <a:gd name="adj" fmla="val 50000"/>
            </a:avLst>
          </a:prstGeom>
          <a:solidFill>
            <a:srgbClr val="1B2A45"/>
          </a:solidFill>
          <a:ln/>
        </p:spPr>
      </p:sp>
      <p:sp>
        <p:nvSpPr>
          <p:cNvPr id="8" name="Text 6"/>
          <p:cNvSpPr/>
          <p:nvPr/>
        </p:nvSpPr>
        <p:spPr>
          <a:xfrm>
            <a:off x="640080" y="2551176"/>
            <a:ext cx="457200" cy="457200"/>
          </a:xfrm>
          <a:prstGeom prst="rect">
            <a:avLst/>
          </a:prstGeom>
          <a:noFill/>
          <a:ln/>
        </p:spPr>
        <p:txBody>
          <a:bodyPr wrap="square" lIns="0" tIns="0" rIns="0" bIns="0" rtlCol="0" anchor="ctr"/>
          <a:lstStyle/>
          <a:p>
            <a:pPr algn="ctr" indent="0" marL="0">
              <a:buNone/>
            </a:pPr>
            <a:r>
              <a:rPr lang="en-US" sz="1600" b="1" dirty="0">
                <a:solidFill>
                  <a:srgbClr val="EAB308"/>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80160" y="2532888"/>
            <a:ext cx="1024128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Correctly use the vocabulary: class, object, attribute, method, self, encapsulation, inheritance, polymorphism, abstraction</a:t>
            </a:r>
            <a:endParaRPr lang="en-US" sz="1350" dirty="0"/>
          </a:p>
        </p:txBody>
      </p:sp>
      <p:sp>
        <p:nvSpPr>
          <p:cNvPr id="10" name="Shape 8"/>
          <p:cNvSpPr/>
          <p:nvPr/>
        </p:nvSpPr>
        <p:spPr>
          <a:xfrm>
            <a:off x="640080" y="3410712"/>
            <a:ext cx="457200" cy="457200"/>
          </a:xfrm>
          <a:prstGeom prst="roundRect">
            <a:avLst>
              <a:gd name="adj" fmla="val 50000"/>
            </a:avLst>
          </a:prstGeom>
          <a:solidFill>
            <a:srgbClr val="1B2A45"/>
          </a:solidFill>
          <a:ln/>
        </p:spPr>
      </p:sp>
      <p:sp>
        <p:nvSpPr>
          <p:cNvPr id="11" name="Text 9"/>
          <p:cNvSpPr/>
          <p:nvPr/>
        </p:nvSpPr>
        <p:spPr>
          <a:xfrm>
            <a:off x="640080" y="3410712"/>
            <a:ext cx="457200" cy="457200"/>
          </a:xfrm>
          <a:prstGeom prst="rect">
            <a:avLst/>
          </a:prstGeom>
          <a:noFill/>
          <a:ln/>
        </p:spPr>
        <p:txBody>
          <a:bodyPr wrap="square" lIns="0" tIns="0" rIns="0" bIns="0" rtlCol="0" anchor="ctr"/>
          <a:lstStyle/>
          <a:p>
            <a:pPr algn="ctr" indent="0" marL="0">
              <a:buNone/>
            </a:pPr>
            <a:r>
              <a:rPr lang="en-US" sz="1600" b="1" dirty="0">
                <a:solidFill>
                  <a:srgbClr val="EAB308"/>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80160" y="3392424"/>
            <a:ext cx="1024128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Trace through code by hand and predict its output, including inherited and overridden methods</a:t>
            </a:r>
            <a:endParaRPr lang="en-US" sz="1350" dirty="0"/>
          </a:p>
        </p:txBody>
      </p:sp>
      <p:sp>
        <p:nvSpPr>
          <p:cNvPr id="13" name="Shape 11"/>
          <p:cNvSpPr/>
          <p:nvPr/>
        </p:nvSpPr>
        <p:spPr>
          <a:xfrm>
            <a:off x="640080" y="4270248"/>
            <a:ext cx="457200" cy="457200"/>
          </a:xfrm>
          <a:prstGeom prst="roundRect">
            <a:avLst>
              <a:gd name="adj" fmla="val 50000"/>
            </a:avLst>
          </a:prstGeom>
          <a:solidFill>
            <a:srgbClr val="1B2A45"/>
          </a:solidFill>
          <a:ln/>
        </p:spPr>
      </p:sp>
      <p:sp>
        <p:nvSpPr>
          <p:cNvPr id="14" name="Text 12"/>
          <p:cNvSpPr/>
          <p:nvPr/>
        </p:nvSpPr>
        <p:spPr>
          <a:xfrm>
            <a:off x="640080" y="4270248"/>
            <a:ext cx="457200" cy="457200"/>
          </a:xfrm>
          <a:prstGeom prst="rect">
            <a:avLst/>
          </a:prstGeom>
          <a:noFill/>
          <a:ln/>
        </p:spPr>
        <p:txBody>
          <a:bodyPr wrap="square" lIns="0" tIns="0" rIns="0" bIns="0" rtlCol="0" anchor="ctr"/>
          <a:lstStyle/>
          <a:p>
            <a:pPr algn="ctr" indent="0" marL="0">
              <a:buNone/>
            </a:pPr>
            <a:r>
              <a:rPr lang="en-US" sz="1600" b="1" dirty="0">
                <a:solidFill>
                  <a:srgbClr val="EAB308"/>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80160" y="4251960"/>
            <a:ext cx="1024128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Design a small class hierarchy from a written specification, under time pressure</a:t>
            </a:r>
            <a:endParaRPr lang="en-US" sz="1350" dirty="0"/>
          </a:p>
        </p:txBody>
      </p:sp>
      <p:sp>
        <p:nvSpPr>
          <p:cNvPr id="16" name="Shape 14"/>
          <p:cNvSpPr/>
          <p:nvPr/>
        </p:nvSpPr>
        <p:spPr>
          <a:xfrm>
            <a:off x="640080" y="5129784"/>
            <a:ext cx="457200" cy="457200"/>
          </a:xfrm>
          <a:prstGeom prst="roundRect">
            <a:avLst>
              <a:gd name="adj" fmla="val 50000"/>
            </a:avLst>
          </a:prstGeom>
          <a:solidFill>
            <a:srgbClr val="1B2A45"/>
          </a:solidFill>
          <a:ln/>
        </p:spPr>
      </p:sp>
      <p:sp>
        <p:nvSpPr>
          <p:cNvPr id="17" name="Text 15"/>
          <p:cNvSpPr/>
          <p:nvPr/>
        </p:nvSpPr>
        <p:spPr>
          <a:xfrm>
            <a:off x="640080" y="5129784"/>
            <a:ext cx="457200" cy="457200"/>
          </a:xfrm>
          <a:prstGeom prst="rect">
            <a:avLst/>
          </a:prstGeom>
          <a:noFill/>
          <a:ln/>
        </p:spPr>
        <p:txBody>
          <a:bodyPr wrap="square" lIns="0" tIns="0" rIns="0" bIns="0" rtlCol="0" anchor="ctr"/>
          <a:lstStyle/>
          <a:p>
            <a:pPr algn="ctr" indent="0" marL="0">
              <a:buNone/>
            </a:pPr>
            <a:r>
              <a:rPr lang="en-US" sz="1600" b="1" dirty="0">
                <a:solidFill>
                  <a:srgbClr val="EAB308"/>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80160" y="5111496"/>
            <a:ext cx="10241280" cy="813816"/>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Identify your own weak spots before the exam, not during it</a:t>
            </a:r>
            <a:endParaRPr lang="en-US" sz="1350" dirty="0"/>
          </a:p>
        </p:txBody>
      </p:sp>
      <p:sp>
        <p:nvSpPr>
          <p:cNvPr id="19" name="Text 1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20" name="Text 1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Today's Agenda</a:t>
            </a:r>
            <a:endParaRPr lang="en-US" sz="2600" dirty="0"/>
          </a:p>
        </p:txBody>
      </p:sp>
      <p:sp>
        <p:nvSpPr>
          <p:cNvPr id="3" name="Text 1"/>
          <p:cNvSpPr/>
          <p:nvPr/>
        </p:nvSpPr>
        <p:spPr>
          <a:xfrm>
            <a:off x="640080" y="1051560"/>
            <a:ext cx="10881360" cy="45720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Two hours of theory, two hours of hands-on lab</a:t>
            </a:r>
            <a:endParaRPr lang="en-US" sz="1350" dirty="0"/>
          </a:p>
        </p:txBody>
      </p:sp>
      <p:sp>
        <p:nvSpPr>
          <p:cNvPr id="4" name="Shape 2"/>
          <p:cNvSpPr/>
          <p:nvPr/>
        </p:nvSpPr>
        <p:spPr>
          <a:xfrm>
            <a:off x="640080" y="1600200"/>
            <a:ext cx="411480" cy="411480"/>
          </a:xfrm>
          <a:prstGeom prst="roundRect">
            <a:avLst>
              <a:gd name="adj" fmla="val 17778"/>
            </a:avLst>
          </a:prstGeom>
          <a:solidFill>
            <a:srgbClr val="EAB308"/>
          </a:solidFill>
          <a:ln/>
        </p:spPr>
      </p:sp>
      <p:sp>
        <p:nvSpPr>
          <p:cNvPr id="5" name="Text 3"/>
          <p:cNvSpPr/>
          <p:nvPr/>
        </p:nvSpPr>
        <p:spPr>
          <a:xfrm>
            <a:off x="640080" y="160020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55448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Week-by-Week Recap (30 min)</a:t>
            </a:r>
            <a:endParaRPr lang="en-US" sz="1400" dirty="0"/>
          </a:p>
        </p:txBody>
      </p:sp>
      <p:sp>
        <p:nvSpPr>
          <p:cNvPr id="7" name="Text 5"/>
          <p:cNvSpPr/>
          <p:nvPr/>
        </p:nvSpPr>
        <p:spPr>
          <a:xfrm>
            <a:off x="7223760" y="158191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One slide per week, the core idea distilled</a:t>
            </a:r>
            <a:endParaRPr lang="en-US" sz="1150" dirty="0"/>
          </a:p>
        </p:txBody>
      </p:sp>
      <p:sp>
        <p:nvSpPr>
          <p:cNvPr id="8" name="Shape 6"/>
          <p:cNvSpPr/>
          <p:nvPr/>
        </p:nvSpPr>
        <p:spPr>
          <a:xfrm>
            <a:off x="640080" y="2377440"/>
            <a:ext cx="411480" cy="411480"/>
          </a:xfrm>
          <a:prstGeom prst="roundRect">
            <a:avLst>
              <a:gd name="adj" fmla="val 17778"/>
            </a:avLst>
          </a:prstGeom>
          <a:solidFill>
            <a:srgbClr val="EAB308"/>
          </a:solidFill>
          <a:ln/>
        </p:spPr>
      </p:sp>
      <p:sp>
        <p:nvSpPr>
          <p:cNvPr id="9" name="Text 7"/>
          <p:cNvSpPr/>
          <p:nvPr/>
        </p:nvSpPr>
        <p:spPr>
          <a:xfrm>
            <a:off x="640080" y="237744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88720" y="233172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Terminology and Quick Reference (10 min)</a:t>
            </a:r>
            <a:endParaRPr lang="en-US" sz="1400" dirty="0"/>
          </a:p>
        </p:txBody>
      </p:sp>
      <p:sp>
        <p:nvSpPr>
          <p:cNvPr id="11" name="Text 9"/>
          <p:cNvSpPr/>
          <p:nvPr/>
        </p:nvSpPr>
        <p:spPr>
          <a:xfrm>
            <a:off x="7223760" y="235915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 glossary you can quiz yourself on</a:t>
            </a:r>
            <a:endParaRPr lang="en-US" sz="1150" dirty="0"/>
          </a:p>
        </p:txBody>
      </p:sp>
      <p:sp>
        <p:nvSpPr>
          <p:cNvPr id="12" name="Shape 10"/>
          <p:cNvSpPr/>
          <p:nvPr/>
        </p:nvSpPr>
        <p:spPr>
          <a:xfrm>
            <a:off x="640080" y="3154680"/>
            <a:ext cx="411480" cy="411480"/>
          </a:xfrm>
          <a:prstGeom prst="roundRect">
            <a:avLst>
              <a:gd name="adj" fmla="val 17778"/>
            </a:avLst>
          </a:prstGeom>
          <a:solidFill>
            <a:srgbClr val="EAB308"/>
          </a:solidFill>
          <a:ln/>
        </p:spPr>
      </p:sp>
      <p:sp>
        <p:nvSpPr>
          <p:cNvPr id="13" name="Text 11"/>
          <p:cNvSpPr/>
          <p:nvPr/>
        </p:nvSpPr>
        <p:spPr>
          <a:xfrm>
            <a:off x="640080" y="315468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310896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A Comprehensive Example (15 min)</a:t>
            </a:r>
            <a:endParaRPr lang="en-US" sz="1400" dirty="0"/>
          </a:p>
        </p:txBody>
      </p:sp>
      <p:sp>
        <p:nvSpPr>
          <p:cNvPr id="15" name="Text 13"/>
          <p:cNvSpPr/>
          <p:nvPr/>
        </p:nvSpPr>
        <p:spPr>
          <a:xfrm>
            <a:off x="7223760" y="313639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All four pillars, in one small system</a:t>
            </a:r>
            <a:endParaRPr lang="en-US" sz="1150" dirty="0"/>
          </a:p>
        </p:txBody>
      </p:sp>
      <p:sp>
        <p:nvSpPr>
          <p:cNvPr id="16" name="Shape 14"/>
          <p:cNvSpPr/>
          <p:nvPr/>
        </p:nvSpPr>
        <p:spPr>
          <a:xfrm>
            <a:off x="640080" y="3931920"/>
            <a:ext cx="411480" cy="411480"/>
          </a:xfrm>
          <a:prstGeom prst="roundRect">
            <a:avLst>
              <a:gd name="adj" fmla="val 17778"/>
            </a:avLst>
          </a:prstGeom>
          <a:solidFill>
            <a:srgbClr val="EAB308"/>
          </a:solidFill>
          <a:ln/>
        </p:spPr>
      </p:sp>
      <p:sp>
        <p:nvSpPr>
          <p:cNvPr id="17" name="Text 15"/>
          <p:cNvSpPr/>
          <p:nvPr/>
        </p:nvSpPr>
        <p:spPr>
          <a:xfrm>
            <a:off x="640080" y="393192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88720" y="388620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Practice Questions (30 min)</a:t>
            </a:r>
            <a:endParaRPr lang="en-US" sz="1400" dirty="0"/>
          </a:p>
        </p:txBody>
      </p:sp>
      <p:sp>
        <p:nvSpPr>
          <p:cNvPr id="19" name="Text 17"/>
          <p:cNvSpPr/>
          <p:nvPr/>
        </p:nvSpPr>
        <p:spPr>
          <a:xfrm>
            <a:off x="7223760" y="391363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Conceptual, code-tracing, and design questions</a:t>
            </a:r>
            <a:endParaRPr lang="en-US" sz="1150" dirty="0"/>
          </a:p>
        </p:txBody>
      </p:sp>
      <p:sp>
        <p:nvSpPr>
          <p:cNvPr id="20" name="Shape 18"/>
          <p:cNvSpPr/>
          <p:nvPr/>
        </p:nvSpPr>
        <p:spPr>
          <a:xfrm>
            <a:off x="640080" y="4709160"/>
            <a:ext cx="411480" cy="411480"/>
          </a:xfrm>
          <a:prstGeom prst="roundRect">
            <a:avLst>
              <a:gd name="adj" fmla="val 17778"/>
            </a:avLst>
          </a:prstGeom>
          <a:solidFill>
            <a:srgbClr val="EAB308"/>
          </a:solidFill>
          <a:ln/>
        </p:spPr>
      </p:sp>
      <p:sp>
        <p:nvSpPr>
          <p:cNvPr id="21" name="Text 19"/>
          <p:cNvSpPr/>
          <p:nvPr/>
        </p:nvSpPr>
        <p:spPr>
          <a:xfrm>
            <a:off x="640080" y="470916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88720" y="466344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Practical Exam Preview (15 min)</a:t>
            </a:r>
            <a:endParaRPr lang="en-US" sz="1400" dirty="0"/>
          </a:p>
        </p:txBody>
      </p:sp>
      <p:sp>
        <p:nvSpPr>
          <p:cNvPr id="23" name="Text 21"/>
          <p:cNvSpPr/>
          <p:nvPr/>
        </p:nvSpPr>
        <p:spPr>
          <a:xfrm>
            <a:off x="7223760" y="469087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What the coding portion will look like</a:t>
            </a:r>
            <a:endParaRPr lang="en-US" sz="1150" dirty="0"/>
          </a:p>
        </p:txBody>
      </p:sp>
      <p:sp>
        <p:nvSpPr>
          <p:cNvPr id="24" name="Shape 22"/>
          <p:cNvSpPr/>
          <p:nvPr/>
        </p:nvSpPr>
        <p:spPr>
          <a:xfrm>
            <a:off x="640080" y="5486400"/>
            <a:ext cx="411480" cy="411480"/>
          </a:xfrm>
          <a:prstGeom prst="roundRect">
            <a:avLst>
              <a:gd name="adj" fmla="val 17778"/>
            </a:avLst>
          </a:prstGeom>
          <a:solidFill>
            <a:srgbClr val="EAB308"/>
          </a:solidFill>
          <a:ln/>
        </p:spPr>
      </p:sp>
      <p:sp>
        <p:nvSpPr>
          <p:cNvPr id="25" name="Text 23"/>
          <p:cNvSpPr/>
          <p:nvPr/>
        </p:nvSpPr>
        <p:spPr>
          <a:xfrm>
            <a:off x="640080" y="5486400"/>
            <a:ext cx="411480" cy="411480"/>
          </a:xfrm>
          <a:prstGeom prst="rect">
            <a:avLst/>
          </a:prstGeom>
          <a:noFill/>
          <a:ln/>
        </p:spPr>
        <p:txBody>
          <a:bodyPr wrap="square" lIns="0" tIns="0" rIns="0" bIns="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1188720" y="5440680"/>
            <a:ext cx="5943600" cy="411480"/>
          </a:xfrm>
          <a:prstGeom prst="rect">
            <a:avLst/>
          </a:prstGeom>
          <a:noFill/>
          <a:ln/>
        </p:spPr>
        <p:txBody>
          <a:bodyPr wrap="square" lIns="0" tIns="0" rIns="0" bIns="0"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Study Strategy (10 min)</a:t>
            </a:r>
            <a:endParaRPr lang="en-US" sz="1400" dirty="0"/>
          </a:p>
        </p:txBody>
      </p:sp>
      <p:sp>
        <p:nvSpPr>
          <p:cNvPr id="27" name="Text 25"/>
          <p:cNvSpPr/>
          <p:nvPr/>
        </p:nvSpPr>
        <p:spPr>
          <a:xfrm>
            <a:off x="7223760" y="5468112"/>
            <a:ext cx="4297680" cy="502920"/>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How to spend your remaining prep time well</a:t>
            </a:r>
            <a:endParaRPr lang="en-US" sz="115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29" name="Text 2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1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Procedural vs. Object-Oriented Programming</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Procedural code separates data (tuples, variables) from the functions that act on it</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This creates duplicated logic, fragile position-based data, and no natural home for validation as programs grow</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OOP bundles state (attributes) and behavior (methods) into objects — a class is the blueprint, an object is one instance</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2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Classes and Objects</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class defines a blueprint; __init__() runs automatically to set up each new object's initial state</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self refers to the specific object a method is operating on, supplied automatically by Python</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Instance attributes belong to one object; class attributes are shared across every instance</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3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Attributes and Methods</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Well-designed methods validate input before changing state, rather than just storing values blindly</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Objects can interact: a method on one object can accept another object as a parameter</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Direct attribute access still bypassed every rule — the gap encapsulation closes next</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4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Encapsulation</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Python signals intent through naming: name is public, _name is protected, __name triggers name mangling</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@property lets validated logic run behind ordinary attribute syntax — get/set without parentheses</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Read-only properties (no setter) suit values computed from other attributes</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5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Inheritance</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 child class reuses and extends a parent class, modeling an “is-a” relationship</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super().__init__() calls the parent's constructor — always prefer it over retyping setup logic</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 child method can fully override the parent's, or extend it with super().method_name()</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6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Polymorphism</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The same method call runs different behavior depending on the object's actual type, resolved at runtime</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Duck typing achieves this without a shared parent class — only the method needs to exist</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Polymorphism replaces fragile if/elif type-checking chains with calling code that stays simple</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WEEK 7 RECAP</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Abstraction</a:t>
            </a:r>
            <a:endParaRPr lang="en-US" sz="2700" dirty="0"/>
          </a:p>
        </p:txBody>
      </p:sp>
      <p:sp>
        <p:nvSpPr>
          <p:cNvPr id="4" name="Shape 2"/>
          <p:cNvSpPr/>
          <p:nvPr/>
        </p:nvSpPr>
        <p:spPr>
          <a:xfrm>
            <a:off x="640080" y="1691640"/>
            <a:ext cx="10972800" cy="4297680"/>
          </a:xfrm>
          <a:prstGeom prst="roundRect">
            <a:avLst>
              <a:gd name="adj" fmla="val 2553"/>
            </a:avLst>
          </a:prstGeom>
          <a:solidFill>
            <a:srgbClr val="141F33"/>
          </a:solidFill>
          <a:ln/>
        </p:spPr>
      </p:sp>
      <p:pic>
        <p:nvPicPr>
          <p:cNvPr id="5" name="Image 0" descr="preencoded.png">    </p:cNvPr>
          <p:cNvPicPr>
            <a:picLocks noChangeAspect="1"/>
          </p:cNvPicPr>
          <p:nvPr/>
        </p:nvPicPr>
        <p:blipFill>
          <a:blip r:embed="rId1"/>
          <a:stretch>
            <a:fillRect/>
          </a:stretch>
        </p:blipFill>
        <p:spPr>
          <a:xfrm>
            <a:off x="914400" y="1993392"/>
            <a:ext cx="201168" cy="201168"/>
          </a:xfrm>
          <a:prstGeom prst="rect">
            <a:avLst/>
          </a:prstGeom>
        </p:spPr>
      </p:pic>
      <p:sp>
        <p:nvSpPr>
          <p:cNvPr id="6" name="Text 3"/>
          <p:cNvSpPr/>
          <p:nvPr/>
        </p:nvSpPr>
        <p:spPr>
          <a:xfrm>
            <a:off x="1234440" y="191109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ABC and @abstractmethod prevent instantiating incomplete classes, enforced by Python itself</a:t>
            </a:r>
            <a:endParaRPr lang="en-US" sz="1250" dirty="0"/>
          </a:p>
        </p:txBody>
      </p:sp>
      <p:pic>
        <p:nvPicPr>
          <p:cNvPr id="7" name="Image 1" descr="preencoded.png">    </p:cNvPr>
          <p:cNvPicPr>
            <a:picLocks noChangeAspect="1"/>
          </p:cNvPicPr>
          <p:nvPr/>
        </p:nvPicPr>
        <p:blipFill>
          <a:blip r:embed="rId2"/>
          <a:stretch>
            <a:fillRect/>
          </a:stretch>
        </p:blipFill>
        <p:spPr>
          <a:xfrm>
            <a:off x="914400" y="3258312"/>
            <a:ext cx="201168" cy="201168"/>
          </a:xfrm>
          <a:prstGeom prst="rect">
            <a:avLst/>
          </a:prstGeom>
        </p:spPr>
      </p:pic>
      <p:sp>
        <p:nvSpPr>
          <p:cNvPr id="8" name="Text 4"/>
          <p:cNvSpPr/>
          <p:nvPr/>
        </p:nvSpPr>
        <p:spPr>
          <a:xfrm>
            <a:off x="1234440" y="317601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Abstract base classes can mix required abstract methods with fully shared, concrete methods</a:t>
            </a:r>
            <a:endParaRPr lang="en-US" sz="1250" dirty="0"/>
          </a:p>
        </p:txBody>
      </p:sp>
      <p:pic>
        <p:nvPicPr>
          <p:cNvPr id="9" name="Image 2" descr="preencoded.png">    </p:cNvPr>
          <p:cNvPicPr>
            <a:picLocks noChangeAspect="1"/>
          </p:cNvPicPr>
          <p:nvPr/>
        </p:nvPicPr>
        <p:blipFill>
          <a:blip r:embed="rId3"/>
          <a:stretch>
            <a:fillRect/>
          </a:stretch>
        </p:blipFill>
        <p:spPr>
          <a:xfrm>
            <a:off x="914400" y="4523232"/>
            <a:ext cx="201168" cy="201168"/>
          </a:xfrm>
          <a:prstGeom prst="rect">
            <a:avLst/>
          </a:prstGeom>
        </p:spPr>
      </p:pic>
      <p:sp>
        <p:nvSpPr>
          <p:cNvPr id="10" name="Text 5"/>
          <p:cNvSpPr/>
          <p:nvPr/>
        </p:nvSpPr>
        <p:spPr>
          <a:xfrm>
            <a:off x="1234440" y="4440936"/>
            <a:ext cx="10104120" cy="12649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Abstraction (what a class must do) is distinct from encapsulation (how it protects its own data)</a:t>
            </a:r>
            <a:endParaRPr lang="en-US" sz="1250" dirty="0"/>
          </a:p>
        </p:txBody>
      </p:sp>
      <p:sp>
        <p:nvSpPr>
          <p:cNvPr id="11" name="Text 6"/>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The Four Pillars — Quick Reference</a:t>
            </a:r>
            <a:endParaRPr lang="en-US" sz="2600" dirty="0"/>
          </a:p>
        </p:txBody>
      </p:sp>
      <p:sp>
        <p:nvSpPr>
          <p:cNvPr id="3" name="Shape 1"/>
          <p:cNvSpPr/>
          <p:nvPr/>
        </p:nvSpPr>
        <p:spPr>
          <a:xfrm>
            <a:off x="640080" y="1691640"/>
            <a:ext cx="11000232" cy="502920"/>
          </a:xfrm>
          <a:prstGeom prst="roundRect">
            <a:avLst>
              <a:gd name="adj" fmla="val 10909"/>
            </a:avLst>
          </a:prstGeom>
          <a:solidFill>
            <a:srgbClr val="EAB308"/>
          </a:solidFill>
          <a:ln/>
        </p:spPr>
      </p:sp>
      <p:sp>
        <p:nvSpPr>
          <p:cNvPr id="4" name="Text 2"/>
          <p:cNvSpPr/>
          <p:nvPr/>
        </p:nvSpPr>
        <p:spPr>
          <a:xfrm>
            <a:off x="640080" y="1691640"/>
            <a:ext cx="256032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Pillar</a:t>
            </a:r>
            <a:endParaRPr lang="en-US" sz="1300" dirty="0"/>
          </a:p>
        </p:txBody>
      </p:sp>
      <p:sp>
        <p:nvSpPr>
          <p:cNvPr id="5" name="Text 3"/>
          <p:cNvSpPr/>
          <p:nvPr/>
        </p:nvSpPr>
        <p:spPr>
          <a:xfrm>
            <a:off x="3200400" y="1691640"/>
            <a:ext cx="5056632"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One-line definition</a:t>
            </a:r>
            <a:endParaRPr lang="en-US" sz="1300" dirty="0"/>
          </a:p>
        </p:txBody>
      </p:sp>
      <p:sp>
        <p:nvSpPr>
          <p:cNvPr id="6" name="Text 4"/>
          <p:cNvSpPr/>
          <p:nvPr/>
        </p:nvSpPr>
        <p:spPr>
          <a:xfrm>
            <a:off x="8257032" y="1691640"/>
            <a:ext cx="329184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Key syntax</a:t>
            </a:r>
            <a:endParaRPr lang="en-US" sz="1300" dirty="0"/>
          </a:p>
        </p:txBody>
      </p:sp>
      <p:sp>
        <p:nvSpPr>
          <p:cNvPr id="7" name="Shape 5"/>
          <p:cNvSpPr/>
          <p:nvPr/>
        </p:nvSpPr>
        <p:spPr>
          <a:xfrm>
            <a:off x="640080" y="2258568"/>
            <a:ext cx="11000232" cy="731520"/>
          </a:xfrm>
          <a:prstGeom prst="roundRect">
            <a:avLst>
              <a:gd name="adj" fmla="val 7500"/>
            </a:avLst>
          </a:prstGeom>
          <a:solidFill>
            <a:srgbClr val="141F33"/>
          </a:solidFill>
          <a:ln/>
        </p:spPr>
      </p:sp>
      <p:sp>
        <p:nvSpPr>
          <p:cNvPr id="8" name="Text 6"/>
          <p:cNvSpPr/>
          <p:nvPr/>
        </p:nvSpPr>
        <p:spPr>
          <a:xfrm>
            <a:off x="640080" y="2258568"/>
            <a:ext cx="25603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Encapsulation</a:t>
            </a:r>
            <a:endParaRPr lang="en-US" sz="1250" dirty="0"/>
          </a:p>
        </p:txBody>
      </p:sp>
      <p:sp>
        <p:nvSpPr>
          <p:cNvPr id="9" name="Text 7"/>
          <p:cNvSpPr/>
          <p:nvPr/>
        </p:nvSpPr>
        <p:spPr>
          <a:xfrm>
            <a:off x="3200400" y="2258568"/>
            <a:ext cx="5056632"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Protect data, control access</a:t>
            </a:r>
            <a:endParaRPr lang="en-US" sz="1250" dirty="0"/>
          </a:p>
        </p:txBody>
      </p:sp>
      <p:sp>
        <p:nvSpPr>
          <p:cNvPr id="10" name="Text 8"/>
          <p:cNvSpPr/>
          <p:nvPr/>
        </p:nvSpPr>
        <p:spPr>
          <a:xfrm>
            <a:off x="8257032" y="2258568"/>
            <a:ext cx="3291840"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_name, @property</a:t>
            </a:r>
            <a:endParaRPr lang="en-US" sz="1250" dirty="0"/>
          </a:p>
        </p:txBody>
      </p:sp>
      <p:sp>
        <p:nvSpPr>
          <p:cNvPr id="11" name="Shape 9"/>
          <p:cNvSpPr/>
          <p:nvPr/>
        </p:nvSpPr>
        <p:spPr>
          <a:xfrm>
            <a:off x="640080" y="3054096"/>
            <a:ext cx="11000232" cy="731520"/>
          </a:xfrm>
          <a:prstGeom prst="roundRect">
            <a:avLst>
              <a:gd name="adj" fmla="val 7500"/>
            </a:avLst>
          </a:prstGeom>
          <a:solidFill>
            <a:srgbClr val="1B2A45"/>
          </a:solidFill>
          <a:ln/>
        </p:spPr>
      </p:sp>
      <p:sp>
        <p:nvSpPr>
          <p:cNvPr id="12" name="Text 10"/>
          <p:cNvSpPr/>
          <p:nvPr/>
        </p:nvSpPr>
        <p:spPr>
          <a:xfrm>
            <a:off x="640080" y="3054096"/>
            <a:ext cx="25603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Inheritance</a:t>
            </a:r>
            <a:endParaRPr lang="en-US" sz="1250" dirty="0"/>
          </a:p>
        </p:txBody>
      </p:sp>
      <p:sp>
        <p:nvSpPr>
          <p:cNvPr id="13" name="Text 11"/>
          <p:cNvSpPr/>
          <p:nvPr/>
        </p:nvSpPr>
        <p:spPr>
          <a:xfrm>
            <a:off x="3200400" y="3054096"/>
            <a:ext cx="5056632"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Reuse and extend a parent class</a:t>
            </a:r>
            <a:endParaRPr lang="en-US" sz="1250" dirty="0"/>
          </a:p>
        </p:txBody>
      </p:sp>
      <p:sp>
        <p:nvSpPr>
          <p:cNvPr id="14" name="Text 12"/>
          <p:cNvSpPr/>
          <p:nvPr/>
        </p:nvSpPr>
        <p:spPr>
          <a:xfrm>
            <a:off x="8257032" y="3054096"/>
            <a:ext cx="3291840"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class Child(Parent):, super()</a:t>
            </a:r>
            <a:endParaRPr lang="en-US" sz="1250" dirty="0"/>
          </a:p>
        </p:txBody>
      </p:sp>
      <p:sp>
        <p:nvSpPr>
          <p:cNvPr id="15" name="Shape 13"/>
          <p:cNvSpPr/>
          <p:nvPr/>
        </p:nvSpPr>
        <p:spPr>
          <a:xfrm>
            <a:off x="640080" y="3849624"/>
            <a:ext cx="11000232" cy="731520"/>
          </a:xfrm>
          <a:prstGeom prst="roundRect">
            <a:avLst>
              <a:gd name="adj" fmla="val 7500"/>
            </a:avLst>
          </a:prstGeom>
          <a:solidFill>
            <a:srgbClr val="141F33"/>
          </a:solidFill>
          <a:ln/>
        </p:spPr>
      </p:sp>
      <p:sp>
        <p:nvSpPr>
          <p:cNvPr id="16" name="Text 14"/>
          <p:cNvSpPr/>
          <p:nvPr/>
        </p:nvSpPr>
        <p:spPr>
          <a:xfrm>
            <a:off x="640080" y="3849624"/>
            <a:ext cx="25603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Polymorphism</a:t>
            </a:r>
            <a:endParaRPr lang="en-US" sz="1250" dirty="0"/>
          </a:p>
        </p:txBody>
      </p:sp>
      <p:sp>
        <p:nvSpPr>
          <p:cNvPr id="17" name="Text 15"/>
          <p:cNvSpPr/>
          <p:nvPr/>
        </p:nvSpPr>
        <p:spPr>
          <a:xfrm>
            <a:off x="3200400" y="3849624"/>
            <a:ext cx="5056632"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One interface, many behaviors</a:t>
            </a:r>
            <a:endParaRPr lang="en-US" sz="1250" dirty="0"/>
          </a:p>
        </p:txBody>
      </p:sp>
      <p:sp>
        <p:nvSpPr>
          <p:cNvPr id="18" name="Text 16"/>
          <p:cNvSpPr/>
          <p:nvPr/>
        </p:nvSpPr>
        <p:spPr>
          <a:xfrm>
            <a:off x="8257032" y="3849624"/>
            <a:ext cx="3291840"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method overriding, duck typing</a:t>
            </a:r>
            <a:endParaRPr lang="en-US" sz="1250" dirty="0"/>
          </a:p>
        </p:txBody>
      </p:sp>
      <p:sp>
        <p:nvSpPr>
          <p:cNvPr id="19" name="Shape 17"/>
          <p:cNvSpPr/>
          <p:nvPr/>
        </p:nvSpPr>
        <p:spPr>
          <a:xfrm>
            <a:off x="640080" y="4645152"/>
            <a:ext cx="11000232" cy="731520"/>
          </a:xfrm>
          <a:prstGeom prst="roundRect">
            <a:avLst>
              <a:gd name="adj" fmla="val 7500"/>
            </a:avLst>
          </a:prstGeom>
          <a:solidFill>
            <a:srgbClr val="1B2A45"/>
          </a:solidFill>
          <a:ln/>
        </p:spPr>
      </p:sp>
      <p:sp>
        <p:nvSpPr>
          <p:cNvPr id="20" name="Text 18"/>
          <p:cNvSpPr/>
          <p:nvPr/>
        </p:nvSpPr>
        <p:spPr>
          <a:xfrm>
            <a:off x="640080" y="4645152"/>
            <a:ext cx="25603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Abstraction</a:t>
            </a:r>
            <a:endParaRPr lang="en-US" sz="1250" dirty="0"/>
          </a:p>
        </p:txBody>
      </p:sp>
      <p:sp>
        <p:nvSpPr>
          <p:cNvPr id="21" name="Text 19"/>
          <p:cNvSpPr/>
          <p:nvPr/>
        </p:nvSpPr>
        <p:spPr>
          <a:xfrm>
            <a:off x="3200400" y="4645152"/>
            <a:ext cx="5056632"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Enforce what a class must do</a:t>
            </a:r>
            <a:endParaRPr lang="en-US" sz="1250" dirty="0"/>
          </a:p>
        </p:txBody>
      </p:sp>
      <p:sp>
        <p:nvSpPr>
          <p:cNvPr id="22" name="Text 20"/>
          <p:cNvSpPr/>
          <p:nvPr/>
        </p:nvSpPr>
        <p:spPr>
          <a:xfrm>
            <a:off x="8257032" y="4645152"/>
            <a:ext cx="3291840" cy="731520"/>
          </a:xfrm>
          <a:prstGeom prst="rect">
            <a:avLst/>
          </a:prstGeom>
          <a:noFill/>
          <a:ln/>
        </p:spPr>
        <p:txBody>
          <a:bodyPr wrap="square" lIns="0" tIns="0" rIns="0" bIns="0" rtlCol="0" anchor="ctr"/>
          <a:lstStyle/>
          <a:p>
            <a:pPr indent="0" marL="0">
              <a:buNone/>
            </a:pPr>
            <a:r>
              <a:rPr lang="en-US" sz="1250" dirty="0">
                <a:solidFill>
                  <a:srgbClr val="F1F5F9"/>
                </a:solidFill>
                <a:latin typeface="Consolas" pitchFamily="34" charset="0"/>
                <a:ea typeface="Consolas" pitchFamily="34" charset="-122"/>
                <a:cs typeface="Consolas" pitchFamily="34" charset="-120"/>
              </a:rPr>
              <a:t>ABC, @abstractmethod</a:t>
            </a:r>
            <a:endParaRPr lang="en-US" sz="125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24" name="Text 2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Terminology Glossary</a:t>
            </a:r>
            <a:endParaRPr lang="en-US" sz="2600" dirty="0"/>
          </a:p>
        </p:txBody>
      </p:sp>
      <p:sp>
        <p:nvSpPr>
          <p:cNvPr id="3" name="Shape 1"/>
          <p:cNvSpPr/>
          <p:nvPr/>
        </p:nvSpPr>
        <p:spPr>
          <a:xfrm>
            <a:off x="640080" y="1691640"/>
            <a:ext cx="11000232" cy="502920"/>
          </a:xfrm>
          <a:prstGeom prst="roundRect">
            <a:avLst>
              <a:gd name="adj" fmla="val 10909"/>
            </a:avLst>
          </a:prstGeom>
          <a:solidFill>
            <a:srgbClr val="EAB308"/>
          </a:solidFill>
          <a:ln/>
        </p:spPr>
      </p:sp>
      <p:sp>
        <p:nvSpPr>
          <p:cNvPr id="4" name="Text 2"/>
          <p:cNvSpPr/>
          <p:nvPr/>
        </p:nvSpPr>
        <p:spPr>
          <a:xfrm>
            <a:off x="640080" y="1691640"/>
            <a:ext cx="3017520"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Term</a:t>
            </a:r>
            <a:endParaRPr lang="en-US" sz="1300" dirty="0"/>
          </a:p>
        </p:txBody>
      </p:sp>
      <p:sp>
        <p:nvSpPr>
          <p:cNvPr id="5" name="Text 3"/>
          <p:cNvSpPr/>
          <p:nvPr/>
        </p:nvSpPr>
        <p:spPr>
          <a:xfrm>
            <a:off x="3657600" y="1691640"/>
            <a:ext cx="7891272" cy="502920"/>
          </a:xfrm>
          <a:prstGeom prst="rect">
            <a:avLst/>
          </a:prstGeom>
          <a:noFill/>
          <a:ln/>
        </p:spPr>
        <p:txBody>
          <a:bodyPr wrap="square" lIns="0" tIns="0" rIns="0" bIns="0" rtlCol="0" anchor="ctr"/>
          <a:lstStyle/>
          <a:p>
            <a:pPr indent="0" marL="0">
              <a:buNone/>
            </a:pPr>
            <a:r>
              <a:rPr lang="en-US" sz="1300" b="1" dirty="0">
                <a:solidFill>
                  <a:srgbClr val="0B1220"/>
                </a:solidFill>
                <a:latin typeface="Calibri" pitchFamily="34" charset="0"/>
                <a:ea typeface="Calibri" pitchFamily="34" charset="-122"/>
                <a:cs typeface="Calibri" pitchFamily="34" charset="-120"/>
              </a:rPr>
              <a:t>Definition</a:t>
            </a:r>
            <a:endParaRPr lang="en-US" sz="1300" dirty="0"/>
          </a:p>
        </p:txBody>
      </p:sp>
      <p:sp>
        <p:nvSpPr>
          <p:cNvPr id="6" name="Shape 4"/>
          <p:cNvSpPr/>
          <p:nvPr/>
        </p:nvSpPr>
        <p:spPr>
          <a:xfrm>
            <a:off x="640080" y="2258568"/>
            <a:ext cx="11000232" cy="731520"/>
          </a:xfrm>
          <a:prstGeom prst="roundRect">
            <a:avLst>
              <a:gd name="adj" fmla="val 7500"/>
            </a:avLst>
          </a:prstGeom>
          <a:solidFill>
            <a:srgbClr val="141F33"/>
          </a:solidFill>
          <a:ln/>
        </p:spPr>
      </p:sp>
      <p:sp>
        <p:nvSpPr>
          <p:cNvPr id="7" name="Text 5"/>
          <p:cNvSpPr/>
          <p:nvPr/>
        </p:nvSpPr>
        <p:spPr>
          <a:xfrm>
            <a:off x="640080" y="2258568"/>
            <a:ext cx="30175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Class</a:t>
            </a:r>
            <a:endParaRPr lang="en-US" sz="1250" dirty="0"/>
          </a:p>
        </p:txBody>
      </p:sp>
      <p:sp>
        <p:nvSpPr>
          <p:cNvPr id="8" name="Text 6"/>
          <p:cNvSpPr/>
          <p:nvPr/>
        </p:nvSpPr>
        <p:spPr>
          <a:xfrm>
            <a:off x="3657600" y="2258568"/>
            <a:ext cx="78912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 blueprint defining attributes and methods for a kind of object</a:t>
            </a:r>
            <a:endParaRPr lang="en-US" sz="1250" dirty="0"/>
          </a:p>
        </p:txBody>
      </p:sp>
      <p:sp>
        <p:nvSpPr>
          <p:cNvPr id="9" name="Shape 7"/>
          <p:cNvSpPr/>
          <p:nvPr/>
        </p:nvSpPr>
        <p:spPr>
          <a:xfrm>
            <a:off x="640080" y="3054096"/>
            <a:ext cx="11000232" cy="731520"/>
          </a:xfrm>
          <a:prstGeom prst="roundRect">
            <a:avLst>
              <a:gd name="adj" fmla="val 7500"/>
            </a:avLst>
          </a:prstGeom>
          <a:solidFill>
            <a:srgbClr val="1B2A45"/>
          </a:solidFill>
          <a:ln/>
        </p:spPr>
      </p:sp>
      <p:sp>
        <p:nvSpPr>
          <p:cNvPr id="10" name="Text 8"/>
          <p:cNvSpPr/>
          <p:nvPr/>
        </p:nvSpPr>
        <p:spPr>
          <a:xfrm>
            <a:off x="640080" y="3054096"/>
            <a:ext cx="30175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Object / Instance</a:t>
            </a:r>
            <a:endParaRPr lang="en-US" sz="1250" dirty="0"/>
          </a:p>
        </p:txBody>
      </p:sp>
      <p:sp>
        <p:nvSpPr>
          <p:cNvPr id="11" name="Text 9"/>
          <p:cNvSpPr/>
          <p:nvPr/>
        </p:nvSpPr>
        <p:spPr>
          <a:xfrm>
            <a:off x="3657600" y="3054096"/>
            <a:ext cx="78912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 specific thing built from a class, with its own state</a:t>
            </a:r>
            <a:endParaRPr lang="en-US" sz="1250" dirty="0"/>
          </a:p>
        </p:txBody>
      </p:sp>
      <p:sp>
        <p:nvSpPr>
          <p:cNvPr id="12" name="Shape 10"/>
          <p:cNvSpPr/>
          <p:nvPr/>
        </p:nvSpPr>
        <p:spPr>
          <a:xfrm>
            <a:off x="640080" y="3849624"/>
            <a:ext cx="11000232" cy="731520"/>
          </a:xfrm>
          <a:prstGeom prst="roundRect">
            <a:avLst>
              <a:gd name="adj" fmla="val 7500"/>
            </a:avLst>
          </a:prstGeom>
          <a:solidFill>
            <a:srgbClr val="141F33"/>
          </a:solidFill>
          <a:ln/>
        </p:spPr>
      </p:sp>
      <p:sp>
        <p:nvSpPr>
          <p:cNvPr id="13" name="Text 11"/>
          <p:cNvSpPr/>
          <p:nvPr/>
        </p:nvSpPr>
        <p:spPr>
          <a:xfrm>
            <a:off x="640080" y="3849624"/>
            <a:ext cx="30175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self</a:t>
            </a:r>
            <a:endParaRPr lang="en-US" sz="1250" dirty="0"/>
          </a:p>
        </p:txBody>
      </p:sp>
      <p:sp>
        <p:nvSpPr>
          <p:cNvPr id="14" name="Text 12"/>
          <p:cNvSpPr/>
          <p:nvPr/>
        </p:nvSpPr>
        <p:spPr>
          <a:xfrm>
            <a:off x="3657600" y="3849624"/>
            <a:ext cx="78912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 reference to the specific object a method is operating on</a:t>
            </a:r>
            <a:endParaRPr lang="en-US" sz="1250" dirty="0"/>
          </a:p>
        </p:txBody>
      </p:sp>
      <p:sp>
        <p:nvSpPr>
          <p:cNvPr id="15" name="Shape 13"/>
          <p:cNvSpPr/>
          <p:nvPr/>
        </p:nvSpPr>
        <p:spPr>
          <a:xfrm>
            <a:off x="640080" y="4645152"/>
            <a:ext cx="11000232" cy="731520"/>
          </a:xfrm>
          <a:prstGeom prst="roundRect">
            <a:avLst>
              <a:gd name="adj" fmla="val 7500"/>
            </a:avLst>
          </a:prstGeom>
          <a:solidFill>
            <a:srgbClr val="1B2A45"/>
          </a:solidFill>
          <a:ln/>
        </p:spPr>
      </p:sp>
      <p:sp>
        <p:nvSpPr>
          <p:cNvPr id="16" name="Text 14"/>
          <p:cNvSpPr/>
          <p:nvPr/>
        </p:nvSpPr>
        <p:spPr>
          <a:xfrm>
            <a:off x="640080" y="4645152"/>
            <a:ext cx="30175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Instance attribute</a:t>
            </a:r>
            <a:endParaRPr lang="en-US" sz="1250" dirty="0"/>
          </a:p>
        </p:txBody>
      </p:sp>
      <p:sp>
        <p:nvSpPr>
          <p:cNvPr id="17" name="Text 15"/>
          <p:cNvSpPr/>
          <p:nvPr/>
        </p:nvSpPr>
        <p:spPr>
          <a:xfrm>
            <a:off x="3657600" y="4645152"/>
            <a:ext cx="78912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Data unique to one object, set with self.x</a:t>
            </a:r>
            <a:endParaRPr lang="en-US" sz="1250" dirty="0"/>
          </a:p>
        </p:txBody>
      </p:sp>
      <p:sp>
        <p:nvSpPr>
          <p:cNvPr id="18" name="Shape 16"/>
          <p:cNvSpPr/>
          <p:nvPr/>
        </p:nvSpPr>
        <p:spPr>
          <a:xfrm>
            <a:off x="640080" y="5440680"/>
            <a:ext cx="11000232" cy="731520"/>
          </a:xfrm>
          <a:prstGeom prst="roundRect">
            <a:avLst>
              <a:gd name="adj" fmla="val 7500"/>
            </a:avLst>
          </a:prstGeom>
          <a:solidFill>
            <a:srgbClr val="141F33"/>
          </a:solidFill>
          <a:ln/>
        </p:spPr>
      </p:sp>
      <p:sp>
        <p:nvSpPr>
          <p:cNvPr id="19" name="Text 17"/>
          <p:cNvSpPr/>
          <p:nvPr/>
        </p:nvSpPr>
        <p:spPr>
          <a:xfrm>
            <a:off x="640080" y="5440680"/>
            <a:ext cx="30175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Class attribute</a:t>
            </a:r>
            <a:endParaRPr lang="en-US" sz="1250" dirty="0"/>
          </a:p>
        </p:txBody>
      </p:sp>
      <p:sp>
        <p:nvSpPr>
          <p:cNvPr id="20" name="Text 18"/>
          <p:cNvSpPr/>
          <p:nvPr/>
        </p:nvSpPr>
        <p:spPr>
          <a:xfrm>
            <a:off x="3657600" y="5440680"/>
            <a:ext cx="78912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Data shared by every instance of a class</a:t>
            </a:r>
            <a:endParaRPr lang="en-US" sz="1250" dirty="0"/>
          </a:p>
        </p:txBody>
      </p:sp>
      <p:sp>
        <p:nvSpPr>
          <p:cNvPr id="21" name="Shape 19"/>
          <p:cNvSpPr/>
          <p:nvPr/>
        </p:nvSpPr>
        <p:spPr>
          <a:xfrm>
            <a:off x="640080" y="6236208"/>
            <a:ext cx="11000232" cy="731520"/>
          </a:xfrm>
          <a:prstGeom prst="roundRect">
            <a:avLst>
              <a:gd name="adj" fmla="val 7500"/>
            </a:avLst>
          </a:prstGeom>
          <a:solidFill>
            <a:srgbClr val="1B2A45"/>
          </a:solidFill>
          <a:ln/>
        </p:spPr>
      </p:sp>
      <p:sp>
        <p:nvSpPr>
          <p:cNvPr id="22" name="Text 20"/>
          <p:cNvSpPr/>
          <p:nvPr/>
        </p:nvSpPr>
        <p:spPr>
          <a:xfrm>
            <a:off x="640080" y="6236208"/>
            <a:ext cx="3017520" cy="731520"/>
          </a:xfrm>
          <a:prstGeom prst="rect">
            <a:avLst/>
          </a:prstGeom>
          <a:noFill/>
          <a:ln/>
        </p:spPr>
        <p:txBody>
          <a:bodyPr wrap="square" lIns="0" tIns="0" rIns="0" bIns="0" rtlCol="0" anchor="ctr"/>
          <a:lstStyle/>
          <a:p>
            <a:pPr indent="0" marL="0">
              <a:buNone/>
            </a:pPr>
            <a:r>
              <a:rPr lang="en-US" sz="1250" b="1" dirty="0">
                <a:solidFill>
                  <a:srgbClr val="EAB308"/>
                </a:solidFill>
                <a:latin typeface="Calibri" pitchFamily="34" charset="0"/>
                <a:ea typeface="Calibri" pitchFamily="34" charset="-122"/>
                <a:cs typeface="Calibri" pitchFamily="34" charset="-120"/>
              </a:rPr>
              <a:t>Method</a:t>
            </a:r>
            <a:endParaRPr lang="en-US" sz="1250" dirty="0"/>
          </a:p>
        </p:txBody>
      </p:sp>
      <p:sp>
        <p:nvSpPr>
          <p:cNvPr id="23" name="Text 21"/>
          <p:cNvSpPr/>
          <p:nvPr/>
        </p:nvSpPr>
        <p:spPr>
          <a:xfrm>
            <a:off x="3657600" y="6236208"/>
            <a:ext cx="7891272" cy="731520"/>
          </a:xfrm>
          <a:prstGeom prst="rect">
            <a:avLst/>
          </a:prstGeom>
          <a:noFill/>
          <a:ln/>
        </p:spPr>
        <p:txBody>
          <a:bodyPr wrap="square" lIns="0" tIns="0" rIns="0" bIns="0" rtlCol="0" anchor="ctr"/>
          <a:lstStyle/>
          <a:p>
            <a:pPr indent="0" marL="0">
              <a:buNone/>
            </a:pPr>
            <a:r>
              <a:rPr lang="en-US" sz="1250" dirty="0">
                <a:solidFill>
                  <a:srgbClr val="F1F5F9"/>
                </a:solidFill>
                <a:latin typeface="Calibri" pitchFamily="34" charset="0"/>
                <a:ea typeface="Calibri" pitchFamily="34" charset="-122"/>
                <a:cs typeface="Calibri" pitchFamily="34" charset="-120"/>
              </a:rPr>
              <a:t>A function defined inside a class, operating on self</a:t>
            </a:r>
            <a:endParaRPr lang="en-US" sz="125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25" name="Text 2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COMPREHENSIVE EXAMPLE</a:t>
            </a:r>
            <a:endParaRPr lang="en-US" sz="1200" dirty="0"/>
          </a:p>
        </p:txBody>
      </p:sp>
      <p:sp>
        <p:nvSpPr>
          <p:cNvPr id="3" name="Text 1"/>
          <p:cNvSpPr/>
          <p:nvPr/>
        </p:nvSpPr>
        <p:spPr>
          <a:xfrm>
            <a:off x="640080" y="86868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All Four Pillars in One Small System (1/2)</a:t>
            </a:r>
            <a:endParaRPr lang="en-US" sz="2600" dirty="0"/>
          </a:p>
        </p:txBody>
      </p:sp>
      <p:sp>
        <p:nvSpPr>
          <p:cNvPr id="4" name="Shape 2"/>
          <p:cNvSpPr/>
          <p:nvPr/>
        </p:nvSpPr>
        <p:spPr>
          <a:xfrm>
            <a:off x="640080" y="2103120"/>
            <a:ext cx="11000232" cy="4206240"/>
          </a:xfrm>
          <a:prstGeom prst="roundRect">
            <a:avLst>
              <a:gd name="adj" fmla="val 1739"/>
            </a:avLst>
          </a:prstGeom>
          <a:solidFill>
            <a:srgbClr val="0A0F1C"/>
          </a:solidFill>
          <a:ln/>
        </p:spPr>
      </p:sp>
      <p:sp>
        <p:nvSpPr>
          <p:cNvPr id="5" name="Text 3"/>
          <p:cNvSpPr/>
          <p:nvPr/>
        </p:nvSpPr>
        <p:spPr>
          <a:xfrm>
            <a:off x="822960" y="2212848"/>
            <a:ext cx="10634472" cy="3986784"/>
          </a:xfrm>
          <a:prstGeom prst="rect">
            <a:avLst/>
          </a:prstGeom>
          <a:noFill/>
          <a:ln/>
        </p:spPr>
        <p:txBody>
          <a:bodyPr wrap="square" lIns="0" tIns="0" rIns="0" bIns="0" rtlCol="0" anchor="t"/>
          <a:lstStyle/>
          <a:p>
            <a:pPr indent="0" marL="0">
              <a:buNone/>
            </a:pPr>
            <a:r>
              <a:rPr lang="en-US" sz="1150" dirty="0">
                <a:solidFill>
                  <a:srgbClr val="9EE6A0"/>
                </a:solidFill>
                <a:latin typeface="Consolas" pitchFamily="34" charset="0"/>
                <a:ea typeface="Consolas" pitchFamily="34" charset="-122"/>
                <a:cs typeface="Consolas" pitchFamily="34" charset="-120"/>
              </a:rPr>
              <a:t>from abc import ABC, abstractmethod</a:t>
            </a:r>
            <a:endParaRPr lang="en-US" sz="1150" dirty="0"/>
          </a:p>
          <a:p>
            <a:pPr indent="0" marL="0">
              <a:buNone/>
            </a:pP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class Employee(ABC):                       # Abstraction</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def __init__(self, name, salary):</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self.name = name</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self._salary = salary              # Encapsulation</a:t>
            </a:r>
            <a:endParaRPr lang="en-US" sz="1150" dirty="0"/>
          </a:p>
          <a:p>
            <a:pPr indent="0" marL="0">
              <a:buNone/>
            </a:pP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@property</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def salary(self):</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return self._salary</a:t>
            </a:r>
            <a:endParaRPr lang="en-US" sz="1150" dirty="0"/>
          </a:p>
          <a:p>
            <a:pPr indent="0" marL="0">
              <a:buNone/>
            </a:pP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@salary.setter</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def salary(self, value):</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if value &lt; 0:</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raise ValueError("Salary cannot be negative.")</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self._salary = value</a:t>
            </a:r>
            <a:endParaRPr lang="en-US" sz="1150" dirty="0"/>
          </a:p>
          <a:p>
            <a:pPr indent="0" marL="0">
              <a:buNone/>
            </a:pP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@abstractmethod</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def role_description(self):            # Abstraction</a:t>
            </a:r>
            <a:endParaRPr lang="en-US" sz="1150" dirty="0"/>
          </a:p>
          <a:p>
            <a:pPr indent="0" marL="0">
              <a:buNone/>
            </a:pPr>
            <a:r>
              <a:rPr lang="en-US" sz="1150" dirty="0">
                <a:solidFill>
                  <a:srgbClr val="9EE6A0"/>
                </a:solidFill>
                <a:latin typeface="Consolas" pitchFamily="34" charset="0"/>
                <a:ea typeface="Consolas" pitchFamily="34" charset="-122"/>
                <a:cs typeface="Consolas" pitchFamily="34" charset="-120"/>
              </a:rPr>
              <a:t>        pass</a:t>
            </a:r>
            <a:endParaRPr lang="en-US" sz="115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7" name="Text 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All Four Pillars in One Small System (2/2)</a:t>
            </a:r>
            <a:endParaRPr lang="en-US" sz="2600" dirty="0"/>
          </a:p>
        </p:txBody>
      </p:sp>
      <p:sp>
        <p:nvSpPr>
          <p:cNvPr id="3" name="Shape 1"/>
          <p:cNvSpPr/>
          <p:nvPr/>
        </p:nvSpPr>
        <p:spPr>
          <a:xfrm>
            <a:off x="640080" y="1691640"/>
            <a:ext cx="11000232" cy="4206240"/>
          </a:xfrm>
          <a:prstGeom prst="roundRect">
            <a:avLst>
              <a:gd name="adj" fmla="val 1739"/>
            </a:avLst>
          </a:prstGeom>
          <a:solidFill>
            <a:srgbClr val="0A0F1C"/>
          </a:solidFill>
          <a:ln/>
        </p:spPr>
      </p:sp>
      <p:sp>
        <p:nvSpPr>
          <p:cNvPr id="4" name="Text 2"/>
          <p:cNvSpPr/>
          <p:nvPr/>
        </p:nvSpPr>
        <p:spPr>
          <a:xfrm>
            <a:off x="822960" y="1801368"/>
            <a:ext cx="10634472" cy="3986784"/>
          </a:xfrm>
          <a:prstGeom prst="rect">
            <a:avLst/>
          </a:prstGeom>
          <a:noFill/>
          <a:ln/>
        </p:spPr>
        <p:txBody>
          <a:bodyPr wrap="square" lIns="0" tIns="0" rIns="0" bIns="0" rtlCol="0" anchor="t"/>
          <a:lstStyle/>
          <a:p>
            <a:pPr indent="0" marL="0">
              <a:buNone/>
            </a:pPr>
            <a:r>
              <a:rPr lang="en-US" sz="1250" dirty="0">
                <a:solidFill>
                  <a:srgbClr val="9EE6A0"/>
                </a:solidFill>
                <a:latin typeface="Consolas" pitchFamily="34" charset="0"/>
                <a:ea typeface="Consolas" pitchFamily="34" charset="-122"/>
                <a:cs typeface="Consolas" pitchFamily="34" charset="-120"/>
              </a:rPr>
              <a:t>class Developer(Employee):                 # Inheritance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__init__(self, name, salary, language):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super().__init__(name, salary)</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self.language = language</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role_description(self):            # Polymorphism (override)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return f"{self.name} writes {self.language} code."</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class Manager(Employee):                   # Inheritance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role_description(self):            # Polymorphism (override)</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return f"{self.name} manages a team."</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for e in [Developer("Ada", 45000, "Python"), Manager("Mert", 60000)]:</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print(e.role_description())            # one call, two behaviors</a:t>
            </a:r>
            <a:endParaRPr lang="en-US" sz="125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PRACTICE QUESTION 1</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Conceptual: What's the Difference?</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In your own words: what is the difference between overriding a method and overloading a method? Does Python support both the same way Java or C++ does?</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Think about</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What each term means for how many method signatures with the same name can coexist</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What happens in Python if you define the same method name twice in one class</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ANSWER</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Answer: Overriding vs. Overloading</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Overriding (Week 5/6) means a child class redefines a method that already exists in its parent, with the same name. Python does not support traditional overloading (multiple methods with the same name but different parameters) — defining the same method name twice in one class simply replaces the earlier definition.</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Why this trips people up</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Languages like Java allow multiple overloaded versions of a method distinguished by parameter types — Python does not</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Python developers typically use default parameter values or *args instead, to get similar flexibility</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PRACTICE QUESTION 2</a:t>
            </a:r>
            <a:endParaRPr lang="en-US" sz="1200" dirty="0"/>
          </a:p>
        </p:txBody>
      </p:sp>
      <p:sp>
        <p:nvSpPr>
          <p:cNvPr id="3" name="Text 1"/>
          <p:cNvSpPr/>
          <p:nvPr/>
        </p:nvSpPr>
        <p:spPr>
          <a:xfrm>
            <a:off x="640080" y="86868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Code Tracing: What Gets Printed?</a:t>
            </a:r>
            <a:endParaRPr lang="en-US" sz="2600" dirty="0"/>
          </a:p>
        </p:txBody>
      </p:sp>
      <p:sp>
        <p:nvSpPr>
          <p:cNvPr id="4" name="Shape 2"/>
          <p:cNvSpPr/>
          <p:nvPr/>
        </p:nvSpPr>
        <p:spPr>
          <a:xfrm>
            <a:off x="640080" y="2103120"/>
            <a:ext cx="5486400" cy="4023360"/>
          </a:xfrm>
          <a:prstGeom prst="roundRect">
            <a:avLst>
              <a:gd name="adj" fmla="val 1818"/>
            </a:avLst>
          </a:prstGeom>
          <a:solidFill>
            <a:srgbClr val="0A0F1C"/>
          </a:solidFill>
          <a:ln/>
        </p:spPr>
      </p:sp>
      <p:sp>
        <p:nvSpPr>
          <p:cNvPr id="5" name="Text 3"/>
          <p:cNvSpPr/>
          <p:nvPr/>
        </p:nvSpPr>
        <p:spPr>
          <a:xfrm>
            <a:off x="822960" y="2212848"/>
            <a:ext cx="5120640" cy="3803904"/>
          </a:xfrm>
          <a:prstGeom prst="rect">
            <a:avLst/>
          </a:prstGeom>
          <a:noFill/>
          <a:ln/>
        </p:spPr>
        <p:txBody>
          <a:bodyPr wrap="square" lIns="0" tIns="0" rIns="0" bIns="0" rtlCol="0" anchor="t"/>
          <a:lstStyle/>
          <a:p>
            <a:pPr indent="0" marL="0">
              <a:buNone/>
            </a:pPr>
            <a:r>
              <a:rPr lang="en-US" sz="1250" dirty="0">
                <a:solidFill>
                  <a:srgbClr val="9EE6A0"/>
                </a:solidFill>
                <a:latin typeface="Consolas" pitchFamily="34" charset="0"/>
                <a:ea typeface="Consolas" pitchFamily="34" charset="-122"/>
                <a:cs typeface="Consolas" pitchFamily="34" charset="-120"/>
              </a:rPr>
              <a:t>class A:</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greet(self): return "A"</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class B(A):</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greet(self): return super().greet() + "B"</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class C(B):</a:t>
            </a: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    def greet(self): return super().greet() + "C"</a:t>
            </a:r>
            <a:endParaRPr lang="en-US" sz="1250" dirty="0"/>
          </a:p>
          <a:p>
            <a:pPr indent="0" marL="0">
              <a:buNone/>
            </a:pPr>
            <a:endParaRPr lang="en-US" sz="1250" dirty="0"/>
          </a:p>
          <a:p>
            <a:pPr indent="0" marL="0">
              <a:buNone/>
            </a:pPr>
            <a:r>
              <a:rPr lang="en-US" sz="1250" dirty="0">
                <a:solidFill>
                  <a:srgbClr val="9EE6A0"/>
                </a:solidFill>
                <a:latin typeface="Consolas" pitchFamily="34" charset="0"/>
                <a:ea typeface="Consolas" pitchFamily="34" charset="-122"/>
                <a:cs typeface="Consolas" pitchFamily="34" charset="-120"/>
              </a:rPr>
              <a:t>print(C().greet())</a:t>
            </a:r>
            <a:endParaRPr lang="en-US" sz="1250" dirty="0"/>
          </a:p>
        </p:txBody>
      </p:sp>
      <p:sp>
        <p:nvSpPr>
          <p:cNvPr id="6" name="Shape 4"/>
          <p:cNvSpPr/>
          <p:nvPr/>
        </p:nvSpPr>
        <p:spPr>
          <a:xfrm>
            <a:off x="6291072" y="2103120"/>
            <a:ext cx="5257800" cy="4023360"/>
          </a:xfrm>
          <a:prstGeom prst="roundRect">
            <a:avLst>
              <a:gd name="adj" fmla="val 2727"/>
            </a:avLst>
          </a:prstGeom>
          <a:solidFill>
            <a:srgbClr val="141F33"/>
          </a:solidFill>
          <a:ln/>
        </p:spPr>
      </p:sp>
      <p:sp>
        <p:nvSpPr>
          <p:cNvPr id="7" name="Text 5"/>
          <p:cNvSpPr/>
          <p:nvPr/>
        </p:nvSpPr>
        <p:spPr>
          <a:xfrm>
            <a:off x="6565392" y="2286000"/>
            <a:ext cx="4709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Think about</a:t>
            </a:r>
            <a:endParaRPr lang="en-US" sz="1400" dirty="0"/>
          </a:p>
        </p:txBody>
      </p:sp>
      <p:pic>
        <p:nvPicPr>
          <p:cNvPr id="8" name="Image 0" descr="preencoded.png">    </p:cNvPr>
          <p:cNvPicPr>
            <a:picLocks noChangeAspect="1"/>
          </p:cNvPicPr>
          <p:nvPr/>
        </p:nvPicPr>
        <p:blipFill>
          <a:blip r:embed="rId1"/>
          <a:stretch>
            <a:fillRect/>
          </a:stretch>
        </p:blipFill>
        <p:spPr>
          <a:xfrm>
            <a:off x="6565392" y="2816352"/>
            <a:ext cx="201168" cy="201168"/>
          </a:xfrm>
          <a:prstGeom prst="rect">
            <a:avLst/>
          </a:prstGeom>
        </p:spPr>
      </p:pic>
      <p:sp>
        <p:nvSpPr>
          <p:cNvPr id="9" name="Text 6"/>
          <p:cNvSpPr/>
          <p:nvPr/>
        </p:nvSpPr>
        <p:spPr>
          <a:xfrm>
            <a:off x="6885432" y="2734056"/>
            <a:ext cx="4389120" cy="15544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Trace the super() chain from C, up through B, up to A</a:t>
            </a:r>
            <a:endParaRPr lang="en-US" sz="1250" dirty="0"/>
          </a:p>
        </p:txBody>
      </p:sp>
      <p:pic>
        <p:nvPicPr>
          <p:cNvPr id="10" name="Image 1" descr="preencoded.png">    </p:cNvPr>
          <p:cNvPicPr>
            <a:picLocks noChangeAspect="1"/>
          </p:cNvPicPr>
          <p:nvPr/>
        </p:nvPicPr>
        <p:blipFill>
          <a:blip r:embed="rId2"/>
          <a:stretch>
            <a:fillRect/>
          </a:stretch>
        </p:blipFill>
        <p:spPr>
          <a:xfrm>
            <a:off x="6565392" y="4370832"/>
            <a:ext cx="201168" cy="201168"/>
          </a:xfrm>
          <a:prstGeom prst="rect">
            <a:avLst/>
          </a:prstGeom>
        </p:spPr>
      </p:pic>
      <p:sp>
        <p:nvSpPr>
          <p:cNvPr id="11" name="Text 7"/>
          <p:cNvSpPr/>
          <p:nvPr/>
        </p:nvSpPr>
        <p:spPr>
          <a:xfrm>
            <a:off x="6885432" y="4288536"/>
            <a:ext cx="4389120" cy="15544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Each level appends its own letter after calling the parent's version</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ANSWER</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Answer: “ABC”</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C().greet() calls C's greet(), which calls super().greet() (B's version) before appending "C". B's greet() calls super().greet() (A's version) before appending "B". A's greet() simply returns "A". The result builds up as "A" + "B" + "C" = "ABC".</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The pattern to recognize</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Each super().method() call happens before the rest of that method's own logic runs, so the base case resolves first</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This chaining pattern is common whenever every level of a hierarchy needs to contribute to a shared result</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PRACTICE QUESTION 3</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Design: Spot the Missing Pillar</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A class BankAccount has a public attribute balance that can be set to any value directly (acc.balance = -500 works). Which pillar is missing from this design, and what specifically would you add to fix it?</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Think about</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Which week's topic deals specifically with protecting attribute values from invalid direct assignment</a:t>
            </a:r>
            <a:endParaRPr lang="en-US" sz="1250" dirty="0"/>
          </a:p>
        </p:txBody>
      </p:sp>
      <p:pic>
        <p:nvPicPr>
          <p:cNvPr id="10" name="Image 1" descr="preencoded.png">    </p:cNvPr>
          <p:cNvPicPr>
            <a:picLocks noChangeAspect="1"/>
          </p:cNvPicPr>
          <p:nvPr/>
        </p:nvPicPr>
        <p:blipFill>
          <a:blip r:embed="rId2"/>
          <a:stretch>
            <a:fillRect/>
          </a:stretch>
        </p:blipFill>
        <p:spPr>
          <a:xfrm>
            <a:off x="914400" y="5125212"/>
            <a:ext cx="201168" cy="201168"/>
          </a:xfrm>
          <a:prstGeom prst="rect">
            <a:avLst/>
          </a:prstGeom>
        </p:spPr>
      </p:pic>
      <p:sp>
        <p:nvSpPr>
          <p:cNvPr id="11" name="Text 7"/>
          <p:cNvSpPr/>
          <p:nvPr/>
        </p:nvSpPr>
        <p:spPr>
          <a:xfrm>
            <a:off x="1234440" y="5042916"/>
            <a:ext cx="10104120" cy="121158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What the minimal fix would look like in code</a:t>
            </a:r>
            <a:endParaRPr lang="en-US" sz="1250" dirty="0"/>
          </a:p>
        </p:txBody>
      </p:sp>
      <p:sp>
        <p:nvSpPr>
          <p:cNvPr id="12" name="Text 8"/>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3" name="Text 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ANSWER</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Answer: Encapsulation Is Missing</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The fix: rename the attribute to _balance, and expose balance as a @property with a setter that validates value &gt;= 0 before assigning. This preserves the same acc.balance syntax for callers while enforcing the rule.</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Why this matters on the exam</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242316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“Spot the missing pillar” style questions are common — practice recognizing which of the four problems a piece of code still has</a:t>
            </a:r>
            <a:endParaRPr lang="en-US" sz="1250" dirty="0"/>
          </a:p>
        </p:txBody>
      </p:sp>
      <p:sp>
        <p:nvSpPr>
          <p:cNvPr id="10" name="Text 7"/>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1" name="Text 8"/>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200" b="1" spc="200" kern="0" dirty="0">
                <a:solidFill>
                  <a:srgbClr val="EAB308"/>
                </a:solidFill>
                <a:latin typeface="Calibri" pitchFamily="34" charset="0"/>
                <a:ea typeface="Calibri" pitchFamily="34" charset="-122"/>
                <a:cs typeface="Calibri" pitchFamily="34" charset="-120"/>
              </a:rPr>
              <a:t>PRACTICAL EXAM PREVIEW</a:t>
            </a:r>
            <a:endParaRPr lang="en-US" sz="1200" dirty="0"/>
          </a:p>
        </p:txBody>
      </p:sp>
      <p:sp>
        <p:nvSpPr>
          <p:cNvPr id="3" name="Text 1"/>
          <p:cNvSpPr/>
          <p:nvPr/>
        </p:nvSpPr>
        <p:spPr>
          <a:xfrm>
            <a:off x="640080" y="868680"/>
            <a:ext cx="10881360" cy="548640"/>
          </a:xfrm>
          <a:prstGeom prst="rect">
            <a:avLst/>
          </a:prstGeom>
          <a:noFill/>
          <a:ln/>
        </p:spPr>
        <p:txBody>
          <a:bodyPr wrap="square" lIns="0" tIns="0" rIns="0" bIns="0" rtlCol="0" anchor="ctr"/>
          <a:lstStyle/>
          <a:p>
            <a:pPr indent="0" marL="0">
              <a:buNone/>
            </a:pPr>
            <a:r>
              <a:rPr lang="en-US" sz="2700" b="1" dirty="0">
                <a:solidFill>
                  <a:srgbClr val="F1F5F9"/>
                </a:solidFill>
                <a:latin typeface="Calibri" pitchFamily="34" charset="0"/>
                <a:ea typeface="Calibri" pitchFamily="34" charset="-122"/>
                <a:cs typeface="Calibri" pitchFamily="34" charset="-120"/>
              </a:rPr>
              <a:t>What the Coding Portion Will Look Like</a:t>
            </a:r>
            <a:endParaRPr lang="en-US" sz="2700" dirty="0"/>
          </a:p>
        </p:txBody>
      </p:sp>
      <p:sp>
        <p:nvSpPr>
          <p:cNvPr id="4" name="Shape 2"/>
          <p:cNvSpPr/>
          <p:nvPr/>
        </p:nvSpPr>
        <p:spPr>
          <a:xfrm>
            <a:off x="640080" y="1691640"/>
            <a:ext cx="10908792" cy="1280160"/>
          </a:xfrm>
          <a:prstGeom prst="roundRect">
            <a:avLst>
              <a:gd name="adj" fmla="val 8571"/>
            </a:avLst>
          </a:prstGeom>
          <a:solidFill>
            <a:srgbClr val="3D3308"/>
          </a:solidFill>
          <a:ln/>
        </p:spPr>
      </p:sp>
      <p:sp>
        <p:nvSpPr>
          <p:cNvPr id="5" name="Text 3"/>
          <p:cNvSpPr/>
          <p:nvPr/>
        </p:nvSpPr>
        <p:spPr>
          <a:xfrm>
            <a:off x="914400" y="1874520"/>
            <a:ext cx="10332720" cy="914400"/>
          </a:xfrm>
          <a:prstGeom prst="rect">
            <a:avLst/>
          </a:prstGeom>
          <a:noFill/>
          <a:ln/>
        </p:spPr>
        <p:txBody>
          <a:bodyPr wrap="square" lIns="0" tIns="0" rIns="0" bIns="0" rtlCol="0" anchor="ctr"/>
          <a:lstStyle/>
          <a:p>
            <a:pPr indent="0" marL="0">
              <a:buNone/>
            </a:pPr>
            <a:r>
              <a:rPr lang="en-US" sz="1600" dirty="0">
                <a:solidFill>
                  <a:srgbClr val="F1F5F9"/>
                </a:solidFill>
                <a:latin typeface="Calibri" pitchFamily="34" charset="0"/>
                <a:ea typeface="Calibri" pitchFamily="34" charset="-122"/>
                <a:cs typeface="Calibri" pitchFamily="34" charset="-120"/>
              </a:rPr>
              <a:t>You'll receive a short written specification (similar to our weekly lab briefs) describing a small class hierarchy, and you'll implement it directly, under time pressure, without internet access.</a:t>
            </a:r>
            <a:endParaRPr lang="en-US" sz="1600" dirty="0"/>
          </a:p>
        </p:txBody>
      </p:sp>
      <p:sp>
        <p:nvSpPr>
          <p:cNvPr id="6" name="Shape 4"/>
          <p:cNvSpPr/>
          <p:nvPr/>
        </p:nvSpPr>
        <p:spPr>
          <a:xfrm>
            <a:off x="640080" y="3200400"/>
            <a:ext cx="10972800" cy="3337560"/>
          </a:xfrm>
          <a:prstGeom prst="roundRect">
            <a:avLst>
              <a:gd name="adj" fmla="val 3288"/>
            </a:avLst>
          </a:prstGeom>
          <a:solidFill>
            <a:srgbClr val="141F33"/>
          </a:solidFill>
          <a:ln/>
        </p:spPr>
      </p:sp>
      <p:sp>
        <p:nvSpPr>
          <p:cNvPr id="7" name="Text 5"/>
          <p:cNvSpPr/>
          <p:nvPr/>
        </p:nvSpPr>
        <p:spPr>
          <a:xfrm>
            <a:off x="914400" y="3383280"/>
            <a:ext cx="10424160" cy="365760"/>
          </a:xfrm>
          <a:prstGeom prst="rect">
            <a:avLst/>
          </a:prstGeom>
          <a:noFill/>
          <a:ln/>
        </p:spPr>
        <p:txBody>
          <a:bodyPr wrap="square" lIns="0" tIns="0" rIns="0" bIns="0" rtlCol="0" anchor="ctr"/>
          <a:lstStyle/>
          <a:p>
            <a:pPr indent="0" marL="0">
              <a:buNone/>
            </a:pPr>
            <a:r>
              <a:rPr lang="en-US" sz="1400" b="1" dirty="0">
                <a:solidFill>
                  <a:srgbClr val="EAB308"/>
                </a:solidFill>
                <a:latin typeface="Calibri" pitchFamily="34" charset="0"/>
                <a:ea typeface="Calibri" pitchFamily="34" charset="-122"/>
                <a:cs typeface="Calibri" pitchFamily="34" charset="-120"/>
              </a:rPr>
              <a:t>What's typically expected</a:t>
            </a:r>
            <a:endParaRPr lang="en-US" sz="1400" dirty="0"/>
          </a:p>
        </p:txBody>
      </p:sp>
      <p:pic>
        <p:nvPicPr>
          <p:cNvPr id="8" name="Image 0" descr="preencoded.png">    </p:cNvPr>
          <p:cNvPicPr>
            <a:picLocks noChangeAspect="1"/>
          </p:cNvPicPr>
          <p:nvPr/>
        </p:nvPicPr>
        <p:blipFill>
          <a:blip r:embed="rId1"/>
          <a:stretch>
            <a:fillRect/>
          </a:stretch>
        </p:blipFill>
        <p:spPr>
          <a:xfrm>
            <a:off x="914400" y="3913632"/>
            <a:ext cx="201168" cy="201168"/>
          </a:xfrm>
          <a:prstGeom prst="rect">
            <a:avLst/>
          </a:prstGeom>
        </p:spPr>
      </p:pic>
      <p:sp>
        <p:nvSpPr>
          <p:cNvPr id="9" name="Text 6"/>
          <p:cNvSpPr/>
          <p:nvPr/>
        </p:nvSpPr>
        <p:spPr>
          <a:xfrm>
            <a:off x="1234440" y="383133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At least one base class and one or two subclasses, using proper inheritance and super()</a:t>
            </a:r>
            <a:endParaRPr lang="en-US" sz="1250" dirty="0"/>
          </a:p>
        </p:txBody>
      </p:sp>
      <p:pic>
        <p:nvPicPr>
          <p:cNvPr id="10" name="Image 1" descr="preencoded.png">    </p:cNvPr>
          <p:cNvPicPr>
            <a:picLocks noChangeAspect="1"/>
          </p:cNvPicPr>
          <p:nvPr/>
        </p:nvPicPr>
        <p:blipFill>
          <a:blip r:embed="rId2"/>
          <a:stretch>
            <a:fillRect/>
          </a:stretch>
        </p:blipFill>
        <p:spPr>
          <a:xfrm>
            <a:off x="914400" y="4721352"/>
            <a:ext cx="201168" cy="201168"/>
          </a:xfrm>
          <a:prstGeom prst="rect">
            <a:avLst/>
          </a:prstGeom>
        </p:spPr>
      </p:pic>
      <p:sp>
        <p:nvSpPr>
          <p:cNvPr id="11" name="Text 7"/>
          <p:cNvSpPr/>
          <p:nvPr/>
        </p:nvSpPr>
        <p:spPr>
          <a:xfrm>
            <a:off x="1234440" y="463905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At least one property with validation</a:t>
            </a:r>
            <a:endParaRPr lang="en-US" sz="1250" dirty="0"/>
          </a:p>
        </p:txBody>
      </p:sp>
      <p:pic>
        <p:nvPicPr>
          <p:cNvPr id="12" name="Image 2" descr="preencoded.png">    </p:cNvPr>
          <p:cNvPicPr>
            <a:picLocks noChangeAspect="1"/>
          </p:cNvPicPr>
          <p:nvPr/>
        </p:nvPicPr>
        <p:blipFill>
          <a:blip r:embed="rId3"/>
          <a:stretch>
            <a:fillRect/>
          </a:stretch>
        </p:blipFill>
        <p:spPr>
          <a:xfrm>
            <a:off x="914400" y="5529072"/>
            <a:ext cx="201168" cy="201168"/>
          </a:xfrm>
          <a:prstGeom prst="rect">
            <a:avLst/>
          </a:prstGeom>
        </p:spPr>
      </p:pic>
      <p:sp>
        <p:nvSpPr>
          <p:cNvPr id="13" name="Text 8"/>
          <p:cNvSpPr/>
          <p:nvPr/>
        </p:nvSpPr>
        <p:spPr>
          <a:xfrm>
            <a:off x="1234440" y="5446776"/>
            <a:ext cx="10104120" cy="807720"/>
          </a:xfrm>
          <a:prstGeom prst="rect">
            <a:avLst/>
          </a:prstGeom>
          <a:noFill/>
          <a:ln/>
        </p:spPr>
        <p:txBody>
          <a:bodyPr wrap="square" lIns="0" tIns="0" rIns="0" bIns="0" rtlCol="0" anchor="t"/>
          <a:lstStyle/>
          <a:p>
            <a:pPr indent="0" marL="0">
              <a:buNone/>
            </a:pPr>
            <a:r>
              <a:rPr lang="en-US" sz="1250" dirty="0">
                <a:solidFill>
                  <a:srgbClr val="F1F5F9"/>
                </a:solidFill>
                <a:latin typeface="Calibri" pitchFamily="34" charset="0"/>
                <a:ea typeface="Calibri" pitchFamily="34" charset="-122"/>
                <a:cs typeface="Calibri" pitchFamily="34" charset="-120"/>
              </a:rPr>
              <a:t>Correct use of self throughout, and no syntax errors that prevent the code from running</a:t>
            </a:r>
            <a:endParaRPr lang="en-US" sz="1250" dirty="0"/>
          </a:p>
        </p:txBody>
      </p:sp>
      <p:sp>
        <p:nvSpPr>
          <p:cNvPr id="14" name="Text 9"/>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5" name="Text 10"/>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Exam Format at a Glance</a:t>
            </a:r>
            <a:endParaRPr lang="en-US" sz="2600" dirty="0"/>
          </a:p>
        </p:txBody>
      </p:sp>
      <p:sp>
        <p:nvSpPr>
          <p:cNvPr id="3" name="Shape 1"/>
          <p:cNvSpPr/>
          <p:nvPr/>
        </p:nvSpPr>
        <p:spPr>
          <a:xfrm>
            <a:off x="640080" y="1691640"/>
            <a:ext cx="10908792" cy="777240"/>
          </a:xfrm>
          <a:prstGeom prst="roundRect">
            <a:avLst>
              <a:gd name="adj" fmla="val 11765"/>
            </a:avLst>
          </a:prstGeom>
          <a:solidFill>
            <a:srgbClr val="141F33"/>
          </a:solidFill>
          <a:ln/>
        </p:spPr>
      </p:sp>
      <p:pic>
        <p:nvPicPr>
          <p:cNvPr id="4" name="Image 0" descr="preencoded.png">    </p:cNvPr>
          <p:cNvPicPr>
            <a:picLocks noChangeAspect="1"/>
          </p:cNvPicPr>
          <p:nvPr/>
        </p:nvPicPr>
        <p:blipFill>
          <a:blip r:embed="rId1"/>
          <a:stretch>
            <a:fillRect/>
          </a:stretch>
        </p:blipFill>
        <p:spPr>
          <a:xfrm>
            <a:off x="868680" y="1933956"/>
            <a:ext cx="292608" cy="292608"/>
          </a:xfrm>
          <a:prstGeom prst="rect">
            <a:avLst/>
          </a:prstGeom>
        </p:spPr>
      </p:pic>
      <p:sp>
        <p:nvSpPr>
          <p:cNvPr id="5" name="Text 2"/>
          <p:cNvSpPr/>
          <p:nvPr/>
        </p:nvSpPr>
        <p:spPr>
          <a:xfrm>
            <a:off x="1417320" y="1691640"/>
            <a:ext cx="32918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Written section</a:t>
            </a:r>
            <a:endParaRPr lang="en-US" sz="1350" dirty="0"/>
          </a:p>
        </p:txBody>
      </p:sp>
      <p:sp>
        <p:nvSpPr>
          <p:cNvPr id="6" name="Text 3"/>
          <p:cNvSpPr/>
          <p:nvPr/>
        </p:nvSpPr>
        <p:spPr>
          <a:xfrm>
            <a:off x="4892040" y="1691640"/>
            <a:ext cx="59893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Definitions, short answer, and code-tracing questions covering Weeks 1–7</a:t>
            </a:r>
            <a:endParaRPr lang="en-US" sz="1200" dirty="0"/>
          </a:p>
        </p:txBody>
      </p:sp>
      <p:sp>
        <p:nvSpPr>
          <p:cNvPr id="7" name="Shape 4"/>
          <p:cNvSpPr/>
          <p:nvPr/>
        </p:nvSpPr>
        <p:spPr>
          <a:xfrm>
            <a:off x="640080" y="2606040"/>
            <a:ext cx="10908792" cy="777240"/>
          </a:xfrm>
          <a:prstGeom prst="roundRect">
            <a:avLst>
              <a:gd name="adj" fmla="val 11765"/>
            </a:avLst>
          </a:prstGeom>
          <a:solidFill>
            <a:srgbClr val="141F33"/>
          </a:solidFill>
          <a:ln/>
        </p:spPr>
      </p:sp>
      <p:pic>
        <p:nvPicPr>
          <p:cNvPr id="8" name="Image 1" descr="preencoded.png">    </p:cNvPr>
          <p:cNvPicPr>
            <a:picLocks noChangeAspect="1"/>
          </p:cNvPicPr>
          <p:nvPr/>
        </p:nvPicPr>
        <p:blipFill>
          <a:blip r:embed="rId2"/>
          <a:stretch>
            <a:fillRect/>
          </a:stretch>
        </p:blipFill>
        <p:spPr>
          <a:xfrm>
            <a:off x="868680" y="2848356"/>
            <a:ext cx="292608" cy="292608"/>
          </a:xfrm>
          <a:prstGeom prst="rect">
            <a:avLst/>
          </a:prstGeom>
        </p:spPr>
      </p:pic>
      <p:sp>
        <p:nvSpPr>
          <p:cNvPr id="9" name="Text 5"/>
          <p:cNvSpPr/>
          <p:nvPr/>
        </p:nvSpPr>
        <p:spPr>
          <a:xfrm>
            <a:off x="1417320" y="2606040"/>
            <a:ext cx="32918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Practical section</a:t>
            </a:r>
            <a:endParaRPr lang="en-US" sz="1350" dirty="0"/>
          </a:p>
        </p:txBody>
      </p:sp>
      <p:sp>
        <p:nvSpPr>
          <p:cNvPr id="10" name="Text 6"/>
          <p:cNvSpPr/>
          <p:nvPr/>
        </p:nvSpPr>
        <p:spPr>
          <a:xfrm>
            <a:off x="4892040" y="2606040"/>
            <a:ext cx="59893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Implement a small class hierarchy from a specification, similar to weekly labs</a:t>
            </a:r>
            <a:endParaRPr lang="en-US" sz="1200" dirty="0"/>
          </a:p>
        </p:txBody>
      </p:sp>
      <p:sp>
        <p:nvSpPr>
          <p:cNvPr id="11" name="Shape 7"/>
          <p:cNvSpPr/>
          <p:nvPr/>
        </p:nvSpPr>
        <p:spPr>
          <a:xfrm>
            <a:off x="640080" y="3520440"/>
            <a:ext cx="10908792" cy="777240"/>
          </a:xfrm>
          <a:prstGeom prst="roundRect">
            <a:avLst>
              <a:gd name="adj" fmla="val 11765"/>
            </a:avLst>
          </a:prstGeom>
          <a:solidFill>
            <a:srgbClr val="141F33"/>
          </a:solidFill>
          <a:ln/>
        </p:spPr>
      </p:sp>
      <p:pic>
        <p:nvPicPr>
          <p:cNvPr id="12" name="Image 2" descr="preencoded.png">    </p:cNvPr>
          <p:cNvPicPr>
            <a:picLocks noChangeAspect="1"/>
          </p:cNvPicPr>
          <p:nvPr/>
        </p:nvPicPr>
        <p:blipFill>
          <a:blip r:embed="rId3"/>
          <a:stretch>
            <a:fillRect/>
          </a:stretch>
        </p:blipFill>
        <p:spPr>
          <a:xfrm>
            <a:off x="868680" y="3762756"/>
            <a:ext cx="292608" cy="292608"/>
          </a:xfrm>
          <a:prstGeom prst="rect">
            <a:avLst/>
          </a:prstGeom>
        </p:spPr>
      </p:pic>
      <p:sp>
        <p:nvSpPr>
          <p:cNvPr id="13" name="Text 8"/>
          <p:cNvSpPr/>
          <p:nvPr/>
        </p:nvSpPr>
        <p:spPr>
          <a:xfrm>
            <a:off x="1417320" y="3520440"/>
            <a:ext cx="32918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Materials allowed</a:t>
            </a:r>
            <a:endParaRPr lang="en-US" sz="1350" dirty="0"/>
          </a:p>
        </p:txBody>
      </p:sp>
      <p:sp>
        <p:nvSpPr>
          <p:cNvPr id="14" name="Text 9"/>
          <p:cNvSpPr/>
          <p:nvPr/>
        </p:nvSpPr>
        <p:spPr>
          <a:xfrm>
            <a:off x="4892040" y="3520440"/>
            <a:ext cx="59893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Check with your instructor — typically closed-book for the written section</a:t>
            </a:r>
            <a:endParaRPr lang="en-US" sz="1200" dirty="0"/>
          </a:p>
        </p:txBody>
      </p:sp>
      <p:sp>
        <p:nvSpPr>
          <p:cNvPr id="15" name="Shape 10"/>
          <p:cNvSpPr/>
          <p:nvPr/>
        </p:nvSpPr>
        <p:spPr>
          <a:xfrm>
            <a:off x="640080" y="4434840"/>
            <a:ext cx="10908792" cy="777240"/>
          </a:xfrm>
          <a:prstGeom prst="roundRect">
            <a:avLst>
              <a:gd name="adj" fmla="val 11765"/>
            </a:avLst>
          </a:prstGeom>
          <a:solidFill>
            <a:srgbClr val="141F33"/>
          </a:solidFill>
          <a:ln/>
        </p:spPr>
      </p:sp>
      <p:pic>
        <p:nvPicPr>
          <p:cNvPr id="16" name="Image 3" descr="preencoded.png">    </p:cNvPr>
          <p:cNvPicPr>
            <a:picLocks noChangeAspect="1"/>
          </p:cNvPicPr>
          <p:nvPr/>
        </p:nvPicPr>
        <p:blipFill>
          <a:blip r:embed="rId4"/>
          <a:stretch>
            <a:fillRect/>
          </a:stretch>
        </p:blipFill>
        <p:spPr>
          <a:xfrm>
            <a:off x="868680" y="4677156"/>
            <a:ext cx="292608" cy="292608"/>
          </a:xfrm>
          <a:prstGeom prst="rect">
            <a:avLst/>
          </a:prstGeom>
        </p:spPr>
      </p:pic>
      <p:sp>
        <p:nvSpPr>
          <p:cNvPr id="17" name="Text 11"/>
          <p:cNvSpPr/>
          <p:nvPr/>
        </p:nvSpPr>
        <p:spPr>
          <a:xfrm>
            <a:off x="1417320" y="4434840"/>
            <a:ext cx="32918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Time budget</a:t>
            </a:r>
            <a:endParaRPr lang="en-US" sz="1350" dirty="0"/>
          </a:p>
        </p:txBody>
      </p:sp>
      <p:sp>
        <p:nvSpPr>
          <p:cNvPr id="18" name="Text 12"/>
          <p:cNvSpPr/>
          <p:nvPr/>
        </p:nvSpPr>
        <p:spPr>
          <a:xfrm>
            <a:off x="4892040" y="4434840"/>
            <a:ext cx="59893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Roughly split evenly between the two sections — pace yourself accordingly</a:t>
            </a:r>
            <a:endParaRPr lang="en-US" sz="1200" dirty="0"/>
          </a:p>
        </p:txBody>
      </p:sp>
      <p:sp>
        <p:nvSpPr>
          <p:cNvPr id="19"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20"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Study Tips for the Remaining Time</a:t>
            </a:r>
            <a:endParaRPr lang="en-US" sz="2600" dirty="0"/>
          </a:p>
        </p:txBody>
      </p:sp>
      <p:sp>
        <p:nvSpPr>
          <p:cNvPr id="3" name="Shape 1"/>
          <p:cNvSpPr/>
          <p:nvPr/>
        </p:nvSpPr>
        <p:spPr>
          <a:xfrm>
            <a:off x="640080" y="1691640"/>
            <a:ext cx="3544824" cy="3291840"/>
          </a:xfrm>
          <a:prstGeom prst="roundRect">
            <a:avLst>
              <a:gd name="adj" fmla="val 3333"/>
            </a:avLst>
          </a:prstGeom>
          <a:solidFill>
            <a:srgbClr val="3D3308"/>
          </a:solidFill>
          <a:ln/>
        </p:spPr>
      </p:sp>
      <p:sp>
        <p:nvSpPr>
          <p:cNvPr id="4" name="Shape 2"/>
          <p:cNvSpPr/>
          <p:nvPr/>
        </p:nvSpPr>
        <p:spPr>
          <a:xfrm>
            <a:off x="914400" y="1965960"/>
            <a:ext cx="640080" cy="640080"/>
          </a:xfrm>
          <a:prstGeom prst="ellipse">
            <a:avLst/>
          </a:prstGeom>
          <a:solidFill>
            <a:srgbClr val="1B2A45"/>
          </a:solidFill>
          <a:ln/>
        </p:spPr>
      </p:sp>
      <p:pic>
        <p:nvPicPr>
          <p:cNvPr id="5" name="Image 0" descr="preencoded.png">    </p:cNvPr>
          <p:cNvPicPr>
            <a:picLocks noChangeAspect="1"/>
          </p:cNvPicPr>
          <p:nvPr/>
        </p:nvPicPr>
        <p:blipFill>
          <a:blip r:embed="rId1"/>
          <a:stretch>
            <a:fillRect/>
          </a:stretch>
        </p:blipFill>
        <p:spPr>
          <a:xfrm>
            <a:off x="1069848" y="2121408"/>
            <a:ext cx="329184" cy="329184"/>
          </a:xfrm>
          <a:prstGeom prst="rect">
            <a:avLst/>
          </a:prstGeom>
        </p:spPr>
      </p:pic>
      <p:sp>
        <p:nvSpPr>
          <p:cNvPr id="6" name="Text 3"/>
          <p:cNvSpPr/>
          <p:nvPr/>
        </p:nvSpPr>
        <p:spPr>
          <a:xfrm>
            <a:off x="914400" y="2788920"/>
            <a:ext cx="2996184" cy="5486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Rewrite From Memory</a:t>
            </a:r>
            <a:endParaRPr lang="en-US" sz="1500" dirty="0"/>
          </a:p>
        </p:txBody>
      </p:sp>
      <p:sp>
        <p:nvSpPr>
          <p:cNvPr id="7" name="Text 4"/>
          <p:cNvSpPr/>
          <p:nvPr/>
        </p:nvSpPr>
        <p:spPr>
          <a:xfrm>
            <a:off x="914400" y="3383280"/>
            <a:ext cx="2996184" cy="146304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Close the notes and try writing a class with __init__, a property, and one overridden method from scratch</a:t>
            </a:r>
            <a:endParaRPr lang="en-US" sz="1150" dirty="0"/>
          </a:p>
        </p:txBody>
      </p:sp>
      <p:sp>
        <p:nvSpPr>
          <p:cNvPr id="8" name="Shape 5"/>
          <p:cNvSpPr/>
          <p:nvPr/>
        </p:nvSpPr>
        <p:spPr>
          <a:xfrm>
            <a:off x="4367784" y="1691640"/>
            <a:ext cx="3544824" cy="3291840"/>
          </a:xfrm>
          <a:prstGeom prst="roundRect">
            <a:avLst>
              <a:gd name="adj" fmla="val 3333"/>
            </a:avLst>
          </a:prstGeom>
          <a:solidFill>
            <a:srgbClr val="141F33"/>
          </a:solidFill>
          <a:ln/>
        </p:spPr>
      </p:sp>
      <p:sp>
        <p:nvSpPr>
          <p:cNvPr id="9" name="Shape 6"/>
          <p:cNvSpPr/>
          <p:nvPr/>
        </p:nvSpPr>
        <p:spPr>
          <a:xfrm>
            <a:off x="4642104" y="1965960"/>
            <a:ext cx="640080" cy="640080"/>
          </a:xfrm>
          <a:prstGeom prst="ellipse">
            <a:avLst/>
          </a:prstGeom>
          <a:solidFill>
            <a:srgbClr val="1B2A45"/>
          </a:solidFill>
          <a:ln/>
        </p:spPr>
      </p:sp>
      <p:pic>
        <p:nvPicPr>
          <p:cNvPr id="10" name="Image 1" descr="preencoded.png">    </p:cNvPr>
          <p:cNvPicPr>
            <a:picLocks noChangeAspect="1"/>
          </p:cNvPicPr>
          <p:nvPr/>
        </p:nvPicPr>
        <p:blipFill>
          <a:blip r:embed="rId2"/>
          <a:stretch>
            <a:fillRect/>
          </a:stretch>
        </p:blipFill>
        <p:spPr>
          <a:xfrm>
            <a:off x="4797552" y="2121408"/>
            <a:ext cx="329184" cy="329184"/>
          </a:xfrm>
          <a:prstGeom prst="rect">
            <a:avLst/>
          </a:prstGeom>
        </p:spPr>
      </p:pic>
      <p:sp>
        <p:nvSpPr>
          <p:cNvPr id="11" name="Text 7"/>
          <p:cNvSpPr/>
          <p:nvPr/>
        </p:nvSpPr>
        <p:spPr>
          <a:xfrm>
            <a:off x="4642104" y="2788920"/>
            <a:ext cx="2996184" cy="5486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Read Code, Predict Output</a:t>
            </a:r>
            <a:endParaRPr lang="en-US" sz="1500" dirty="0"/>
          </a:p>
        </p:txBody>
      </p:sp>
      <p:sp>
        <p:nvSpPr>
          <p:cNvPr id="12" name="Text 8"/>
          <p:cNvSpPr/>
          <p:nvPr/>
        </p:nvSpPr>
        <p:spPr>
          <a:xfrm>
            <a:off x="4642104" y="3383280"/>
            <a:ext cx="2996184" cy="146304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Practice tracing super() chains and polymorphic calls by hand before running them</a:t>
            </a:r>
            <a:endParaRPr lang="en-US" sz="1150" dirty="0"/>
          </a:p>
        </p:txBody>
      </p:sp>
      <p:sp>
        <p:nvSpPr>
          <p:cNvPr id="13" name="Shape 9"/>
          <p:cNvSpPr/>
          <p:nvPr/>
        </p:nvSpPr>
        <p:spPr>
          <a:xfrm>
            <a:off x="8095488" y="1691640"/>
            <a:ext cx="3544824" cy="3291840"/>
          </a:xfrm>
          <a:prstGeom prst="roundRect">
            <a:avLst>
              <a:gd name="adj" fmla="val 3333"/>
            </a:avLst>
          </a:prstGeom>
          <a:solidFill>
            <a:srgbClr val="141F33"/>
          </a:solidFill>
          <a:ln/>
        </p:spPr>
      </p:sp>
      <p:sp>
        <p:nvSpPr>
          <p:cNvPr id="14" name="Shape 10"/>
          <p:cNvSpPr/>
          <p:nvPr/>
        </p:nvSpPr>
        <p:spPr>
          <a:xfrm>
            <a:off x="8369808" y="1965960"/>
            <a:ext cx="640080" cy="640080"/>
          </a:xfrm>
          <a:prstGeom prst="ellipse">
            <a:avLst/>
          </a:prstGeom>
          <a:solidFill>
            <a:srgbClr val="1B2A45"/>
          </a:solidFill>
          <a:ln/>
        </p:spPr>
      </p:sp>
      <p:pic>
        <p:nvPicPr>
          <p:cNvPr id="15" name="Image 2" descr="preencoded.png">    </p:cNvPr>
          <p:cNvPicPr>
            <a:picLocks noChangeAspect="1"/>
          </p:cNvPicPr>
          <p:nvPr/>
        </p:nvPicPr>
        <p:blipFill>
          <a:blip r:embed="rId3"/>
          <a:stretch>
            <a:fillRect/>
          </a:stretch>
        </p:blipFill>
        <p:spPr>
          <a:xfrm>
            <a:off x="8525256" y="2121408"/>
            <a:ext cx="329184" cy="329184"/>
          </a:xfrm>
          <a:prstGeom prst="rect">
            <a:avLst/>
          </a:prstGeom>
        </p:spPr>
      </p:pic>
      <p:sp>
        <p:nvSpPr>
          <p:cNvPr id="16" name="Text 11"/>
          <p:cNvSpPr/>
          <p:nvPr/>
        </p:nvSpPr>
        <p:spPr>
          <a:xfrm>
            <a:off x="8369808" y="2788920"/>
            <a:ext cx="2996184" cy="548640"/>
          </a:xfrm>
          <a:prstGeom prst="rect">
            <a:avLst/>
          </a:prstGeom>
          <a:noFill/>
          <a:ln/>
        </p:spPr>
        <p:txBody>
          <a:bodyPr wrap="square" lIns="0" tIns="0" rIns="0" bIns="0" rtlCol="0" anchor="t"/>
          <a:lstStyle/>
          <a:p>
            <a:pPr indent="0" marL="0">
              <a:buNone/>
            </a:pPr>
            <a:r>
              <a:rPr lang="en-US" sz="1500" b="1" dirty="0">
                <a:solidFill>
                  <a:srgbClr val="F1F5F9"/>
                </a:solidFill>
                <a:latin typeface="Calibri" pitchFamily="34" charset="0"/>
                <a:ea typeface="Calibri" pitchFamily="34" charset="-122"/>
                <a:cs typeface="Calibri" pitchFamily="34" charset="-120"/>
              </a:rPr>
              <a:t>Redo Old Labs</a:t>
            </a:r>
            <a:endParaRPr lang="en-US" sz="1500" dirty="0"/>
          </a:p>
        </p:txBody>
      </p:sp>
      <p:sp>
        <p:nvSpPr>
          <p:cNvPr id="17" name="Text 12"/>
          <p:cNvSpPr/>
          <p:nvPr/>
        </p:nvSpPr>
        <p:spPr>
          <a:xfrm>
            <a:off x="8369808" y="3383280"/>
            <a:ext cx="2996184" cy="1463040"/>
          </a:xfrm>
          <a:prstGeom prst="rect">
            <a:avLst/>
          </a:prstGeom>
          <a:noFill/>
          <a:ln/>
        </p:spPr>
        <p:txBody>
          <a:bodyPr wrap="square" lIns="0" tIns="0" rIns="0" bIns="0" rtlCol="0" anchor="t"/>
          <a:lstStyle/>
          <a:p>
            <a:pPr indent="0" marL="0">
              <a:buNone/>
            </a:pPr>
            <a:r>
              <a:rPr lang="en-US" sz="1150" dirty="0">
                <a:solidFill>
                  <a:srgbClr val="94A3B8"/>
                </a:solidFill>
                <a:latin typeface="Calibri" pitchFamily="34" charset="0"/>
                <a:ea typeface="Calibri" pitchFamily="34" charset="-122"/>
                <a:cs typeface="Calibri" pitchFamily="34" charset="-120"/>
              </a:rPr>
              <a:t>Revisit BankAccount, Vehicle, and Payment System without looking at your original solutions</a:t>
            </a:r>
            <a:endParaRPr lang="en-US" sz="1150" dirty="0"/>
          </a:p>
        </p:txBody>
      </p:sp>
      <p:sp>
        <p:nvSpPr>
          <p:cNvPr id="18"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9"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Common Exam Mistakes to Avoid</a:t>
            </a:r>
            <a:endParaRPr lang="en-US" sz="2600" dirty="0"/>
          </a:p>
        </p:txBody>
      </p:sp>
      <p:sp>
        <p:nvSpPr>
          <p:cNvPr id="3" name="Shape 1"/>
          <p:cNvSpPr/>
          <p:nvPr/>
        </p:nvSpPr>
        <p:spPr>
          <a:xfrm>
            <a:off x="640080" y="1691640"/>
            <a:ext cx="10908792" cy="777240"/>
          </a:xfrm>
          <a:prstGeom prst="roundRect">
            <a:avLst>
              <a:gd name="adj" fmla="val 11765"/>
            </a:avLst>
          </a:prstGeom>
          <a:solidFill>
            <a:srgbClr val="141F33"/>
          </a:solidFill>
          <a:ln/>
        </p:spPr>
      </p:sp>
      <p:pic>
        <p:nvPicPr>
          <p:cNvPr id="4" name="Image 0" descr="preencoded.png">    </p:cNvPr>
          <p:cNvPicPr>
            <a:picLocks noChangeAspect="1"/>
          </p:cNvPicPr>
          <p:nvPr/>
        </p:nvPicPr>
        <p:blipFill>
          <a:blip r:embed="rId1"/>
          <a:stretch>
            <a:fillRect/>
          </a:stretch>
        </p:blipFill>
        <p:spPr>
          <a:xfrm>
            <a:off x="868680" y="1933956"/>
            <a:ext cx="292608" cy="292608"/>
          </a:xfrm>
          <a:prstGeom prst="rect">
            <a:avLst/>
          </a:prstGeom>
        </p:spPr>
      </p:pic>
      <p:sp>
        <p:nvSpPr>
          <p:cNvPr id="5" name="Text 2"/>
          <p:cNvSpPr/>
          <p:nvPr/>
        </p:nvSpPr>
        <p:spPr>
          <a:xfrm>
            <a:off x="1417320" y="16916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Forgetting self as the first parameter</a:t>
            </a:r>
            <a:endParaRPr lang="en-US" sz="1350" dirty="0"/>
          </a:p>
        </p:txBody>
      </p:sp>
      <p:sp>
        <p:nvSpPr>
          <p:cNvPr id="6" name="Text 3"/>
          <p:cNvSpPr/>
          <p:nvPr/>
        </p:nvSpPr>
        <p:spPr>
          <a:xfrm>
            <a:off x="5806440" y="16916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The single most common syntax error under time pressure — check every method definition</a:t>
            </a:r>
            <a:endParaRPr lang="en-US" sz="1200" dirty="0"/>
          </a:p>
        </p:txBody>
      </p:sp>
      <p:sp>
        <p:nvSpPr>
          <p:cNvPr id="7" name="Shape 4"/>
          <p:cNvSpPr/>
          <p:nvPr/>
        </p:nvSpPr>
        <p:spPr>
          <a:xfrm>
            <a:off x="640080" y="2606040"/>
            <a:ext cx="10908792" cy="777240"/>
          </a:xfrm>
          <a:prstGeom prst="roundRect">
            <a:avLst>
              <a:gd name="adj" fmla="val 11765"/>
            </a:avLst>
          </a:prstGeom>
          <a:solidFill>
            <a:srgbClr val="141F33"/>
          </a:solidFill>
          <a:ln/>
        </p:spPr>
      </p:sp>
      <p:pic>
        <p:nvPicPr>
          <p:cNvPr id="8" name="Image 1" descr="preencoded.png">    </p:cNvPr>
          <p:cNvPicPr>
            <a:picLocks noChangeAspect="1"/>
          </p:cNvPicPr>
          <p:nvPr/>
        </p:nvPicPr>
        <p:blipFill>
          <a:blip r:embed="rId2"/>
          <a:stretch>
            <a:fillRect/>
          </a:stretch>
        </p:blipFill>
        <p:spPr>
          <a:xfrm>
            <a:off x="868680" y="2848356"/>
            <a:ext cx="292608" cy="292608"/>
          </a:xfrm>
          <a:prstGeom prst="rect">
            <a:avLst/>
          </a:prstGeom>
        </p:spPr>
      </p:pic>
      <p:sp>
        <p:nvSpPr>
          <p:cNvPr id="9" name="Text 5"/>
          <p:cNvSpPr/>
          <p:nvPr/>
        </p:nvSpPr>
        <p:spPr>
          <a:xfrm>
            <a:off x="1417320" y="26060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Confusing @property with a regular method</a:t>
            </a:r>
            <a:endParaRPr lang="en-US" sz="1350" dirty="0"/>
          </a:p>
        </p:txBody>
      </p:sp>
      <p:sp>
        <p:nvSpPr>
          <p:cNvPr id="10" name="Text 6"/>
          <p:cNvSpPr/>
          <p:nvPr/>
        </p:nvSpPr>
        <p:spPr>
          <a:xfrm>
            <a:off x="5806440" y="26060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Remember: no parentheses when calling a property, and the setter needs @x.setter with the same method name</a:t>
            </a:r>
            <a:endParaRPr lang="en-US" sz="1200" dirty="0"/>
          </a:p>
        </p:txBody>
      </p:sp>
      <p:sp>
        <p:nvSpPr>
          <p:cNvPr id="11" name="Shape 7"/>
          <p:cNvSpPr/>
          <p:nvPr/>
        </p:nvSpPr>
        <p:spPr>
          <a:xfrm>
            <a:off x="640080" y="3520440"/>
            <a:ext cx="10908792" cy="777240"/>
          </a:xfrm>
          <a:prstGeom prst="roundRect">
            <a:avLst>
              <a:gd name="adj" fmla="val 11765"/>
            </a:avLst>
          </a:prstGeom>
          <a:solidFill>
            <a:srgbClr val="141F33"/>
          </a:solidFill>
          <a:ln/>
        </p:spPr>
      </p:sp>
      <p:pic>
        <p:nvPicPr>
          <p:cNvPr id="12" name="Image 2" descr="preencoded.png">    </p:cNvPr>
          <p:cNvPicPr>
            <a:picLocks noChangeAspect="1"/>
          </p:cNvPicPr>
          <p:nvPr/>
        </p:nvPicPr>
        <p:blipFill>
          <a:blip r:embed="rId3"/>
          <a:stretch>
            <a:fillRect/>
          </a:stretch>
        </p:blipFill>
        <p:spPr>
          <a:xfrm>
            <a:off x="868680" y="3762756"/>
            <a:ext cx="292608" cy="292608"/>
          </a:xfrm>
          <a:prstGeom prst="rect">
            <a:avLst/>
          </a:prstGeom>
        </p:spPr>
      </p:pic>
      <p:sp>
        <p:nvSpPr>
          <p:cNvPr id="13" name="Text 8"/>
          <p:cNvSpPr/>
          <p:nvPr/>
        </p:nvSpPr>
        <p:spPr>
          <a:xfrm>
            <a:off x="1417320" y="3520440"/>
            <a:ext cx="4206240" cy="777240"/>
          </a:xfrm>
          <a:prstGeom prst="rect">
            <a:avLst/>
          </a:prstGeom>
          <a:noFill/>
          <a:ln/>
        </p:spPr>
        <p:txBody>
          <a:bodyPr wrap="square" lIns="0" tIns="0" rIns="0" bIns="0" rtlCol="0" anchor="ctr"/>
          <a:lstStyle/>
          <a:p>
            <a:pPr indent="0" marL="0">
              <a:buNone/>
            </a:pPr>
            <a:r>
              <a:rPr lang="en-US" sz="1350" b="1" dirty="0">
                <a:solidFill>
                  <a:srgbClr val="F1F5F9"/>
                </a:solidFill>
                <a:latin typeface="Calibri" pitchFamily="34" charset="0"/>
                <a:ea typeface="Calibri" pitchFamily="34" charset="-122"/>
                <a:cs typeface="Calibri" pitchFamily="34" charset="-120"/>
              </a:rPr>
              <a:t>Skipping super().__init__() in a child class</a:t>
            </a:r>
            <a:endParaRPr lang="en-US" sz="1350" dirty="0"/>
          </a:p>
        </p:txBody>
      </p:sp>
      <p:sp>
        <p:nvSpPr>
          <p:cNvPr id="14" name="Text 9"/>
          <p:cNvSpPr/>
          <p:nvPr/>
        </p:nvSpPr>
        <p:spPr>
          <a:xfrm>
            <a:off x="5806440" y="3520440"/>
            <a:ext cx="507492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Leads to missing attributes and confusing AttributeError messages later in your own code</a:t>
            </a:r>
            <a:endParaRPr lang="en-US" sz="1200" dirty="0"/>
          </a:p>
        </p:txBody>
      </p:sp>
      <p:sp>
        <p:nvSpPr>
          <p:cNvPr id="15" name="Text 1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6" name="Text 1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3D3308"/>
          </a:solidFill>
          <a:ln/>
        </p:spPr>
      </p:sp>
      <p:pic>
        <p:nvPicPr>
          <p:cNvPr id="3" name="Image 0" descr="preencoded.png">    </p:cNvPr>
          <p:cNvPicPr>
            <a:picLocks noChangeAspect="1"/>
          </p:cNvPicPr>
          <p:nvPr/>
        </p:nvPicPr>
        <p:blipFill>
          <a:blip r:embed="rId1"/>
          <a:stretch>
            <a:fillRect/>
          </a:stretch>
        </p:blipFill>
        <p:spPr>
          <a:xfrm>
            <a:off x="640080" y="640080"/>
            <a:ext cx="502920" cy="502920"/>
          </a:xfrm>
          <a:prstGeom prst="rect">
            <a:avLst/>
          </a:prstGeom>
        </p:spPr>
      </p:pic>
      <p:sp>
        <p:nvSpPr>
          <p:cNvPr id="4" name="Text 1"/>
          <p:cNvSpPr/>
          <p:nvPr/>
        </p:nvSpPr>
        <p:spPr>
          <a:xfrm>
            <a:off x="1280160" y="658368"/>
            <a:ext cx="7315200" cy="457200"/>
          </a:xfrm>
          <a:prstGeom prst="rect">
            <a:avLst/>
          </a:prstGeom>
          <a:noFill/>
          <a:ln/>
        </p:spPr>
        <p:txBody>
          <a:bodyPr wrap="square" lIns="0" tIns="0" rIns="0" bIns="0" rtlCol="0" anchor="ctr"/>
          <a:lstStyle/>
          <a:p>
            <a:pPr indent="0" marL="0">
              <a:buNone/>
            </a:pPr>
            <a:r>
              <a:rPr lang="en-US" sz="1600" b="1" dirty="0">
                <a:solidFill>
                  <a:srgbClr val="EAB308"/>
                </a:solidFill>
                <a:latin typeface="Calibri" pitchFamily="34" charset="0"/>
                <a:ea typeface="Calibri" pitchFamily="34" charset="-122"/>
                <a:cs typeface="Calibri" pitchFamily="34" charset="-120"/>
              </a:rPr>
              <a:t>This Week's Lab</a:t>
            </a:r>
            <a:endParaRPr lang="en-US" sz="1600" dirty="0"/>
          </a:p>
        </p:txBody>
      </p:sp>
      <p:sp>
        <p:nvSpPr>
          <p:cNvPr id="5" name="Text 2"/>
          <p:cNvSpPr/>
          <p:nvPr/>
        </p:nvSpPr>
        <p:spPr>
          <a:xfrm>
            <a:off x="640080" y="1280160"/>
            <a:ext cx="10515600" cy="73152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How to Prepare This Week</a:t>
            </a:r>
            <a:endParaRPr lang="en-US" sz="2600" dirty="0"/>
          </a:p>
        </p:txBody>
      </p:sp>
      <p:sp>
        <p:nvSpPr>
          <p:cNvPr id="6" name="Shape 3"/>
          <p:cNvSpPr/>
          <p:nvPr/>
        </p:nvSpPr>
        <p:spPr>
          <a:xfrm>
            <a:off x="640080" y="2194560"/>
            <a:ext cx="10908792" cy="548640"/>
          </a:xfrm>
          <a:prstGeom prst="roundRect">
            <a:avLst>
              <a:gd name="adj" fmla="val 13333"/>
            </a:avLst>
          </a:prstGeom>
          <a:solidFill>
            <a:srgbClr val="141F33"/>
          </a:solidFill>
          <a:ln/>
        </p:spPr>
      </p:sp>
      <p:pic>
        <p:nvPicPr>
          <p:cNvPr id="7" name="Image 1" descr="preencoded.png">    </p:cNvPr>
          <p:cNvPicPr>
            <a:picLocks noChangeAspect="1"/>
          </p:cNvPicPr>
          <p:nvPr/>
        </p:nvPicPr>
        <p:blipFill>
          <a:blip r:embed="rId2"/>
          <a:stretch>
            <a:fillRect/>
          </a:stretch>
        </p:blipFill>
        <p:spPr>
          <a:xfrm>
            <a:off x="868680" y="2340864"/>
            <a:ext cx="256032" cy="256032"/>
          </a:xfrm>
          <a:prstGeom prst="rect">
            <a:avLst/>
          </a:prstGeom>
        </p:spPr>
      </p:pic>
      <p:sp>
        <p:nvSpPr>
          <p:cNvPr id="8" name="Text 4"/>
          <p:cNvSpPr/>
          <p:nvPr/>
        </p:nvSpPr>
        <p:spPr>
          <a:xfrm>
            <a:off x="1280160" y="21945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Redo the terminology glossary from memory, then check it against this deck</a:t>
            </a:r>
            <a:endParaRPr lang="en-US" sz="1350" dirty="0"/>
          </a:p>
        </p:txBody>
      </p:sp>
      <p:sp>
        <p:nvSpPr>
          <p:cNvPr id="9" name="Shape 5"/>
          <p:cNvSpPr/>
          <p:nvPr/>
        </p:nvSpPr>
        <p:spPr>
          <a:xfrm>
            <a:off x="640080" y="2880360"/>
            <a:ext cx="10908792" cy="548640"/>
          </a:xfrm>
          <a:prstGeom prst="roundRect">
            <a:avLst>
              <a:gd name="adj" fmla="val 13333"/>
            </a:avLst>
          </a:prstGeom>
          <a:solidFill>
            <a:srgbClr val="141F33"/>
          </a:solidFill>
          <a:ln/>
        </p:spPr>
      </p:sp>
      <p:pic>
        <p:nvPicPr>
          <p:cNvPr id="10" name="Image 2" descr="preencoded.png">    </p:cNvPr>
          <p:cNvPicPr>
            <a:picLocks noChangeAspect="1"/>
          </p:cNvPicPr>
          <p:nvPr/>
        </p:nvPicPr>
        <p:blipFill>
          <a:blip r:embed="rId3"/>
          <a:stretch>
            <a:fillRect/>
          </a:stretch>
        </p:blipFill>
        <p:spPr>
          <a:xfrm>
            <a:off x="868680" y="3026664"/>
            <a:ext cx="256032" cy="256032"/>
          </a:xfrm>
          <a:prstGeom prst="rect">
            <a:avLst/>
          </a:prstGeom>
        </p:spPr>
      </p:pic>
      <p:sp>
        <p:nvSpPr>
          <p:cNvPr id="11" name="Text 6"/>
          <p:cNvSpPr/>
          <p:nvPr/>
        </p:nvSpPr>
        <p:spPr>
          <a:xfrm>
            <a:off x="1280160" y="28803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Trace through 3–4 short code snippets by hand before running them</a:t>
            </a:r>
            <a:endParaRPr lang="en-US" sz="1350" dirty="0"/>
          </a:p>
        </p:txBody>
      </p:sp>
      <p:sp>
        <p:nvSpPr>
          <p:cNvPr id="12" name="Shape 7"/>
          <p:cNvSpPr/>
          <p:nvPr/>
        </p:nvSpPr>
        <p:spPr>
          <a:xfrm>
            <a:off x="640080" y="3566160"/>
            <a:ext cx="10908792" cy="548640"/>
          </a:xfrm>
          <a:prstGeom prst="roundRect">
            <a:avLst>
              <a:gd name="adj" fmla="val 13333"/>
            </a:avLst>
          </a:prstGeom>
          <a:solidFill>
            <a:srgbClr val="141F33"/>
          </a:solidFill>
          <a:ln/>
        </p:spPr>
      </p:sp>
      <p:pic>
        <p:nvPicPr>
          <p:cNvPr id="13" name="Image 3" descr="preencoded.png">    </p:cNvPr>
          <p:cNvPicPr>
            <a:picLocks noChangeAspect="1"/>
          </p:cNvPicPr>
          <p:nvPr/>
        </p:nvPicPr>
        <p:blipFill>
          <a:blip r:embed="rId4"/>
          <a:stretch>
            <a:fillRect/>
          </a:stretch>
        </p:blipFill>
        <p:spPr>
          <a:xfrm>
            <a:off x="868680" y="3712464"/>
            <a:ext cx="256032" cy="256032"/>
          </a:xfrm>
          <a:prstGeom prst="rect">
            <a:avLst/>
          </a:prstGeom>
        </p:spPr>
      </p:pic>
      <p:sp>
        <p:nvSpPr>
          <p:cNvPr id="14" name="Text 8"/>
          <p:cNvSpPr/>
          <p:nvPr/>
        </p:nvSpPr>
        <p:spPr>
          <a:xfrm>
            <a:off x="1280160" y="35661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Rebuild one class hierarchy (e.g. Vehicle or Shape) completely from scratch, no notes</a:t>
            </a:r>
            <a:endParaRPr lang="en-US" sz="1350" dirty="0"/>
          </a:p>
        </p:txBody>
      </p:sp>
      <p:sp>
        <p:nvSpPr>
          <p:cNvPr id="15" name="Shape 9"/>
          <p:cNvSpPr/>
          <p:nvPr/>
        </p:nvSpPr>
        <p:spPr>
          <a:xfrm>
            <a:off x="640080" y="4251960"/>
            <a:ext cx="10908792" cy="548640"/>
          </a:xfrm>
          <a:prstGeom prst="roundRect">
            <a:avLst>
              <a:gd name="adj" fmla="val 13333"/>
            </a:avLst>
          </a:prstGeom>
          <a:solidFill>
            <a:srgbClr val="141F33"/>
          </a:solidFill>
          <a:ln/>
        </p:spPr>
      </p:sp>
      <p:pic>
        <p:nvPicPr>
          <p:cNvPr id="16" name="Image 4" descr="preencoded.png">    </p:cNvPr>
          <p:cNvPicPr>
            <a:picLocks noChangeAspect="1"/>
          </p:cNvPicPr>
          <p:nvPr/>
        </p:nvPicPr>
        <p:blipFill>
          <a:blip r:embed="rId5"/>
          <a:stretch>
            <a:fillRect/>
          </a:stretch>
        </p:blipFill>
        <p:spPr>
          <a:xfrm>
            <a:off x="868680" y="4398264"/>
            <a:ext cx="256032" cy="256032"/>
          </a:xfrm>
          <a:prstGeom prst="rect">
            <a:avLst/>
          </a:prstGeom>
        </p:spPr>
      </p:pic>
      <p:sp>
        <p:nvSpPr>
          <p:cNvPr id="17" name="Text 10"/>
          <p:cNvSpPr/>
          <p:nvPr/>
        </p:nvSpPr>
        <p:spPr>
          <a:xfrm>
            <a:off x="1280160" y="42519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Time yourself writing a small class with a property and one overridden method — aim for under 10 minutes</a:t>
            </a:r>
            <a:endParaRPr lang="en-US" sz="1350" dirty="0"/>
          </a:p>
        </p:txBody>
      </p:sp>
      <p:sp>
        <p:nvSpPr>
          <p:cNvPr id="18" name="Shape 11"/>
          <p:cNvSpPr/>
          <p:nvPr/>
        </p:nvSpPr>
        <p:spPr>
          <a:xfrm>
            <a:off x="640080" y="4937760"/>
            <a:ext cx="10908792" cy="548640"/>
          </a:xfrm>
          <a:prstGeom prst="roundRect">
            <a:avLst>
              <a:gd name="adj" fmla="val 13333"/>
            </a:avLst>
          </a:prstGeom>
          <a:solidFill>
            <a:srgbClr val="141F33"/>
          </a:solidFill>
          <a:ln/>
        </p:spPr>
      </p:sp>
      <p:pic>
        <p:nvPicPr>
          <p:cNvPr id="19" name="Image 5" descr="preencoded.png">    </p:cNvPr>
          <p:cNvPicPr>
            <a:picLocks noChangeAspect="1"/>
          </p:cNvPicPr>
          <p:nvPr/>
        </p:nvPicPr>
        <p:blipFill>
          <a:blip r:embed="rId6"/>
          <a:stretch>
            <a:fillRect/>
          </a:stretch>
        </p:blipFill>
        <p:spPr>
          <a:xfrm>
            <a:off x="868680" y="5084064"/>
            <a:ext cx="256032" cy="256032"/>
          </a:xfrm>
          <a:prstGeom prst="rect">
            <a:avLst/>
          </a:prstGeom>
        </p:spPr>
      </p:pic>
      <p:sp>
        <p:nvSpPr>
          <p:cNvPr id="20" name="Text 12"/>
          <p:cNvSpPr/>
          <p:nvPr/>
        </p:nvSpPr>
        <p:spPr>
          <a:xfrm>
            <a:off x="1280160" y="4937760"/>
            <a:ext cx="10058400" cy="54864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List your two weakest topics and review those lab notebooks one more time</a:t>
            </a:r>
            <a:endParaRPr lang="en-US" sz="1350" dirty="0"/>
          </a:p>
        </p:txBody>
      </p:sp>
      <p:sp>
        <p:nvSpPr>
          <p:cNvPr id="21" name="Text 1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22" name="Text 1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Key Takeaways</a:t>
            </a:r>
            <a:endParaRPr lang="en-US" sz="2600" dirty="0"/>
          </a:p>
        </p:txBody>
      </p:sp>
      <p:pic>
        <p:nvPicPr>
          <p:cNvPr id="3" name="Image 0" descr="preencoded.png">    </p:cNvPr>
          <p:cNvPicPr>
            <a:picLocks noChangeAspect="1"/>
          </p:cNvPicPr>
          <p:nvPr/>
        </p:nvPicPr>
        <p:blipFill>
          <a:blip r:embed="rId1"/>
          <a:stretch>
            <a:fillRect/>
          </a:stretch>
        </p:blipFill>
        <p:spPr>
          <a:xfrm>
            <a:off x="640080" y="1746504"/>
            <a:ext cx="274320" cy="274320"/>
          </a:xfrm>
          <a:prstGeom prst="rect">
            <a:avLst/>
          </a:prstGeom>
        </p:spPr>
      </p:pic>
      <p:sp>
        <p:nvSpPr>
          <p:cNvPr id="4" name="Text 1"/>
          <p:cNvSpPr/>
          <p:nvPr/>
        </p:nvSpPr>
        <p:spPr>
          <a:xfrm>
            <a:off x="1097280" y="1691640"/>
            <a:ext cx="10424160" cy="102870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Weeks 1–3 built the foundation: why OOP exists, and how classes, objects, and methods work</a:t>
            </a:r>
            <a:endParaRPr lang="en-US" sz="1350" dirty="0"/>
          </a:p>
        </p:txBody>
      </p:sp>
      <p:pic>
        <p:nvPicPr>
          <p:cNvPr id="5" name="Image 1" descr="preencoded.png">    </p:cNvPr>
          <p:cNvPicPr>
            <a:picLocks noChangeAspect="1"/>
          </p:cNvPicPr>
          <p:nvPr/>
        </p:nvPicPr>
        <p:blipFill>
          <a:blip r:embed="rId2"/>
          <a:stretch>
            <a:fillRect/>
          </a:stretch>
        </p:blipFill>
        <p:spPr>
          <a:xfrm>
            <a:off x="640080" y="2820924"/>
            <a:ext cx="274320" cy="274320"/>
          </a:xfrm>
          <a:prstGeom prst="rect">
            <a:avLst/>
          </a:prstGeom>
        </p:spPr>
      </p:pic>
      <p:sp>
        <p:nvSpPr>
          <p:cNvPr id="6" name="Text 2"/>
          <p:cNvSpPr/>
          <p:nvPr/>
        </p:nvSpPr>
        <p:spPr>
          <a:xfrm>
            <a:off x="1097280" y="2766060"/>
            <a:ext cx="10424160" cy="102870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Weeks 4–7 built the four pillars: encapsulation, inheritance, polymorphism, and abstraction</a:t>
            </a:r>
            <a:endParaRPr lang="en-US" sz="1350" dirty="0"/>
          </a:p>
        </p:txBody>
      </p:sp>
      <p:pic>
        <p:nvPicPr>
          <p:cNvPr id="7" name="Image 2" descr="preencoded.png">    </p:cNvPr>
          <p:cNvPicPr>
            <a:picLocks noChangeAspect="1"/>
          </p:cNvPicPr>
          <p:nvPr/>
        </p:nvPicPr>
        <p:blipFill>
          <a:blip r:embed="rId3"/>
          <a:stretch>
            <a:fillRect/>
          </a:stretch>
        </p:blipFill>
        <p:spPr>
          <a:xfrm>
            <a:off x="640080" y="3895344"/>
            <a:ext cx="274320" cy="274320"/>
          </a:xfrm>
          <a:prstGeom prst="rect">
            <a:avLst/>
          </a:prstGeom>
        </p:spPr>
      </p:pic>
      <p:sp>
        <p:nvSpPr>
          <p:cNvPr id="8" name="Text 3"/>
          <p:cNvSpPr/>
          <p:nvPr/>
        </p:nvSpPr>
        <p:spPr>
          <a:xfrm>
            <a:off x="1097280" y="3840480"/>
            <a:ext cx="10424160" cy="102870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Every pillar solved a specific, concrete problem — being able to explain which problem is as important as the syntax</a:t>
            </a:r>
            <a:endParaRPr lang="en-US" sz="1350" dirty="0"/>
          </a:p>
        </p:txBody>
      </p:sp>
      <p:pic>
        <p:nvPicPr>
          <p:cNvPr id="9" name="Image 3" descr="preencoded.png">    </p:cNvPr>
          <p:cNvPicPr>
            <a:picLocks noChangeAspect="1"/>
          </p:cNvPicPr>
          <p:nvPr/>
        </p:nvPicPr>
        <p:blipFill>
          <a:blip r:embed="rId4"/>
          <a:stretch>
            <a:fillRect/>
          </a:stretch>
        </p:blipFill>
        <p:spPr>
          <a:xfrm>
            <a:off x="640080" y="4969764"/>
            <a:ext cx="274320" cy="274320"/>
          </a:xfrm>
          <a:prstGeom prst="rect">
            <a:avLst/>
          </a:prstGeom>
        </p:spPr>
      </p:pic>
      <p:sp>
        <p:nvSpPr>
          <p:cNvPr id="10" name="Text 4"/>
          <p:cNvSpPr/>
          <p:nvPr/>
        </p:nvSpPr>
        <p:spPr>
          <a:xfrm>
            <a:off x="1097280" y="4914900"/>
            <a:ext cx="10424160" cy="1028700"/>
          </a:xfrm>
          <a:prstGeom prst="rect">
            <a:avLst/>
          </a:prstGeom>
          <a:noFill/>
          <a:ln/>
        </p:spPr>
        <p:txBody>
          <a:bodyPr wrap="square" lIns="0" tIns="0" rIns="0" bIns="0" rtlCol="0" anchor="ctr"/>
          <a:lstStyle/>
          <a:p>
            <a:pPr indent="0" marL="0">
              <a:buNone/>
            </a:pPr>
            <a:r>
              <a:rPr lang="en-US" sz="1350" dirty="0">
                <a:solidFill>
                  <a:srgbClr val="F1F5F9"/>
                </a:solidFill>
                <a:latin typeface="Calibri" pitchFamily="34" charset="0"/>
                <a:ea typeface="Calibri" pitchFamily="34" charset="-122"/>
                <a:cs typeface="Calibri" pitchFamily="34" charset="-120"/>
              </a:rPr>
              <a:t>The practical exam rewards the same habits as our weekly labs: read the spec carefully, build incrementally, test as you go</a:t>
            </a:r>
            <a:endParaRPr lang="en-US" sz="1350" dirty="0"/>
          </a:p>
        </p:txBody>
      </p:sp>
      <p:sp>
        <p:nvSpPr>
          <p:cNvPr id="11" name="Text 5"/>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2" name="Text 6"/>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40080" y="457200"/>
            <a:ext cx="10881360" cy="594360"/>
          </a:xfrm>
          <a:prstGeom prst="rect">
            <a:avLst/>
          </a:prstGeom>
          <a:noFill/>
          <a:ln/>
        </p:spPr>
        <p:txBody>
          <a:bodyPr wrap="square" lIns="0" tIns="0" rIns="0" bIns="0"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Next Week: Composition and Aggregation</a:t>
            </a:r>
            <a:endParaRPr lang="en-US" sz="2600" dirty="0"/>
          </a:p>
        </p:txBody>
      </p:sp>
      <p:sp>
        <p:nvSpPr>
          <p:cNvPr id="3" name="Shape 1"/>
          <p:cNvSpPr/>
          <p:nvPr/>
        </p:nvSpPr>
        <p:spPr>
          <a:xfrm>
            <a:off x="640080" y="1600200"/>
            <a:ext cx="10972800" cy="4206240"/>
          </a:xfrm>
          <a:prstGeom prst="roundRect">
            <a:avLst>
              <a:gd name="adj" fmla="val 2609"/>
            </a:avLst>
          </a:prstGeom>
          <a:solidFill>
            <a:srgbClr val="EAB308"/>
          </a:solidFill>
          <a:ln/>
        </p:spPr>
      </p:sp>
      <p:sp>
        <p:nvSpPr>
          <p:cNvPr id="4" name="Text 2"/>
          <p:cNvSpPr/>
          <p:nvPr/>
        </p:nvSpPr>
        <p:spPr>
          <a:xfrm>
            <a:off x="914400" y="1828800"/>
            <a:ext cx="4572000" cy="365760"/>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Week 9</a:t>
            </a:r>
            <a:endParaRPr lang="en-US" sz="1400" dirty="0"/>
          </a:p>
        </p:txBody>
      </p:sp>
      <p:sp>
        <p:nvSpPr>
          <p:cNvPr id="5" name="Text 3"/>
          <p:cNvSpPr/>
          <p:nvPr/>
        </p:nvSpPr>
        <p:spPr>
          <a:xfrm>
            <a:off x="914400" y="2194560"/>
            <a:ext cx="9144000" cy="548640"/>
          </a:xfrm>
          <a:prstGeom prst="rect">
            <a:avLst/>
          </a:prstGeom>
          <a:noFill/>
          <a:ln/>
        </p:spPr>
        <p:txBody>
          <a:bodyPr wrap="square" lIns="0" tIns="0" rIns="0" bIns="0" rtlCol="0" anchor="ctr"/>
          <a:lstStyle/>
          <a:p>
            <a:pPr indent="0" marL="0">
              <a:buNone/>
            </a:pPr>
            <a:r>
              <a:rPr lang="en-US" sz="2400" b="1" dirty="0">
                <a:solidFill>
                  <a:srgbClr val="0B1220"/>
                </a:solidFill>
                <a:latin typeface="Calibri" pitchFamily="34" charset="0"/>
                <a:ea typeface="Calibri" pitchFamily="34" charset="-122"/>
                <a:cs typeface="Calibri" pitchFamily="34" charset="-120"/>
              </a:rPr>
              <a:t>Composition and Aggregation</a:t>
            </a:r>
            <a:endParaRPr lang="en-US" sz="2400" dirty="0"/>
          </a:p>
        </p:txBody>
      </p:sp>
      <p:sp>
        <p:nvSpPr>
          <p:cNvPr id="6" name="Shape 4"/>
          <p:cNvSpPr/>
          <p:nvPr/>
        </p:nvSpPr>
        <p:spPr>
          <a:xfrm>
            <a:off x="914400" y="2971800"/>
            <a:ext cx="10424160" cy="525780"/>
          </a:xfrm>
          <a:prstGeom prst="roundRect">
            <a:avLst>
              <a:gd name="adj" fmla="val 13913"/>
            </a:avLst>
          </a:prstGeom>
          <a:solidFill>
            <a:srgbClr val="FFFFFF">
              <a:alpha val="15000"/>
            </a:srgbClr>
          </a:solidFill>
          <a:ln/>
        </p:spPr>
      </p:sp>
      <p:sp>
        <p:nvSpPr>
          <p:cNvPr id="7" name="Text 5"/>
          <p:cNvSpPr/>
          <p:nvPr/>
        </p:nvSpPr>
        <p:spPr>
          <a:xfrm>
            <a:off x="1143000" y="297180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“Has-a” relationships, as a complement to inheritance's “is-a”</a:t>
            </a:r>
            <a:endParaRPr lang="en-US" sz="1300" dirty="0"/>
          </a:p>
        </p:txBody>
      </p:sp>
      <p:sp>
        <p:nvSpPr>
          <p:cNvPr id="8" name="Shape 6"/>
          <p:cNvSpPr/>
          <p:nvPr/>
        </p:nvSpPr>
        <p:spPr>
          <a:xfrm>
            <a:off x="914400" y="3634740"/>
            <a:ext cx="10424160" cy="525780"/>
          </a:xfrm>
          <a:prstGeom prst="roundRect">
            <a:avLst>
              <a:gd name="adj" fmla="val 13913"/>
            </a:avLst>
          </a:prstGeom>
          <a:solidFill>
            <a:srgbClr val="FFFFFF">
              <a:alpha val="15000"/>
            </a:srgbClr>
          </a:solidFill>
          <a:ln/>
        </p:spPr>
      </p:sp>
      <p:sp>
        <p:nvSpPr>
          <p:cNvPr id="9" name="Text 7"/>
          <p:cNvSpPr/>
          <p:nvPr/>
        </p:nvSpPr>
        <p:spPr>
          <a:xfrm>
            <a:off x="1143000" y="363474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When composition is the better design choice over inheritance</a:t>
            </a:r>
            <a:endParaRPr lang="en-US" sz="1300" dirty="0"/>
          </a:p>
        </p:txBody>
      </p:sp>
      <p:sp>
        <p:nvSpPr>
          <p:cNvPr id="10" name="Shape 8"/>
          <p:cNvSpPr/>
          <p:nvPr/>
        </p:nvSpPr>
        <p:spPr>
          <a:xfrm>
            <a:off x="914400" y="4297680"/>
            <a:ext cx="10424160" cy="525780"/>
          </a:xfrm>
          <a:prstGeom prst="roundRect">
            <a:avLst>
              <a:gd name="adj" fmla="val 13913"/>
            </a:avLst>
          </a:prstGeom>
          <a:solidFill>
            <a:srgbClr val="FFFFFF">
              <a:alpha val="15000"/>
            </a:srgbClr>
          </a:solidFill>
          <a:ln/>
        </p:spPr>
      </p:sp>
      <p:sp>
        <p:nvSpPr>
          <p:cNvPr id="11" name="Text 9"/>
          <p:cNvSpPr/>
          <p:nvPr/>
        </p:nvSpPr>
        <p:spPr>
          <a:xfrm>
            <a:off x="1143000" y="429768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Lab: a University Management System (Department, Student, Instructor)</a:t>
            </a:r>
            <a:endParaRPr lang="en-US" sz="1300" dirty="0"/>
          </a:p>
        </p:txBody>
      </p:sp>
      <p:sp>
        <p:nvSpPr>
          <p:cNvPr id="12" name="Shape 10"/>
          <p:cNvSpPr/>
          <p:nvPr/>
        </p:nvSpPr>
        <p:spPr>
          <a:xfrm>
            <a:off x="914400" y="4960620"/>
            <a:ext cx="10424160" cy="525780"/>
          </a:xfrm>
          <a:prstGeom prst="roundRect">
            <a:avLst>
              <a:gd name="adj" fmla="val 13913"/>
            </a:avLst>
          </a:prstGeom>
          <a:solidFill>
            <a:srgbClr val="FFFFFF">
              <a:alpha val="15000"/>
            </a:srgbClr>
          </a:solidFill>
          <a:ln/>
        </p:spPr>
      </p:sp>
      <p:sp>
        <p:nvSpPr>
          <p:cNvPr id="13" name="Text 11"/>
          <p:cNvSpPr/>
          <p:nvPr/>
        </p:nvSpPr>
        <p:spPr>
          <a:xfrm>
            <a:off x="1143000" y="4960620"/>
            <a:ext cx="10058400" cy="525780"/>
          </a:xfrm>
          <a:prstGeom prst="rect">
            <a:avLst/>
          </a:prstGeom>
          <a:noFill/>
          <a:ln/>
        </p:spPr>
        <p:txBody>
          <a:bodyPr wrap="square" lIns="0" tIns="0" rIns="0" bIns="0" rtlCol="0" anchor="ctr"/>
          <a:lstStyle/>
          <a:p>
            <a:pPr indent="0" marL="0">
              <a:buNone/>
            </a:pPr>
            <a:r>
              <a:rPr lang="en-US" sz="1300" dirty="0">
                <a:solidFill>
                  <a:srgbClr val="0B1220"/>
                </a:solidFill>
                <a:latin typeface="Calibri" pitchFamily="34" charset="0"/>
                <a:ea typeface="Calibri" pitchFamily="34" charset="-122"/>
                <a:cs typeface="Calibri" pitchFamily="34" charset="-120"/>
              </a:rPr>
              <a:t>New material resumes — the midterm covers everything up through today</a:t>
            </a:r>
            <a:endParaRPr lang="en-US" sz="13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15"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03920" y="-2286000"/>
            <a:ext cx="6400800" cy="6400800"/>
          </a:xfrm>
          <a:prstGeom prst="ellipse">
            <a:avLst/>
          </a:prstGeom>
          <a:solidFill>
            <a:srgbClr val="3D3308">
              <a:alpha val="60000"/>
            </a:srgbClr>
          </a:solidFill>
          <a:ln/>
        </p:spPr>
      </p:sp>
      <p:sp>
        <p:nvSpPr>
          <p:cNvPr id="3" name="Text 1"/>
          <p:cNvSpPr/>
          <p:nvPr/>
        </p:nvSpPr>
        <p:spPr>
          <a:xfrm>
            <a:off x="731520" y="2651760"/>
            <a:ext cx="7315200" cy="914400"/>
          </a:xfrm>
          <a:prstGeom prst="rect">
            <a:avLst/>
          </a:prstGeom>
          <a:noFill/>
          <a:ln/>
        </p:spPr>
        <p:txBody>
          <a:bodyPr wrap="square" lIns="0" tIns="0" rIns="0" bIns="0" rtlCol="0" anchor="ctr"/>
          <a:lstStyle/>
          <a:p>
            <a:pPr indent="0" marL="0">
              <a:buNone/>
            </a:pPr>
            <a:r>
              <a:rPr lang="en-US" sz="4400" b="1" dirty="0">
                <a:solidFill>
                  <a:srgbClr val="F1F5F9"/>
                </a:solidFill>
                <a:latin typeface="Calibri" pitchFamily="34" charset="0"/>
                <a:ea typeface="Calibri" pitchFamily="34" charset="-122"/>
                <a:cs typeface="Calibri" pitchFamily="34" charset="-120"/>
              </a:rPr>
              <a:t>Good Luck!</a:t>
            </a:r>
            <a:endParaRPr lang="en-US" sz="4400" dirty="0"/>
          </a:p>
        </p:txBody>
      </p:sp>
      <p:sp>
        <p:nvSpPr>
          <p:cNvPr id="4" name="Text 2"/>
          <p:cNvSpPr/>
          <p:nvPr/>
        </p:nvSpPr>
        <p:spPr>
          <a:xfrm>
            <a:off x="731520" y="3566160"/>
            <a:ext cx="8686800" cy="64008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Office hours are open before the exam — bring specific questions, not just “can you review everything again.”</a:t>
            </a:r>
            <a:endParaRPr lang="en-US" sz="15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UYG203 · Object Oriented Programming · Week 8</a:t>
            </a:r>
            <a:endParaRPr lang="en-US" sz="1000" dirty="0"/>
          </a:p>
        </p:txBody>
      </p:sp>
      <p:sp>
        <p:nvSpPr>
          <p:cNvPr id="6"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2026-08-25T10:11:39Z</dcterms:created>
  <dcterms:modified xsi:type="dcterms:W3CDTF">2026-08-25T10:11:39Z</dcterms:modified>
</cp:coreProperties>
</file>