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819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2A215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2A2154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Blueprints to Instances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established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code separates data and functions — this scales poorly as the number of “kinds of things” in a program grows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5069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16839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bundles state (attributes) with behavior (methods)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01421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an object is a specific instance built from that blueprint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4233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860036"/>
            <a:ext cx="10104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finally write class syntax and turn last week's Student tuples into a real class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— Week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class in Python using the class keyword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5059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of __init__() and write a working constructor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22783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self refers to, and why Python requires it explicitly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0507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instance attributes and class attributes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78231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independent objects from the same class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55955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avoid the most common beginner mistakes when defining classes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Syntax &amp; Anatomy (20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keyword, __init__(), and self, piece by piece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Blueprint to Instance (20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when you call Student("Ada", 92)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vs. Class Attributes (20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data a class can hold, and when to use each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Methods (15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objects behavior, and how methods differ from plain functions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(15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pitfalls almost everyone hits in their first week of classes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Student, Book, Product (50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three classes from scratch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CLASS SYNTAX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Class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51206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 = grade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print_report(self):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print(f"{self.name}: {self.grade}")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239512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74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piece by piece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048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232257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Student: — declares a new class named Student (PascalCase by convention)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278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314553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__init__(self, ...): — the constructor, run automatically when a new object is created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5079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396849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name — stores the passed-in value as an attribute on this specific object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87375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03720" y="479145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print_report(self): — an instance method; note it still takes self as its first parameter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Constructor: __init__()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Python calls automatically every time you create a new object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__init__ is for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initial state of a brand-new object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2783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1455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whatever arguments you pass when creating the object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9684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those values to attributes so the object can use them later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7375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79145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needs to return anything — it configures the object, it doesn't produce a result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15" name="Text 9"/>
          <p:cNvSpPr/>
          <p:nvPr/>
        </p:nvSpPr>
        <p:spPr>
          <a:xfrm>
            <a:off x="6382512" y="1801368"/>
            <a:ext cx="4983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 = grade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self.attendance = 1.0  # default value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Called automatically here: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92)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self, Really?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confusing — and most important — piece of syntax this week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1188720"/>
          </a:xfrm>
          <a:prstGeom prst="roundRect">
            <a:avLst>
              <a:gd name="adj" fmla="val 9231"/>
            </a:avLst>
          </a:prstGeom>
          <a:solidFill>
            <a:srgbClr val="2A215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is a reference to the specific object the method is being called on. Python passes it automatically — you never supply it yourself when calling the method.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0A0F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72968"/>
            <a:ext cx="512064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92)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mert = Student("Mert", 84)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ada.print_report()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translates this to: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Student.print_report(ada)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     ^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    this becomes 'self'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3063240"/>
            <a:ext cx="5239512" cy="2834640"/>
          </a:xfrm>
          <a:prstGeom prst="roundRect">
            <a:avLst>
              <a:gd name="adj" fmla="val 3871"/>
            </a:avLst>
          </a:prstGeom>
          <a:solidFill>
            <a:srgbClr val="141F3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246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7647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3694176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is how a method knows which object's attributes to read or change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41655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4334256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print_report() would have no way to know whether to print Ada's data or Mert's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05663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4974336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“self” is a convention, not a keyword — but never rename it, every Python developer expects it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BLUEPRINT TO INSTANCE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Our First Real Class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rebuild Week 1's procedural Student example — this time as a class.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51206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grade, attendance):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 = grade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self.attendance = attendance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is_passing(self):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self.attendance &lt; 0.70: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self.grade &gt;= 60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239512" cy="3840480"/>
          </a:xfrm>
          <a:prstGeom prst="roundRect">
            <a:avLst>
              <a:gd name="adj" fmla="val 2857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Week 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63347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2551176"/>
            <a:ext cx="437083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separate tuples and standalone functions — the data and the rule that uses it live in one place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0883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3526536"/>
            <a:ext cx="437083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is_passing() reads self.attendance and self.grade directly — no risk of passing the wrong values in the wrong order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8419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4501896"/>
            <a:ext cx="437083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field means adding one line in __init__, not editing every function that used to unpack a tuple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Instantiate an Object?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Student("Ada", 92, 0.95) — step by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41F3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allocates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new, empty Student object is created in memory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301752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41F33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0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__init__() is called automatically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0" y="34290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calls __init__(self, "Ada", 92, 0.95), with self bound to the new object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01752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1792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41F33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652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8" name="Text 14"/>
          <p:cNvSpPr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46520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assigned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46520" y="34290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self.name, self.grade, self.attendance are set on this specific object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3017520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006840" y="17373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41F33"/>
          </a:solidFill>
          <a:ln/>
        </p:spPr>
      </p:sp>
      <p:sp>
        <p:nvSpPr>
          <p:cNvPr id="23" name="Shape 18"/>
          <p:cNvSpPr/>
          <p:nvPr/>
        </p:nvSpPr>
        <p:spPr>
          <a:xfrm>
            <a:off x="92354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4" name="Text 19"/>
          <p:cNvSpPr/>
          <p:nvPr/>
        </p:nvSpPr>
        <p:spPr>
          <a:xfrm>
            <a:off x="92354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9235440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is returned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9235440" y="34290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fully-initialized object is handed back and assigned to ada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" y="502920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/>
        </p:spPr>
      </p:sp>
      <p:sp>
        <p:nvSpPr>
          <p:cNvPr id="28" name="Text 23"/>
          <p:cNvSpPr/>
          <p:nvPr/>
        </p:nvSpPr>
        <p:spPr>
          <a:xfrm>
            <a:off x="822960" y="5138928"/>
            <a:ext cx="105430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92, 0.95)  # all four steps happen here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Has Its Own Identity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92, 0.95)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ada2 = Student("Ada", 92, 0.95)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print(ada == ada2)   # False — different objects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print(ada is ada2)   # False — different identity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print(id(ada))       # a unique memory address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print(id(ada2))      # a different address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5239512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874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232257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objects can have identical attribute values and still be two separate objects in memory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27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314553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values (by default, identity — we can customize this later in the semester)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5079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396849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compares identity — “are these literally the same object?”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87375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720" y="4791456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once we start passing objects between functions, or storing them in lists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TWO KINDS OF ATTRIBUTES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vs. Class Attributes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inside __init__ with self. — unique to each object.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310896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218688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self.name = name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self.grade = grade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ada.name and mert.name hold different values.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A215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8312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73952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directly inside the class body — shared by every instance.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73952" y="3108960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0A0F1C"/>
          </a:solidFill>
          <a:ln/>
        </p:spPr>
      </p:sp>
      <p:sp>
        <p:nvSpPr>
          <p:cNvPr id="16" name="Text 12"/>
          <p:cNvSpPr/>
          <p:nvPr/>
        </p:nvSpPr>
        <p:spPr>
          <a:xfrm>
            <a:off x="6656832" y="3218688"/>
            <a:ext cx="4434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school = "Beykent University"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73952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ada.school and mert.school both read the same shared value.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 — A Closer Look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school = "Beykent University"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total_students = 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Student.total_students += 1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mert = Student("Mert")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print(Student.total_students)  # 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5239512" cy="4023360"/>
          </a:xfrm>
          <a:prstGeom prst="roundRect">
            <a:avLst>
              <a:gd name="adj" fmla="val 272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874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class attribute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2322576"/>
            <a:ext cx="437083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is genuinely shared or constant across every instance — like a school name, or a running count of how many objects exist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411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3358896"/>
            <a:ext cx="437083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 through the class name (Student.total_students), not self, to avoid accidentally creating a new instance attribute that shadows it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47751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4395216"/>
            <a:ext cx="437083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unsure, default to an instance attribute — class attributes are the exception, not the rule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INSTANCE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Objects Behavior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5120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 = grade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add_bonus(self, points):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 += points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summary(self):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f"{self.name}: {self.grade}"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239512" cy="4023360"/>
          </a:xfrm>
          <a:prstGeom prst="roundRect">
            <a:avLst>
              <a:gd name="adj" fmla="val 2727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74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methods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048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2322576"/>
            <a:ext cx="437083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method's first parameter is self — Python fills it in automatically when you call obj.method(...)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4119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3358896"/>
            <a:ext cx="437083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can read AND modify the object's own attributes, as add_bonus() does here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4775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4395216"/>
            <a:ext cx="437083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can return values, just like regular functions — summary() returns a string instead of printing directly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vs. Function — What's the Difference?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1691640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77240"/>
          </a:xfrm>
          <a:prstGeom prst="roundRect">
            <a:avLst>
              <a:gd name="adj" fmla="val 7059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22585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Standalone, outside any class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0" y="2258568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a class body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11000232" cy="777240"/>
          </a:xfrm>
          <a:prstGeom prst="roundRect">
            <a:avLst>
              <a:gd name="adj" fmla="val 7059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981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parameter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309981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Whatever you declare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0" y="3099816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self (bound automatically)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11000232" cy="777240"/>
          </a:xfrm>
          <a:prstGeom prst="roundRect">
            <a:avLst>
              <a:gd name="adj" fmla="val 7059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410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394106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function_name(args)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0" y="3941064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object.method_name(args)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82312"/>
            <a:ext cx="11000232" cy="777240"/>
          </a:xfrm>
          <a:prstGeom prst="roundRect">
            <a:avLst>
              <a:gd name="adj" fmla="val 7059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8231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478231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Whatever is passed 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0" y="4782312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Typically the object's own attributes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is really just a function that lives inside a class and automatically receives the object it was called 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OBJECT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an Object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215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Student("Ada", 92) calls __init__, allocating and initializing the object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31546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340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1" name="Shape 7"/>
          <p:cNvSpPr/>
          <p:nvPr/>
        </p:nvSpPr>
        <p:spPr>
          <a:xfrm>
            <a:off x="4617720" y="201168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167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17720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is used — its attributes read, its methods called, possibly its state changed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15468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04672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7" name="Shape 11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2167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2104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321040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nothing refers to the object anymore, Python automatically frees its memory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some languages, Python manages memory for you — you'll almost never manually destroy an object this semester.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 Values in __init__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00" cy="2926080"/>
          </a:xfrm>
          <a:prstGeom prst="roundRect">
            <a:avLst>
              <a:gd name="adj" fmla="val 25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070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grade=0, attendance=1.0):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 = grade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self.attendance = attendance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Student("Ada")              # grade=0, attendance=1.0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mert = Student("Mert", 84)        # attendance=1.0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elif_ = Student("Elif", 58, 0.88) # all three given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10972800" cy="1737360"/>
          </a:xfrm>
          <a:prstGeom prst="roundRect">
            <a:avLst>
              <a:gd name="adj" fmla="val 6316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937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useful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6811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538581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callers create an object without supplying every single value up front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8795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579729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class flexible without needing multiple constructors, which Python doesn't support directly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COMMON MISTAKES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Almost Everyone Hits This Week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842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83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self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77840" y="17830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__init__(name): ... — Python will raise a TypeError about missing arguments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358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34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parentheses on instantiation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577840" y="2834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 — this assigns the class itself, not an object, to ada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8736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self.x with a local variable x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577840" y="3886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__init__(self, name): name = name — never actually sets self.name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3892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937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 arguments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577840" y="49377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__init__(self, grades=[]): — that same list is shared across every object!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The Mutable Default Argument Trap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DON'T: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grades=[]):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self.grades = grades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Student("Ada"); a.grades.append(92)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Student("Mert")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print(b.grades)  # [92] -- unexpected! shared list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523951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1801368"/>
            <a:ext cx="487375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grades=None):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self.grades = grades if grades else []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Student("Ada"); a.grades.append(92)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Student("Mert")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print(b.grades)  # [] -- correct, independent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 Inside an Object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handy built-ins for exploring what an object actually contains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51206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92)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print(ada.__dict__)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{'name': 'Ada', 'grade': 92}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print(dir(ada))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[..., 'add_bonus', 'grade', 'name', 'summary']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239512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745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useful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048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2322576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__dict__ shows exactly which instance attributes an object currently has, and their values — great for debugging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5021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3419856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dir() lists everything available on the object, including inherited and built-in methods we'll meet later this semester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9943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4517136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these whenever a class isn't behaving the way you expect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APPLYING THE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Different Entities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class followed a pattern: attributes in __init__, behavior in methods. Let's apply that same pattern to two more classes we'll build in today's lab.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1635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73405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title, author, isbn, is_checked_out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764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69417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checkout(), return_book()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3659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65429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checkout() should fail gracefully if the book is already checked out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99632" y="21031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141F33"/>
          </a:solidFill>
          <a:ln/>
        </p:spPr>
      </p:sp>
      <p:sp>
        <p:nvSpPr>
          <p:cNvPr id="14" name="Text 9"/>
          <p:cNvSpPr/>
          <p:nvPr/>
        </p:nvSpPr>
        <p:spPr>
          <a:xfrm>
            <a:off x="6473952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81635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93992" y="273405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name, price, quantity_in_stock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77647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93992" y="369417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apply_discount(percent), total_value()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736592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93992" y="465429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total_value() returns price * quantity_in_stock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Class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07040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title, author, isbn):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self.title = title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self.author = author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self.isbn = isbn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self.is_checked_out = False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checkout(self):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self.is_checked_out: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print(f"{self.title} is already checked out.")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self.is_checked_out =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print(f"You checked out {self.title}.")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return_book(self):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self.is_checked_out = False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Class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00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070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price, quantity_in_stock):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self.price = price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self.quantity_in_stock = quantity_in_stock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apply_discount(self, percent):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self.price = self.price * (1 - percent / 100)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total_value(self):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self.price * self.quantity_in_stock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Many Objects at Once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behave beautifully inside ordinary Python lists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106070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 = [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Book("Clean Code", "Robert C. Martin", "001"),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Book("Fluent Python", "Luciano Ramalho", "002"),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Book("Automate the Boring Stuff", "Al Sweigart", "003"),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book in library: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book.checkout()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[b for b in library if not b.is_checked_out]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print(f"{len(available)} books still available")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DESIGN GUIDANCE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Habits Worth Building Now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91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classes as singular nouns (Student, not Students) — a class describes one thing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514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__init__ focused on setting attributes; avoid heavy logic or side effects there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3337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methods verb-based names that describe the action clearly: checkout(), not do_thing()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4160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reasonable number of focused attributes over one giant class trying to represent everything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4983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classes share almost every attribute and method, that's often a signal for inheritance — a preview of Week 5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Week 1's Pain Points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37944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733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binding between data and behavior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16733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— methods live inside the class, next to the data they use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5234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877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position-based data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35040" y="25877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— attributes are accessed by name (self.grade), not tuple position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4290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667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021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logic per entity type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035040" y="35021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solved — each class still needs its own definition (inheritance solves the rest, Week 5)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343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8114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4165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extend safely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035040" y="44165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— adding a field means one new line in __init__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40080" y="52578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95544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330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place for validation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035040" y="53309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— encapsulation (Week 4) formalizes this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215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Student, Book, and Product Classes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8658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240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Student as a class with __init__ and is_passing()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9260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7238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Book class with checkout() / return_book()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36118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5818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Product class with apply_discount() / total_value()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42976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439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of 3+ objects for each class and loop over them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40080" y="49834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2978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trigger and fix one of today's common mistakes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defines a blueprint; __init__() runs automatically to set up each new object's initial state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42616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877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refers to the specific object a method is operating on, and Python supplies it automatically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38728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8386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belong to one object; class attributes are shared across every instance of a class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379976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is a function defined inside a class that operates on self — everything else works like a normal function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30952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27608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classic pitfalls: missing self, missing parentheses, and mutable default arguments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Attributes and Methods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and Methods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on instance methods and how objects interact with each other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objects as arguments to other objects' methods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BankAccount, Employee, and Car classes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02920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toward Week 4's encapsulation by noticing where validation is still missing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2A2154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2 lab notebook — all three classes should run without errors.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3010</Words>
  <Application>Microsoft Office PowerPoint</Application>
  <PresentationFormat>Geniş ekran</PresentationFormat>
  <Paragraphs>475</Paragraphs>
  <Slides>30</Slides>
  <Notes>30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Kağan OKATAN</cp:lastModifiedBy>
  <cp:revision>1</cp:revision>
  <dcterms:created xsi:type="dcterms:W3CDTF">2026-08-16T07:15:11Z</dcterms:created>
  <dcterms:modified xsi:type="dcterms:W3CDTF">2026-08-16T07:24:57Z</dcterms:modified>
</cp:coreProperties>
</file>