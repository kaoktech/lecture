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image" Target="../media/image-2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image" Target="../media/image-2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2286000"/>
            <a:ext cx="6400800" cy="6400800"/>
          </a:xfrm>
          <a:prstGeom prst="ellipse">
            <a:avLst/>
          </a:prstGeom>
          <a:solidFill>
            <a:srgbClr val="3D1130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114800"/>
            <a:ext cx="3657600" cy="3657600"/>
          </a:xfrm>
          <a:prstGeom prst="ellipse">
            <a:avLst/>
          </a:prstGeom>
          <a:solidFill>
            <a:srgbClr val="3D1130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9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9875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 and Aggregation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“Has-A” Relationships — Python 3.x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31520" y="3749040"/>
            <a:ext cx="2011680" cy="0"/>
          </a:xfrm>
          <a:prstGeom prst="line">
            <a:avLst/>
          </a:prstGeom>
          <a:noFill/>
          <a:ln w="31750">
            <a:solidFill>
              <a:srgbClr val="EC48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5943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 ·  Object Oriented Programming  ·  Software Development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9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72800" cy="4297680"/>
          </a:xfrm>
          <a:prstGeom prst="roundRect">
            <a:avLst>
              <a:gd name="adj" fmla="val 2553"/>
            </a:avLst>
          </a:prstGeom>
          <a:solidFill>
            <a:srgbClr val="141F33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993392"/>
            <a:ext cx="201168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911096"/>
            <a:ext cx="10104120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4–7 built the four pillars: encapsulation, inheritance, polymorphism, and abstraction</a:t>
            </a:r>
            <a:endParaRPr lang="en-US" sz="12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942082"/>
            <a:ext cx="201168" cy="20116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34440" y="2859786"/>
            <a:ext cx="10104120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 modeled “is-a” relationships — a Car is a Vehicle</a:t>
            </a:r>
            <a:endParaRPr lang="en-US" sz="12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890772"/>
            <a:ext cx="201168" cy="20116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34440" y="3808476"/>
            <a:ext cx="10104120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not every relationship between classes is “is-a” — a Car has an Engine, but a Car is not an Engine</a:t>
            </a:r>
            <a:endParaRPr lang="en-US" sz="12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839462"/>
            <a:ext cx="201168" cy="20116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234440" y="4757166"/>
            <a:ext cx="10104120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composition and aggregation, for modeling “has-a” relationships correctly</a:t>
            </a:r>
            <a:endParaRPr lang="en-US" sz="1250" dirty="0"/>
          </a:p>
        </p:txBody>
      </p:sp>
      <p:sp>
        <p:nvSpPr>
          <p:cNvPr id="13" name="Text 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9</a:t>
            </a:r>
            <a:endParaRPr lang="en-US" sz="1000" dirty="0"/>
          </a:p>
        </p:txBody>
      </p:sp>
      <p:sp>
        <p:nvSpPr>
          <p:cNvPr id="14" name="Text 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14-Week Roadmap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today's session fits into the semester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1B2A4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78308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2075688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 to OOP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304288" y="1691640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1B2A45"/>
          </a:solidFill>
          <a:ln/>
        </p:spPr>
      </p:sp>
      <p:sp>
        <p:nvSpPr>
          <p:cNvPr id="8" name="Text 6"/>
          <p:cNvSpPr/>
          <p:nvPr/>
        </p:nvSpPr>
        <p:spPr>
          <a:xfrm>
            <a:off x="2395728" y="178308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395728" y="2075688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&amp; Objects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968496" y="1691640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1B2A45"/>
          </a:solidFill>
          <a:ln/>
        </p:spPr>
      </p:sp>
      <p:sp>
        <p:nvSpPr>
          <p:cNvPr id="11" name="Text 9"/>
          <p:cNvSpPr/>
          <p:nvPr/>
        </p:nvSpPr>
        <p:spPr>
          <a:xfrm>
            <a:off x="4059936" y="178308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059936" y="2075688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 &amp; Methods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632704" y="1691640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1B2A45"/>
          </a:solidFill>
          <a:ln/>
        </p:spPr>
      </p:sp>
      <p:sp>
        <p:nvSpPr>
          <p:cNvPr id="14" name="Text 12"/>
          <p:cNvSpPr/>
          <p:nvPr/>
        </p:nvSpPr>
        <p:spPr>
          <a:xfrm>
            <a:off x="5724144" y="178308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724144" y="2075688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296912" y="1691640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1B2A45"/>
          </a:solidFill>
          <a:ln/>
        </p:spPr>
      </p:sp>
      <p:sp>
        <p:nvSpPr>
          <p:cNvPr id="17" name="Text 15"/>
          <p:cNvSpPr/>
          <p:nvPr/>
        </p:nvSpPr>
        <p:spPr>
          <a:xfrm>
            <a:off x="7388352" y="178308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88352" y="2075688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961120" y="1691640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1B2A45"/>
          </a:solidFill>
          <a:ln/>
        </p:spPr>
      </p:sp>
      <p:sp>
        <p:nvSpPr>
          <p:cNvPr id="20" name="Text 18"/>
          <p:cNvSpPr/>
          <p:nvPr/>
        </p:nvSpPr>
        <p:spPr>
          <a:xfrm>
            <a:off x="9052560" y="178308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052560" y="2075688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Polymorphism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0625328" y="1691640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1B2A45"/>
          </a:solidFill>
          <a:ln/>
        </p:spPr>
      </p:sp>
      <p:sp>
        <p:nvSpPr>
          <p:cNvPr id="23" name="Text 21"/>
          <p:cNvSpPr/>
          <p:nvPr/>
        </p:nvSpPr>
        <p:spPr>
          <a:xfrm>
            <a:off x="10716768" y="178308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716768" y="2075688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Abstraction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40080" y="2907792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1B2A45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299923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31520" y="3291840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Midterm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304288" y="2907792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EC4899"/>
          </a:solidFill>
          <a:ln/>
        </p:spPr>
      </p:sp>
      <p:sp>
        <p:nvSpPr>
          <p:cNvPr id="29" name="Text 27"/>
          <p:cNvSpPr/>
          <p:nvPr/>
        </p:nvSpPr>
        <p:spPr>
          <a:xfrm>
            <a:off x="2395728" y="299923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W9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395728" y="3291840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968496" y="2907792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141F33"/>
          </a:solidFill>
          <a:ln/>
        </p:spPr>
      </p:sp>
      <p:sp>
        <p:nvSpPr>
          <p:cNvPr id="32" name="Text 30"/>
          <p:cNvSpPr/>
          <p:nvPr/>
        </p:nvSpPr>
        <p:spPr>
          <a:xfrm>
            <a:off x="4059936" y="299923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W10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059936" y="3291840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632704" y="2907792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141F33"/>
          </a:solidFill>
          <a:ln/>
        </p:spPr>
      </p:sp>
      <p:sp>
        <p:nvSpPr>
          <p:cNvPr id="35" name="Text 33"/>
          <p:cNvSpPr/>
          <p:nvPr/>
        </p:nvSpPr>
        <p:spPr>
          <a:xfrm>
            <a:off x="5724144" y="299923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W11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724144" y="3291840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Handling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7296912" y="2907792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141F33"/>
          </a:solidFill>
          <a:ln/>
        </p:spPr>
      </p:sp>
      <p:sp>
        <p:nvSpPr>
          <p:cNvPr id="38" name="Text 36"/>
          <p:cNvSpPr/>
          <p:nvPr/>
        </p:nvSpPr>
        <p:spPr>
          <a:xfrm>
            <a:off x="7388352" y="299923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W12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388352" y="3291840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&amp; Testing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8961120" y="2907792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141F33"/>
          </a:solidFill>
          <a:ln/>
        </p:spPr>
      </p:sp>
      <p:sp>
        <p:nvSpPr>
          <p:cNvPr id="41" name="Text 39"/>
          <p:cNvSpPr/>
          <p:nvPr/>
        </p:nvSpPr>
        <p:spPr>
          <a:xfrm>
            <a:off x="9052560" y="299923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W13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9052560" y="3291840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Dev.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10625328" y="2907792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141F33"/>
          </a:solidFill>
          <a:ln/>
        </p:spPr>
      </p:sp>
      <p:sp>
        <p:nvSpPr>
          <p:cNvPr id="44" name="Text 42"/>
          <p:cNvSpPr/>
          <p:nvPr/>
        </p:nvSpPr>
        <p:spPr>
          <a:xfrm>
            <a:off x="10716768" y="299923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W14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10716768" y="3291840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Presentations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9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today, you will be able to: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B2A4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80160" y="1673352"/>
            <a:ext cx="1024128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“has-a” relationship and how it differs from “is-a”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55117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B2A45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551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80160" y="2532888"/>
            <a:ext cx="1024128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classes using composition, where one object contains another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341071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B2A45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410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80160" y="3392424"/>
            <a:ext cx="1024128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composition from aggregation based on object lifecycle and ownership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427024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B2A45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270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4251960"/>
            <a:ext cx="1024128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“favor composition over inheritance” design principle appropriately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512978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B2A45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5129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80160" y="5111496"/>
            <a:ext cx="1024128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small multi-class system (Department, Instructor, Student) using has-a relationships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9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Agenda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hours of theory, two hours of hands-on lab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EC4899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00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88720" y="155448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Is-A vs. Has-A (15 min)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223760" y="158191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different relationships, two different tools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237744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EC4899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377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233172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Composition, in Practice (25 min)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223760" y="235915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objects out of other objects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15468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EC4899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154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88720" y="310896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 vs. Composition (20 min)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223760" y="313639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subtle but important distinction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393192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EC4899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931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88720" y="388620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 Composition Over Inheritance (15 min)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223760" y="391363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widely-used design principle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470916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EC4899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709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188720" y="466344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Study: University Management System (25 min)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223760" y="469087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Department, Instructor, Student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548640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EC4899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5486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188720" y="544068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Lab: Build the University System (40 min)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223760" y="546811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practice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9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A NEW RELATIONSHIP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“Is-A” vs. “Has-A”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08792" cy="1280160"/>
          </a:xfrm>
          <a:prstGeom prst="roundRect">
            <a:avLst>
              <a:gd name="adj" fmla="val 8571"/>
            </a:avLst>
          </a:prstGeom>
          <a:solidFill>
            <a:srgbClr val="3D1130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7452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 models “is-a”: a Car is a Vehicle. Composition models “has-a”: a Car has an Engine. These are different relationships, and using the wrong one leads to awkward, fragile designs.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3200400"/>
            <a:ext cx="10972800" cy="3337560"/>
          </a:xfrm>
          <a:prstGeom prst="roundRect">
            <a:avLst>
              <a:gd name="adj" fmla="val 3288"/>
            </a:avLst>
          </a:prstGeom>
          <a:solidFill>
            <a:srgbClr val="141F33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38328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913632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3831336"/>
            <a:ext cx="1010412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Car is a Vehicle” reads naturally — inheritance fits</a:t>
            </a:r>
            <a:endParaRPr lang="en-US" sz="12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5125212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34440" y="5042916"/>
            <a:ext cx="1010412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Car is an Engine” does not read naturally — composition fits instead: the Car simply has one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9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Relationships, Two Tools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5349240" cy="4206240"/>
          </a:xfrm>
          <a:prstGeom prst="roundRect">
            <a:avLst>
              <a:gd name="adj" fmla="val 2609"/>
            </a:avLst>
          </a:prstGeom>
          <a:solidFill>
            <a:srgbClr val="141F33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87452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 (“is-a”)</a:t>
            </a:r>
            <a:endParaRPr lang="en-US" sz="1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404872"/>
            <a:ext cx="201168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2322576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Car(Vehicle): — Car extends Vehicle</a:t>
            </a:r>
            <a:endParaRPr lang="en-US" sz="12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502152"/>
            <a:ext cx="201168" cy="20116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34440" y="3419856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automatically gets Vehicle's attributes and methods</a:t>
            </a:r>
            <a:endParaRPr lang="en-US" sz="12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599432"/>
            <a:ext cx="201168" cy="20116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34440" y="4517136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Appropriate when the child is fundamentally a specialized version of the parent</a:t>
            </a:r>
            <a:endParaRPr lang="en-US" sz="1250" dirty="0"/>
          </a:p>
        </p:txBody>
      </p:sp>
      <p:sp>
        <p:nvSpPr>
          <p:cNvPr id="11" name="Shape 6"/>
          <p:cNvSpPr/>
          <p:nvPr/>
        </p:nvSpPr>
        <p:spPr>
          <a:xfrm>
            <a:off x="6199632" y="1691640"/>
            <a:ext cx="5349240" cy="4206240"/>
          </a:xfrm>
          <a:prstGeom prst="roundRect">
            <a:avLst>
              <a:gd name="adj" fmla="val 2609"/>
            </a:avLst>
          </a:prstGeom>
          <a:solidFill>
            <a:srgbClr val="3D1130"/>
          </a:solidFill>
          <a:ln/>
        </p:spPr>
      </p:sp>
      <p:sp>
        <p:nvSpPr>
          <p:cNvPr id="12" name="Text 7"/>
          <p:cNvSpPr/>
          <p:nvPr/>
        </p:nvSpPr>
        <p:spPr>
          <a:xfrm>
            <a:off x="6473952" y="187452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 (“has-a”)</a:t>
            </a:r>
            <a:endParaRPr lang="en-US" sz="14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3952" y="2404872"/>
            <a:ext cx="201168" cy="20116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793992" y="2322576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self.engine = Engine() — Car contains an Engine object</a:t>
            </a:r>
            <a:endParaRPr lang="en-US" sz="12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3952" y="3502152"/>
            <a:ext cx="201168" cy="20116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793992" y="3419856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uses the Engine's methods by calling them on self.engine, not by inheriting them</a:t>
            </a:r>
            <a:endParaRPr lang="en-US" sz="125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3952" y="4599432"/>
            <a:ext cx="201168" cy="201168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6793992" y="4517136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Appropriate when one object is built out of, or uses, another</a:t>
            </a:r>
            <a:endParaRPr lang="en-US" sz="1250" dirty="0"/>
          </a:p>
        </p:txBody>
      </p:sp>
      <p:sp>
        <p:nvSpPr>
          <p:cNvPr id="19" name="Text 1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9</a:t>
            </a:r>
            <a:endParaRPr lang="en-US" sz="1000" dirty="0"/>
          </a:p>
        </p:txBody>
      </p:sp>
      <p:sp>
        <p:nvSpPr>
          <p:cNvPr id="20" name="Text 12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COMPOSITION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Composition, in Practice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08792" cy="1280160"/>
          </a:xfrm>
          <a:prstGeom prst="roundRect">
            <a:avLst>
              <a:gd name="adj" fmla="val 8571"/>
            </a:avLst>
          </a:prstGeom>
          <a:solidFill>
            <a:srgbClr val="3D1130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7452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composition, one class creates and holds an instance of another class as an attribute. The containing object is responsible for the contained object's lifecycle.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3200400"/>
            <a:ext cx="10972800" cy="3337560"/>
          </a:xfrm>
          <a:prstGeom prst="roundRect">
            <a:avLst>
              <a:gd name="adj" fmla="val 3288"/>
            </a:avLst>
          </a:prstGeom>
          <a:solidFill>
            <a:srgbClr val="141F33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38328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of the pattern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913632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3831336"/>
            <a:ext cx="1010412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Car's __init__ creates its own Engine — the Engine doesn't exist independently of that Car</a:t>
            </a:r>
            <a:endParaRPr lang="en-US" sz="12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5125212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34440" y="5042916"/>
            <a:ext cx="1010412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delegates to Engine for engine-related behavior, rather than reimplementing it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9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Car Composed of an Engine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11000232" cy="4206240"/>
          </a:xfrm>
          <a:prstGeom prst="roundRect">
            <a:avLst>
              <a:gd name="adj" fmla="val 1739"/>
            </a:avLst>
          </a:prstGeom>
          <a:solidFill>
            <a:srgbClr val="0A0F1C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01368"/>
            <a:ext cx="10634472" cy="3986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Engine: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horsepower):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self.horsepower = horsepower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self.running = False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start(self):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self.running = True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print(f"Engine ({self.horsepower}hp) started.")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Car: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brand, horsepower):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self.brand = brand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self.engine = Engine(horsepower)   # composition: Car HAS-A Engine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start(self):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print(f"Starting {self.brand}...")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self.engine.start()                # delegation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the Composed Object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5486400" cy="3657600"/>
          </a:xfrm>
          <a:prstGeom prst="roundRect">
            <a:avLst>
              <a:gd name="adj" fmla="val 2000"/>
            </a:avLst>
          </a:prstGeom>
          <a:solidFill>
            <a:srgbClr val="0A0F1C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01368"/>
            <a:ext cx="5120640" cy="3438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my_car = Car("Toyota", 150)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my_car.start()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Starting Toyota...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Engine (150hp) started.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print(my_car.engine.horsepower)   # 150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print(my_car.engine.running)      # True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291072" y="1691640"/>
            <a:ext cx="5257800" cy="3657600"/>
          </a:xfrm>
          <a:prstGeom prst="roundRect">
            <a:avLst>
              <a:gd name="adj" fmla="val 3000"/>
            </a:avLst>
          </a:prstGeom>
          <a:solidFill>
            <a:srgbClr val="141F33"/>
          </a:solidFill>
          <a:ln/>
        </p:spPr>
      </p:sp>
      <p:sp>
        <p:nvSpPr>
          <p:cNvPr id="6" name="Text 4"/>
          <p:cNvSpPr/>
          <p:nvPr/>
        </p:nvSpPr>
        <p:spPr>
          <a:xfrm>
            <a:off x="6565392" y="187452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</a:t>
            </a:r>
            <a:endParaRPr lang="en-US" sz="1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5392" y="2404872"/>
            <a:ext cx="201168" cy="2011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85432" y="2322576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Car.start() doesn't reimplement starting logic — it delegates to self.engine.start()</a:t>
            </a:r>
            <a:endParaRPr lang="en-US" sz="12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392" y="3319272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85432" y="3236976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called delegation: a common companion pattern to composition</a:t>
            </a:r>
            <a:endParaRPr lang="en-US" sz="12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392" y="4233672"/>
            <a:ext cx="201168" cy="2011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885432" y="4151376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my_car.engine is a full object in its own right, reachable and usable from outside Car too</a:t>
            </a:r>
            <a:endParaRPr lang="en-US" sz="1250" dirty="0"/>
          </a:p>
        </p:txBody>
      </p:sp>
      <p:sp>
        <p:nvSpPr>
          <p:cNvPr id="13" name="Text 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9</a:t>
            </a:r>
            <a:endParaRPr lang="en-US" sz="1000" dirty="0"/>
          </a:p>
        </p:txBody>
      </p:sp>
      <p:sp>
        <p:nvSpPr>
          <p:cNvPr id="14" name="Text 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A SUBTLE DISTINCTION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 vs. Aggregation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08792" cy="1280160"/>
          </a:xfrm>
          <a:prstGeom prst="roundRect">
            <a:avLst>
              <a:gd name="adj" fmla="val 8571"/>
            </a:avLst>
          </a:prstGeom>
          <a:solidFill>
            <a:srgbClr val="3D1130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7452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describe “has-a” relationships, but they differ in ownership and lifecycle. In composition, the contained object cannot meaningfully exist without its container. In aggregation, it can.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3200400"/>
            <a:ext cx="10972800" cy="3337560"/>
          </a:xfrm>
          <a:prstGeom prst="roundRect">
            <a:avLst>
              <a:gd name="adj" fmla="val 3288"/>
            </a:avLst>
          </a:prstGeom>
          <a:solidFill>
            <a:srgbClr val="141F33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38328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913632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3831336"/>
            <a:ext cx="1010412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Car is destroyed, does the Engine still make sense on its own? In our example, no — that's composition</a:t>
            </a:r>
            <a:endParaRPr lang="en-US" sz="12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5125212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34440" y="5042916"/>
            <a:ext cx="1010412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Department is deleted, do its Instructors cease to exist? No — an Instructor can move to another department. That's aggregation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9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 vs. Aggregation vs. Inheritance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11000232" cy="502920"/>
          </a:xfrm>
          <a:prstGeom prst="roundRect">
            <a:avLst>
              <a:gd name="adj" fmla="val 10909"/>
            </a:avLst>
          </a:prstGeom>
          <a:solidFill>
            <a:srgbClr val="EC489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6916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474720" y="16916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217920" y="16916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created by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235440" y="1691640"/>
            <a:ext cx="2313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tied?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258568"/>
            <a:ext cx="11000232" cy="731520"/>
          </a:xfrm>
          <a:prstGeom prst="roundRect">
            <a:avLst>
              <a:gd name="adj" fmla="val 7500"/>
            </a:avLst>
          </a:prstGeom>
          <a:solidFill>
            <a:srgbClr val="141F33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258568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474720" y="2258568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is-a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217920" y="2258568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 (extends a class)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235440" y="2258568"/>
            <a:ext cx="2313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3054096"/>
            <a:ext cx="11000232" cy="731520"/>
          </a:xfrm>
          <a:prstGeom prst="roundRect">
            <a:avLst>
              <a:gd name="adj" fmla="val 7500"/>
            </a:avLst>
          </a:prstGeom>
          <a:solidFill>
            <a:srgbClr val="1B2A45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054096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474720" y="3054096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has-a (owns)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217920" y="3054096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container itself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235440" y="3054096"/>
            <a:ext cx="2313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dies with container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3849624"/>
            <a:ext cx="11000232" cy="731520"/>
          </a:xfrm>
          <a:prstGeom prst="roundRect">
            <a:avLst>
              <a:gd name="adj" fmla="val 7500"/>
            </a:avLst>
          </a:prstGeom>
          <a:solidFill>
            <a:srgbClr val="141F33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849624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474720" y="3849624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has-a (uses)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217920" y="3849624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independently, passed in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235440" y="3849624"/>
            <a:ext cx="2313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can outlive container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9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Aggregation: Instructors Exist Independently of a Department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11000232" cy="4480560"/>
          </a:xfrm>
          <a:prstGeom prst="roundRect">
            <a:avLst>
              <a:gd name="adj" fmla="val 1633"/>
            </a:avLst>
          </a:prstGeom>
          <a:solidFill>
            <a:srgbClr val="0A0F1C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01368"/>
            <a:ext cx="10634472" cy="4261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Instructor: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name):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self.name = name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Department: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name):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self.name = name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self.instructors = []   # aggregation: holds, doesn't own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add_instructor(self, instructor):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self.instructors.append(instructor)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 = Instructor("Dr. Ada")           # created independently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cs_dept = Department("Computer Science")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cs_dept.add_instructor(ada)           # then aggregated in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ada continues to exist even if cs_dept is deleted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A DESIGN PRINCIPLE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“Favor Composition Over Inheritance”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08792" cy="1280160"/>
          </a:xfrm>
          <a:prstGeom prst="roundRect">
            <a:avLst>
              <a:gd name="adj" fmla="val 8571"/>
            </a:avLst>
          </a:prstGeom>
          <a:solidFill>
            <a:srgbClr val="3D1130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7452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widely-cited principle in object-oriented design: when you're unsure whether to use inheritance or composition, composition often produces a more flexible design.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3200400"/>
            <a:ext cx="10972800" cy="3337560"/>
          </a:xfrm>
          <a:prstGeom prst="roundRect">
            <a:avLst>
              <a:gd name="adj" fmla="val 3288"/>
            </a:avLst>
          </a:prstGeom>
          <a:solidFill>
            <a:srgbClr val="141F33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38328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913632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3831336"/>
            <a:ext cx="1010412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 creates a tight, permanent coupling — a subclass is forever bound to its parent's structure</a:t>
            </a:r>
            <a:endParaRPr lang="en-US" sz="12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5125212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34440" y="5042916"/>
            <a:ext cx="1010412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 is looser — swap out self.engine = Engine(...) for a different engine implementation without restructuring the class hierarchy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9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Inheritance Would Be a Poor Fit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0A0F1C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01368"/>
            <a:ext cx="4983480" cy="3986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Engine: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start(self): ...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Car(Engine):   # "a Car is an Engine"?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pass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Reads wrong. A Car isn't a kind of Engine --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it just happens to need what an Engine does.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199632" y="1691640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0A0F1C"/>
          </a:solidFill>
          <a:ln/>
        </p:spPr>
      </p:sp>
      <p:sp>
        <p:nvSpPr>
          <p:cNvPr id="6" name="Text 4"/>
          <p:cNvSpPr/>
          <p:nvPr/>
        </p:nvSpPr>
        <p:spPr>
          <a:xfrm>
            <a:off x="6382512" y="1801368"/>
            <a:ext cx="4983480" cy="3986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Engine: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start(self): ...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Car: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self.engine = Engine()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 Car HAS an Engine. Reads correctly,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and the Engine can be swapped out freely.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41732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Awkward: inheriting just for reuse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199632" y="141732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Natural: composition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9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· CASE STUDY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Study: A University Management System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08792" cy="1280160"/>
          </a:xfrm>
          <a:prstGeom prst="roundRect">
            <a:avLst>
              <a:gd name="adj" fmla="val 8571"/>
            </a:avLst>
          </a:prstGeom>
          <a:solidFill>
            <a:srgbClr val="3D1130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7452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university needs to track Departments, Instructors, and Students, and the relationships between them — using has-a relationships throughout, not inheritance.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3200400"/>
            <a:ext cx="10972800" cy="3337560"/>
          </a:xfrm>
          <a:prstGeom prst="roundRect">
            <a:avLst>
              <a:gd name="adj" fmla="val 3288"/>
            </a:avLst>
          </a:prstGeom>
          <a:solidFill>
            <a:srgbClr val="141F33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38328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913632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3831336"/>
            <a:ext cx="1010412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aggregates Instructor and Student objects (they can exist independently)</a:t>
            </a:r>
            <a:endParaRPr lang="en-US" sz="12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5125212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34440" y="5042916"/>
            <a:ext cx="1010412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composes an internal transcript (a list of grades) that only makes sense as part of that Student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9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Department, Instructor, and Student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11000232" cy="4480560"/>
          </a:xfrm>
          <a:prstGeom prst="roundRect">
            <a:avLst>
              <a:gd name="adj" fmla="val 1633"/>
            </a:avLst>
          </a:prstGeom>
          <a:solidFill>
            <a:srgbClr val="0A0F1C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01368"/>
            <a:ext cx="10634472" cy="4261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Instructor: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name, specialty):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self.name = name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self.specialty = specialty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Student: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name):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self.name = name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self._transcript = []          # composition: owned by the Student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add_grade(self, course, grade):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self._transcript.append((course, grade))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gpa(self):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not self._transcript: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0.0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sum(g for _, g in self._transcript) / len(self._transcript)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Department Class, Aggregating Both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11000232" cy="4206240"/>
          </a:xfrm>
          <a:prstGeom prst="roundRect">
            <a:avLst>
              <a:gd name="adj" fmla="val 1739"/>
            </a:avLst>
          </a:prstGeom>
          <a:solidFill>
            <a:srgbClr val="0A0F1C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01368"/>
            <a:ext cx="10634472" cy="3986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Department: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name):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self.name = name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self.instructors = []    # aggregation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self.students = []       # aggregation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add_instructor(self, instructor):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self.instructors.append(instructor)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add_student(self, student):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self.students.append(student)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average_gpa(self):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not self.students: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0.0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sum(s.gpa() for s in self.students) / len(self.students)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the System Together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5486400" cy="4023360"/>
          </a:xfrm>
          <a:prstGeom prst="roundRect">
            <a:avLst>
              <a:gd name="adj" fmla="val 1818"/>
            </a:avLst>
          </a:prstGeom>
          <a:solidFill>
            <a:srgbClr val="0A0F1C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01368"/>
            <a:ext cx="5120640" cy="3803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 = Department("Computer Science")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cs.add_instructor(Instructor("Dr. Ada", "Algorithms"))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ada_student = Student("Ada K.")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ada_student.add_grade("UYG203", 92)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ada_student.add_grade("MAT101", 85)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cs.add_student(ada_student)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print(ada_student.gpa())        # 88.5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print(cs.average_gpa())         # 88.5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291072" y="1691640"/>
            <a:ext cx="5257800" cy="4023360"/>
          </a:xfrm>
          <a:prstGeom prst="roundRect">
            <a:avLst>
              <a:gd name="adj" fmla="val 2727"/>
            </a:avLst>
          </a:prstGeom>
          <a:solidFill>
            <a:srgbClr val="141F33"/>
          </a:solidFill>
          <a:ln/>
        </p:spPr>
      </p:sp>
      <p:sp>
        <p:nvSpPr>
          <p:cNvPr id="6" name="Text 4"/>
          <p:cNvSpPr/>
          <p:nvPr/>
        </p:nvSpPr>
        <p:spPr>
          <a:xfrm>
            <a:off x="6565392" y="187452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</a:t>
            </a:r>
            <a:endParaRPr lang="en-US" sz="1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5392" y="2404872"/>
            <a:ext cx="201168" cy="2011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85432" y="2322576"/>
            <a:ext cx="4389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Student's transcript is composition — it's created inside __init__ and has no meaning outside that Student</a:t>
            </a:r>
            <a:endParaRPr lang="en-US" sz="12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392" y="3959352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85432" y="3877056"/>
            <a:ext cx="4389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Department's instructors and students lists are aggregation — every object in them was created independently and passed in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9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Choose Composition (or Aggregation) Over Inheritance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10908792" cy="777240"/>
          </a:xfrm>
          <a:prstGeom prst="roundRect">
            <a:avLst>
              <a:gd name="adj" fmla="val 11765"/>
            </a:avLst>
          </a:prstGeom>
          <a:solidFill>
            <a:srgbClr val="141F3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933956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169164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relationship fails the “is-a” test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5989320" y="169164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Car is an Engine” sounds wrong; “A Car has an Engine” sounds right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40080" y="2606040"/>
            <a:ext cx="10908792" cy="777240"/>
          </a:xfrm>
          <a:prstGeom prst="roundRect">
            <a:avLst>
              <a:gd name="adj" fmla="val 11765"/>
            </a:avLst>
          </a:prstGeom>
          <a:solidFill>
            <a:srgbClr val="141F33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848356"/>
            <a:ext cx="292608" cy="2926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17320" y="260604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need to swap implementations at runtime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5989320" y="260604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 lets you assign a different self.engine easily; inheritance locks the structure in at class definition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40080" y="3520440"/>
            <a:ext cx="10908792" cy="777240"/>
          </a:xfrm>
          <a:prstGeom prst="roundRect">
            <a:avLst>
              <a:gd name="adj" fmla="val 11765"/>
            </a:avLst>
          </a:prstGeom>
          <a:solidFill>
            <a:srgbClr val="141F33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762756"/>
            <a:ext cx="292608" cy="29260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17320" y="352044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contained object has its own independent identity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5989320" y="352044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Instructor exists whether or not they're currently in a Department — aggregation fits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9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10908792" cy="777240"/>
          </a:xfrm>
          <a:prstGeom prst="roundRect">
            <a:avLst>
              <a:gd name="adj" fmla="val 11765"/>
            </a:avLst>
          </a:prstGeom>
          <a:solidFill>
            <a:srgbClr val="141F3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933956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169164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inheritance to “get access to” unrelated methods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5806440" y="1691640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only reason to inherit is reusing one method, composition (or a plain function) usually fits better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40080" y="2606040"/>
            <a:ext cx="10908792" cy="777240"/>
          </a:xfrm>
          <a:prstGeom prst="roundRect">
            <a:avLst>
              <a:gd name="adj" fmla="val 11765"/>
            </a:avLst>
          </a:prstGeom>
          <a:solidFill>
            <a:srgbClr val="141F33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848356"/>
            <a:ext cx="292608" cy="2926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17320" y="260604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Confusing composition and aggregation in a design doc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5806440" y="2606040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distinction matters mainly for lifecycle reasoning — in Python code they often look similar, so be precise about which one you mean and why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40080" y="3520440"/>
            <a:ext cx="10908792" cy="777240"/>
          </a:xfrm>
          <a:prstGeom prst="roundRect">
            <a:avLst>
              <a:gd name="adj" fmla="val 11765"/>
            </a:avLst>
          </a:prstGeom>
          <a:solidFill>
            <a:srgbClr val="141F33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762756"/>
            <a:ext cx="292608" cy="29260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17320" y="352044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that composed objects still need encapsulation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5806440" y="3520440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self.engine being a full object doesn't exempt Car from validating how it's used — Week 4's lessons still apply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9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Composition Matters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3544824" cy="3291840"/>
          </a:xfrm>
          <a:prstGeom prst="roundRect">
            <a:avLst>
              <a:gd name="adj" fmla="val 3333"/>
            </a:avLst>
          </a:prstGeom>
          <a:solidFill>
            <a:srgbClr val="3D1130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965960"/>
            <a:ext cx="640080" cy="640080"/>
          </a:xfrm>
          <a:prstGeom prst="ellipse">
            <a:avLst/>
          </a:prstGeom>
          <a:solidFill>
            <a:srgbClr val="1B2A4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2121408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788920"/>
            <a:ext cx="2996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914400" y="3383280"/>
            <a:ext cx="29961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out a composed object's implementation without restructuring the class hierarchy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367784" y="1691640"/>
            <a:ext cx="3544824" cy="3291840"/>
          </a:xfrm>
          <a:prstGeom prst="roundRect">
            <a:avLst>
              <a:gd name="adj" fmla="val 3333"/>
            </a:avLst>
          </a:prstGeom>
          <a:solidFill>
            <a:srgbClr val="141F33"/>
          </a:solidFill>
          <a:ln/>
        </p:spPr>
      </p:sp>
      <p:sp>
        <p:nvSpPr>
          <p:cNvPr id="9" name="Shape 6"/>
          <p:cNvSpPr/>
          <p:nvPr/>
        </p:nvSpPr>
        <p:spPr>
          <a:xfrm>
            <a:off x="4642104" y="1965960"/>
            <a:ext cx="640080" cy="640080"/>
          </a:xfrm>
          <a:prstGeom prst="ellipse">
            <a:avLst/>
          </a:prstGeom>
          <a:solidFill>
            <a:srgbClr val="1B2A45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7552" y="2121408"/>
            <a:ext cx="329184" cy="32918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42104" y="2788920"/>
            <a:ext cx="2996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 Modeling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4642104" y="3383280"/>
            <a:ext cx="29961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Has-a relationships stay has-a in code, instead of being forced into an awkward is-a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8095488" y="1691640"/>
            <a:ext cx="3544824" cy="3291840"/>
          </a:xfrm>
          <a:prstGeom prst="roundRect">
            <a:avLst>
              <a:gd name="adj" fmla="val 3333"/>
            </a:avLst>
          </a:prstGeom>
          <a:solidFill>
            <a:srgbClr val="141F33"/>
          </a:solidFill>
          <a:ln/>
        </p:spPr>
      </p:sp>
      <p:sp>
        <p:nvSpPr>
          <p:cNvPr id="14" name="Shape 10"/>
          <p:cNvSpPr/>
          <p:nvPr/>
        </p:nvSpPr>
        <p:spPr>
          <a:xfrm>
            <a:off x="8369808" y="1965960"/>
            <a:ext cx="640080" cy="640080"/>
          </a:xfrm>
          <a:prstGeom prst="ellipse">
            <a:avLst/>
          </a:prstGeom>
          <a:solidFill>
            <a:srgbClr val="1B2A45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5256" y="2121408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369808" y="2788920"/>
            <a:ext cx="2996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Composable Systems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8369808" y="3383280"/>
            <a:ext cx="29961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objects are built by combining simpler ones, each with a single clear responsibility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9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Third Class: Course, Aggregating Enrollment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11000232" cy="4206240"/>
          </a:xfrm>
          <a:prstGeom prst="roundRect">
            <a:avLst>
              <a:gd name="adj" fmla="val 1739"/>
            </a:avLst>
          </a:prstGeom>
          <a:solidFill>
            <a:srgbClr val="0A0F1C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01368"/>
            <a:ext cx="10634472" cy="3986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Course: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code, instructor):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self.code = code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self.instructor = instructor    # aggregation: an existing Instructor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self.enrolled_students = []     # aggregation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enroll(self, student):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self.enrolled_students.append(student)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print(f"{student.name} enrolled in {self.code}")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dr_ada = Instructor("Dr. Ada", "Algorithms")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uyg203 = Course("UYG203", dr_ada)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uyg203.enroll(Student("Mert"))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· NAMING THE PATTERN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Delegation, Formalized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08792" cy="1280160"/>
          </a:xfrm>
          <a:prstGeom prst="roundRect">
            <a:avLst>
              <a:gd name="adj" fmla="val 8571"/>
            </a:avLst>
          </a:prstGeom>
          <a:solidFill>
            <a:srgbClr val="3D1130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7452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Delegation is when an object, instead of implementing behavior itself, forwards the work to another object it holds a reference to. Car.start() calling self.engine.start() is delegation.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3200400"/>
            <a:ext cx="10972800" cy="3337560"/>
          </a:xfrm>
          <a:prstGeom prst="roundRect">
            <a:avLst>
              <a:gd name="adj" fmla="val 3288"/>
            </a:avLst>
          </a:prstGeom>
          <a:solidFill>
            <a:srgbClr val="141F33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38328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worth naming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913632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3831336"/>
            <a:ext cx="1010412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Recognizing delegation helps you read unfamiliar codebases faster — a short method that mostly calls another object's method is usually delegating, not duplicating logic</a:t>
            </a:r>
            <a:endParaRPr lang="en-US" sz="12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5125212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34440" y="5042916"/>
            <a:ext cx="1010412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keeps each class focused: Car handles car-level concerns, Engine handles engine-level concerns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9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Practice: Is-A or Has-A?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pair, which relationship fits?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1000232" cy="502920"/>
          </a:xfrm>
          <a:prstGeom prst="roundRect">
            <a:avLst>
              <a:gd name="adj" fmla="val 10909"/>
            </a:avLst>
          </a:prstGeom>
          <a:solidFill>
            <a:srgbClr val="EC4899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916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498080" y="1691640"/>
            <a:ext cx="4050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258568"/>
            <a:ext cx="11000232" cy="731520"/>
          </a:xfrm>
          <a:prstGeom prst="roundRect">
            <a:avLst>
              <a:gd name="adj" fmla="val 7500"/>
            </a:avLst>
          </a:prstGeom>
          <a:solidFill>
            <a:srgbClr val="141F33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258568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Motorcycle / Vehicle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498080" y="2258568"/>
            <a:ext cx="4050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is-a → inheritance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054096"/>
            <a:ext cx="11000232" cy="731520"/>
          </a:xfrm>
          <a:prstGeom prst="roundRect">
            <a:avLst>
              <a:gd name="adj" fmla="val 7500"/>
            </a:avLst>
          </a:prstGeom>
          <a:solidFill>
            <a:srgbClr val="1B2A45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054096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/ Engine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498080" y="3054096"/>
            <a:ext cx="4050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has-a → composition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3849624"/>
            <a:ext cx="11000232" cy="731520"/>
          </a:xfrm>
          <a:prstGeom prst="roundRect">
            <a:avLst>
              <a:gd name="adj" fmla="val 7500"/>
            </a:avLst>
          </a:prstGeom>
          <a:solidFill>
            <a:srgbClr val="141F33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849624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/ Instructor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498080" y="3849624"/>
            <a:ext cx="4050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has-a → aggregation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645152"/>
            <a:ext cx="11000232" cy="731520"/>
          </a:xfrm>
          <a:prstGeom prst="roundRect">
            <a:avLst>
              <a:gd name="adj" fmla="val 7500"/>
            </a:avLst>
          </a:prstGeom>
          <a:solidFill>
            <a:srgbClr val="1B2A45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645152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 / Rectangle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498080" y="4645152"/>
            <a:ext cx="4050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is-a → inheritance (a Square is a specialized Rectangle)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5440680"/>
            <a:ext cx="11000232" cy="731520"/>
          </a:xfrm>
          <a:prstGeom prst="roundRect">
            <a:avLst>
              <a:gd name="adj" fmla="val 7500"/>
            </a:avLst>
          </a:prstGeom>
          <a:solidFill>
            <a:srgbClr val="141F33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544068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/ Transcript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498080" y="5440680"/>
            <a:ext cx="4050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has-a → composition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9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D113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65836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Week's Lab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40080" y="12801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University Management System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640080" y="2194560"/>
            <a:ext cx="10908792" cy="548640"/>
          </a:xfrm>
          <a:prstGeom prst="roundRect">
            <a:avLst>
              <a:gd name="adj" fmla="val 13333"/>
            </a:avLst>
          </a:prstGeom>
          <a:solidFill>
            <a:srgbClr val="141F33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340864"/>
            <a:ext cx="256032" cy="25603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80160" y="21945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Instructor and Student as independent classes</a:t>
            </a:r>
            <a:endParaRPr lang="en-US" sz="1350" dirty="0"/>
          </a:p>
        </p:txBody>
      </p:sp>
      <p:sp>
        <p:nvSpPr>
          <p:cNvPr id="9" name="Shape 5"/>
          <p:cNvSpPr/>
          <p:nvPr/>
        </p:nvSpPr>
        <p:spPr>
          <a:xfrm>
            <a:off x="640080" y="2880360"/>
            <a:ext cx="10908792" cy="548640"/>
          </a:xfrm>
          <a:prstGeom prst="roundRect">
            <a:avLst>
              <a:gd name="adj" fmla="val 13333"/>
            </a:avLst>
          </a:prstGeom>
          <a:solidFill>
            <a:srgbClr val="141F33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026664"/>
            <a:ext cx="256032" cy="2560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80160" y="28803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Student a composed, private transcript and a gpa() method</a:t>
            </a:r>
            <a:endParaRPr lang="en-US" sz="1350" dirty="0"/>
          </a:p>
        </p:txBody>
      </p:sp>
      <p:sp>
        <p:nvSpPr>
          <p:cNvPr id="12" name="Shape 7"/>
          <p:cNvSpPr/>
          <p:nvPr/>
        </p:nvSpPr>
        <p:spPr>
          <a:xfrm>
            <a:off x="640080" y="3566160"/>
            <a:ext cx="10908792" cy="548640"/>
          </a:xfrm>
          <a:prstGeom prst="roundRect">
            <a:avLst>
              <a:gd name="adj" fmla="val 13333"/>
            </a:avLst>
          </a:prstGeom>
          <a:solidFill>
            <a:srgbClr val="141F33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712464"/>
            <a:ext cx="256032" cy="25603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80160" y="35661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Department, aggregating lists of Instructor and Student objects</a:t>
            </a:r>
            <a:endParaRPr lang="en-US" sz="1350" dirty="0"/>
          </a:p>
        </p:txBody>
      </p:sp>
      <p:sp>
        <p:nvSpPr>
          <p:cNvPr id="15" name="Shape 9"/>
          <p:cNvSpPr/>
          <p:nvPr/>
        </p:nvSpPr>
        <p:spPr>
          <a:xfrm>
            <a:off x="640080" y="4251960"/>
            <a:ext cx="10908792" cy="548640"/>
          </a:xfrm>
          <a:prstGeom prst="roundRect">
            <a:avLst>
              <a:gd name="adj" fmla="val 13333"/>
            </a:avLst>
          </a:prstGeom>
          <a:solidFill>
            <a:srgbClr val="141F33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4398264"/>
            <a:ext cx="256032" cy="25603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280160" y="42519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average_gpa() and average_salary()-style aggregate methods on Department</a:t>
            </a:r>
            <a:endParaRPr lang="en-US" sz="1350" dirty="0"/>
          </a:p>
        </p:txBody>
      </p:sp>
      <p:sp>
        <p:nvSpPr>
          <p:cNvPr id="18" name="Shape 11"/>
          <p:cNvSpPr/>
          <p:nvPr/>
        </p:nvSpPr>
        <p:spPr>
          <a:xfrm>
            <a:off x="640080" y="4937760"/>
            <a:ext cx="10908792" cy="548640"/>
          </a:xfrm>
          <a:prstGeom prst="roundRect">
            <a:avLst>
              <a:gd name="adj" fmla="val 13333"/>
            </a:avLst>
          </a:prstGeom>
          <a:solidFill>
            <a:srgbClr val="141F33"/>
          </a:solidFill>
          <a:ln/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5084064"/>
            <a:ext cx="256032" cy="256032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280160" y="4937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an Instructor object still works correctly if removed from a Department's list</a:t>
            </a:r>
            <a:endParaRPr lang="en-US" sz="1350" dirty="0"/>
          </a:p>
        </p:txBody>
      </p:sp>
      <p:sp>
        <p:nvSpPr>
          <p:cNvPr id="21" name="Text 1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9</a:t>
            </a:r>
            <a:endParaRPr lang="en-US" sz="1000" dirty="0"/>
          </a:p>
        </p:txBody>
      </p:sp>
      <p:sp>
        <p:nvSpPr>
          <p:cNvPr id="22" name="Text 1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465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691640"/>
            <a:ext cx="1042416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 models “is-a”; composition and aggregation model “has-a” — use the one that matches the real relationship</a:t>
            </a:r>
            <a:endParaRPr lang="en-US" sz="13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606040"/>
            <a:ext cx="274320" cy="2743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97280" y="2551176"/>
            <a:ext cx="1042416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composition, the container creates and owns the contained object's lifecycle</a:t>
            </a:r>
            <a:endParaRPr lang="en-US" sz="13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465576"/>
            <a:ext cx="274320" cy="27432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97280" y="3410712"/>
            <a:ext cx="1042416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aggregation, the contained object is created independently and can outlive the container</a:t>
            </a:r>
            <a:endParaRPr lang="en-US" sz="135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325112"/>
            <a:ext cx="274320" cy="27432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097280" y="4270248"/>
            <a:ext cx="1042416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“Favor composition over inheritance” is a useful default when a relationship is ambiguous</a:t>
            </a:r>
            <a:endParaRPr lang="en-US" sz="135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5184648"/>
            <a:ext cx="274320" cy="27432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097280" y="5129784"/>
            <a:ext cx="1042416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Delegation — calling a composed object's methods instead of reimplementing them — is composition's natural companion pattern</a:t>
            </a:r>
            <a:endParaRPr lang="en-US" sz="1350" dirty="0"/>
          </a:p>
        </p:txBody>
      </p:sp>
      <p:sp>
        <p:nvSpPr>
          <p:cNvPr id="13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9</a:t>
            </a:r>
            <a:endParaRPr lang="en-US" sz="1000" dirty="0"/>
          </a:p>
        </p:txBody>
      </p:sp>
      <p:sp>
        <p:nvSpPr>
          <p:cNvPr id="14" name="Text 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Week: Exception Handling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10972800" cy="4206240"/>
          </a:xfrm>
          <a:prstGeom prst="roundRect">
            <a:avLst>
              <a:gd name="adj" fmla="val 2609"/>
            </a:avLst>
          </a:prstGeom>
          <a:solidFill>
            <a:srgbClr val="EC4899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828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1945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Handling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14400" y="2971800"/>
            <a:ext cx="10424160" cy="525780"/>
          </a:xfrm>
          <a:prstGeom prst="roundRect">
            <a:avLst>
              <a:gd name="adj" fmla="val 13913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2971800"/>
            <a:ext cx="1005840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Formalizing the “guard clause” pattern from Week 3 with try, except, finally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14400" y="3634740"/>
            <a:ext cx="10424160" cy="525780"/>
          </a:xfrm>
          <a:prstGeom prst="roundRect">
            <a:avLst>
              <a:gd name="adj" fmla="val 13913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3634740"/>
            <a:ext cx="1005840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Raising and catching specific exception types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14400" y="4297680"/>
            <a:ext cx="10424160" cy="525780"/>
          </a:xfrm>
          <a:prstGeom prst="roundRect">
            <a:avLst>
              <a:gd name="adj" fmla="val 13913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4297680"/>
            <a:ext cx="1005840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custom exception classes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14400" y="4960620"/>
            <a:ext cx="10424160" cy="525780"/>
          </a:xfrm>
          <a:prstGeom prst="roundRect">
            <a:avLst>
              <a:gd name="adj" fmla="val 13913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4960620"/>
            <a:ext cx="1005840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Lab: an ATM Simulation with robust error handling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9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2286000"/>
            <a:ext cx="6400800" cy="6400800"/>
          </a:xfrm>
          <a:prstGeom prst="ellipse">
            <a:avLst/>
          </a:prstGeom>
          <a:solidFill>
            <a:srgbClr val="3D1130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6517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356616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next class: finish the Week 9 lab notebook — average_gpa() should correctly handle a department with zero students.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2026-08-25T10:14:54Z</dcterms:created>
  <dcterms:modified xsi:type="dcterms:W3CDTF">2026-08-25T10:14:54Z</dcterms:modified>
</cp:coreProperties>
</file>