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03920" y="-2286000"/>
            <a:ext cx="6400800" cy="6400800"/>
          </a:xfrm>
          <a:prstGeom prst="ellipse">
            <a:avLst/>
          </a:prstGeom>
          <a:solidFill>
            <a:srgbClr val="0A2E33">
              <a:alpha val="60000"/>
            </a:srgbClr>
          </a:solidFill>
          <a:ln/>
        </p:spPr>
      </p:sp>
      <p:sp>
        <p:nvSpPr>
          <p:cNvPr id="3" name="Shape 1"/>
          <p:cNvSpPr/>
          <p:nvPr/>
        </p:nvSpPr>
        <p:spPr>
          <a:xfrm>
            <a:off x="10241280" y="4114800"/>
            <a:ext cx="3657600" cy="3657600"/>
          </a:xfrm>
          <a:prstGeom prst="ellipse">
            <a:avLst/>
          </a:prstGeom>
          <a:solidFill>
            <a:srgbClr val="0A2E33">
              <a:alpha val="45000"/>
            </a:srgbClr>
          </a:solidFill>
          <a:ln/>
        </p:spPr>
      </p:sp>
      <p:sp>
        <p:nvSpPr>
          <p:cNvPr id="4" name="Text 2"/>
          <p:cNvSpPr/>
          <p:nvPr/>
        </p:nvSpPr>
        <p:spPr>
          <a:xfrm>
            <a:off x="731520" y="1371600"/>
            <a:ext cx="7315200" cy="457200"/>
          </a:xfrm>
          <a:prstGeom prst="rect">
            <a:avLst/>
          </a:prstGeom>
          <a:noFill/>
          <a:ln/>
        </p:spPr>
        <p:txBody>
          <a:bodyPr wrap="square" lIns="0" tIns="0" rIns="0" bIns="0" rtlCol="0" anchor="ctr"/>
          <a:lstStyle/>
          <a:p>
            <a:pPr indent="0" marL="0">
              <a:buNone/>
            </a:pPr>
            <a:r>
              <a:rPr lang="en-US" sz="1600" b="1" spc="300" kern="0" dirty="0">
                <a:solidFill>
                  <a:srgbClr val="06B6D4"/>
                </a:solidFill>
                <a:latin typeface="Calibri" pitchFamily="34" charset="0"/>
                <a:ea typeface="Calibri" pitchFamily="34" charset="-122"/>
                <a:cs typeface="Calibri" pitchFamily="34" charset="-120"/>
              </a:rPr>
              <a:t>WEEK 5</a:t>
            </a:r>
            <a:endParaRPr lang="en-US" sz="1600" dirty="0"/>
          </a:p>
        </p:txBody>
      </p:sp>
      <p:sp>
        <p:nvSpPr>
          <p:cNvPr id="5" name="Text 3"/>
          <p:cNvSpPr/>
          <p:nvPr/>
        </p:nvSpPr>
        <p:spPr>
          <a:xfrm>
            <a:off x="731520" y="1828800"/>
            <a:ext cx="9875520" cy="1280160"/>
          </a:xfrm>
          <a:prstGeom prst="rect">
            <a:avLst/>
          </a:prstGeom>
          <a:noFill/>
          <a:ln/>
        </p:spPr>
        <p:txBody>
          <a:bodyPr wrap="square" lIns="0" tIns="0" rIns="0" bIns="0" rtlCol="0" anchor="ctr"/>
          <a:lstStyle/>
          <a:p>
            <a:pPr indent="0" marL="0">
              <a:lnSpc>
                <a:spcPct val="105000"/>
              </a:lnSpc>
              <a:buNone/>
            </a:pPr>
            <a:r>
              <a:rPr lang="en-US" sz="4200" b="1" dirty="0">
                <a:solidFill>
                  <a:srgbClr val="F1F5F9"/>
                </a:solidFill>
                <a:latin typeface="Calibri" pitchFamily="34" charset="0"/>
                <a:ea typeface="Calibri" pitchFamily="34" charset="-122"/>
                <a:cs typeface="Calibri" pitchFamily="34" charset="-120"/>
              </a:rPr>
              <a:t>Inheritance</a:t>
            </a:r>
            <a:endParaRPr lang="en-US" sz="4200" dirty="0"/>
          </a:p>
        </p:txBody>
      </p:sp>
      <p:sp>
        <p:nvSpPr>
          <p:cNvPr id="6" name="Text 4"/>
          <p:cNvSpPr/>
          <p:nvPr/>
        </p:nvSpPr>
        <p:spPr>
          <a:xfrm>
            <a:off x="731520" y="3108960"/>
            <a:ext cx="8229600" cy="45720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Reusing and Extending Classes — Python 3.x</a:t>
            </a:r>
            <a:endParaRPr lang="en-US" sz="1700" dirty="0"/>
          </a:p>
        </p:txBody>
      </p:sp>
      <p:sp>
        <p:nvSpPr>
          <p:cNvPr id="7" name="Shape 5"/>
          <p:cNvSpPr/>
          <p:nvPr/>
        </p:nvSpPr>
        <p:spPr>
          <a:xfrm>
            <a:off x="731520" y="3749040"/>
            <a:ext cx="2011680" cy="0"/>
          </a:xfrm>
          <a:prstGeom prst="line">
            <a:avLst/>
          </a:prstGeom>
          <a:noFill/>
          <a:ln w="31750">
            <a:solidFill>
              <a:srgbClr val="06B6D4"/>
            </a:solidFill>
            <a:prstDash val="solid"/>
          </a:ln>
        </p:spPr>
      </p:sp>
      <p:sp>
        <p:nvSpPr>
          <p:cNvPr id="8" name="Text 6"/>
          <p:cNvSpPr/>
          <p:nvPr/>
        </p:nvSpPr>
        <p:spPr>
          <a:xfrm>
            <a:off x="731520" y="5943600"/>
            <a:ext cx="73152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UYG203  ·  Object Oriented Programming  ·  Software Development</a:t>
            </a:r>
            <a:endParaRPr lang="en-US" sz="1200" dirty="0"/>
          </a:p>
        </p:txBody>
      </p:sp>
      <p:sp>
        <p:nvSpPr>
          <p:cNvPr id="9"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0"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Last Week, in Brief</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94869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Encapsulation bundles data with the methods that protect it, using _protected naming and @property</a:t>
            </a:r>
            <a:endParaRPr lang="en-US" sz="1250" dirty="0"/>
          </a:p>
        </p:txBody>
      </p:sp>
      <p:pic>
        <p:nvPicPr>
          <p:cNvPr id="7" name="Image 1" descr="preencoded.png">    </p:cNvPr>
          <p:cNvPicPr>
            <a:picLocks noChangeAspect="1"/>
          </p:cNvPicPr>
          <p:nvPr/>
        </p:nvPicPr>
        <p:blipFill>
          <a:blip r:embed="rId2"/>
          <a:stretch>
            <a:fillRect/>
          </a:stretch>
        </p:blipFill>
        <p:spPr>
          <a:xfrm>
            <a:off x="914400" y="2942082"/>
            <a:ext cx="201168" cy="201168"/>
          </a:xfrm>
          <a:prstGeom prst="rect">
            <a:avLst/>
          </a:prstGeom>
        </p:spPr>
      </p:pic>
      <p:sp>
        <p:nvSpPr>
          <p:cNvPr id="8" name="Text 4"/>
          <p:cNvSpPr/>
          <p:nvPr/>
        </p:nvSpPr>
        <p:spPr>
          <a:xfrm>
            <a:off x="1234440" y="2859786"/>
            <a:ext cx="10104120" cy="94869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@property lets validated logic run behind ordinary attribute syntax</a:t>
            </a:r>
            <a:endParaRPr lang="en-US" sz="1250" dirty="0"/>
          </a:p>
        </p:txBody>
      </p:sp>
      <p:pic>
        <p:nvPicPr>
          <p:cNvPr id="9" name="Image 2" descr="preencoded.png">    </p:cNvPr>
          <p:cNvPicPr>
            <a:picLocks noChangeAspect="1"/>
          </p:cNvPicPr>
          <p:nvPr/>
        </p:nvPicPr>
        <p:blipFill>
          <a:blip r:embed="rId3"/>
          <a:stretch>
            <a:fillRect/>
          </a:stretch>
        </p:blipFill>
        <p:spPr>
          <a:xfrm>
            <a:off x="914400" y="3890772"/>
            <a:ext cx="201168" cy="201168"/>
          </a:xfrm>
          <a:prstGeom prst="rect">
            <a:avLst/>
          </a:prstGeom>
        </p:spPr>
      </p:pic>
      <p:sp>
        <p:nvSpPr>
          <p:cNvPr id="10" name="Text 5"/>
          <p:cNvSpPr/>
          <p:nvPr/>
        </p:nvSpPr>
        <p:spPr>
          <a:xfrm>
            <a:off x="1234440" y="3808476"/>
            <a:ext cx="10104120" cy="94869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Today we tackle a pain point from Week 1 that's still unsolved: duplicated logic across similar classes</a:t>
            </a:r>
            <a:endParaRPr lang="en-US" sz="1250" dirty="0"/>
          </a:p>
        </p:txBody>
      </p:sp>
      <p:pic>
        <p:nvPicPr>
          <p:cNvPr id="11" name="Image 3" descr="preencoded.png">    </p:cNvPr>
          <p:cNvPicPr>
            <a:picLocks noChangeAspect="1"/>
          </p:cNvPicPr>
          <p:nvPr/>
        </p:nvPicPr>
        <p:blipFill>
          <a:blip r:embed="rId4"/>
          <a:stretch>
            <a:fillRect/>
          </a:stretch>
        </p:blipFill>
        <p:spPr>
          <a:xfrm>
            <a:off x="914400" y="4839462"/>
            <a:ext cx="201168" cy="201168"/>
          </a:xfrm>
          <a:prstGeom prst="rect">
            <a:avLst/>
          </a:prstGeom>
        </p:spPr>
      </p:pic>
      <p:sp>
        <p:nvSpPr>
          <p:cNvPr id="12" name="Text 6"/>
          <p:cNvSpPr/>
          <p:nvPr/>
        </p:nvSpPr>
        <p:spPr>
          <a:xfrm>
            <a:off x="1234440" y="4757166"/>
            <a:ext cx="10104120" cy="94869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Inheritance lets a new class reuse and extend an existing one, instead of starting from scratch</a:t>
            </a:r>
            <a:endParaRPr lang="en-US" sz="1250" dirty="0"/>
          </a:p>
        </p:txBody>
      </p:sp>
      <p:sp>
        <p:nvSpPr>
          <p:cNvPr id="13"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4"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14-Week Roadmap</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Where today's session fits into the semester</a:t>
            </a:r>
            <a:endParaRPr lang="en-US" sz="1350" dirty="0"/>
          </a:p>
        </p:txBody>
      </p:sp>
      <p:sp>
        <p:nvSpPr>
          <p:cNvPr id="4" name="Shape 2"/>
          <p:cNvSpPr/>
          <p:nvPr/>
        </p:nvSpPr>
        <p:spPr>
          <a:xfrm>
            <a:off x="640080" y="1691640"/>
            <a:ext cx="1536192" cy="1051560"/>
          </a:xfrm>
          <a:prstGeom prst="roundRect">
            <a:avLst>
              <a:gd name="adj" fmla="val 8696"/>
            </a:avLst>
          </a:prstGeom>
          <a:solidFill>
            <a:srgbClr val="1B2A45"/>
          </a:solidFill>
          <a:ln/>
        </p:spPr>
      </p:sp>
      <p:sp>
        <p:nvSpPr>
          <p:cNvPr id="5" name="Text 3"/>
          <p:cNvSpPr/>
          <p:nvPr/>
        </p:nvSpPr>
        <p:spPr>
          <a:xfrm>
            <a:off x="731520"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a:t>
            </a:r>
            <a:endParaRPr lang="en-US" sz="1100" dirty="0"/>
          </a:p>
        </p:txBody>
      </p:sp>
      <p:sp>
        <p:nvSpPr>
          <p:cNvPr id="6" name="Text 4"/>
          <p:cNvSpPr/>
          <p:nvPr/>
        </p:nvSpPr>
        <p:spPr>
          <a:xfrm>
            <a:off x="731520"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Intro to OOP</a:t>
            </a:r>
            <a:endParaRPr lang="en-US" sz="1050" dirty="0"/>
          </a:p>
        </p:txBody>
      </p:sp>
      <p:sp>
        <p:nvSpPr>
          <p:cNvPr id="7" name="Shape 5"/>
          <p:cNvSpPr/>
          <p:nvPr/>
        </p:nvSpPr>
        <p:spPr>
          <a:xfrm>
            <a:off x="2304288" y="1691640"/>
            <a:ext cx="1536192" cy="1051560"/>
          </a:xfrm>
          <a:prstGeom prst="roundRect">
            <a:avLst>
              <a:gd name="adj" fmla="val 8696"/>
            </a:avLst>
          </a:prstGeom>
          <a:solidFill>
            <a:srgbClr val="1B2A45"/>
          </a:solidFill>
          <a:ln/>
        </p:spPr>
      </p:sp>
      <p:sp>
        <p:nvSpPr>
          <p:cNvPr id="8" name="Text 6"/>
          <p:cNvSpPr/>
          <p:nvPr/>
        </p:nvSpPr>
        <p:spPr>
          <a:xfrm>
            <a:off x="2395728"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W2</a:t>
            </a:r>
            <a:endParaRPr lang="en-US" sz="1100" dirty="0"/>
          </a:p>
        </p:txBody>
      </p:sp>
      <p:sp>
        <p:nvSpPr>
          <p:cNvPr id="9" name="Text 7"/>
          <p:cNvSpPr/>
          <p:nvPr/>
        </p:nvSpPr>
        <p:spPr>
          <a:xfrm>
            <a:off x="2395728"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Classes &amp; Objects</a:t>
            </a:r>
            <a:endParaRPr lang="en-US" sz="1050" dirty="0"/>
          </a:p>
        </p:txBody>
      </p:sp>
      <p:sp>
        <p:nvSpPr>
          <p:cNvPr id="10" name="Shape 8"/>
          <p:cNvSpPr/>
          <p:nvPr/>
        </p:nvSpPr>
        <p:spPr>
          <a:xfrm>
            <a:off x="3968496" y="1691640"/>
            <a:ext cx="1536192" cy="1051560"/>
          </a:xfrm>
          <a:prstGeom prst="roundRect">
            <a:avLst>
              <a:gd name="adj" fmla="val 8696"/>
            </a:avLst>
          </a:prstGeom>
          <a:solidFill>
            <a:srgbClr val="1B2A45"/>
          </a:solidFill>
          <a:ln/>
        </p:spPr>
      </p:sp>
      <p:sp>
        <p:nvSpPr>
          <p:cNvPr id="11" name="Text 9"/>
          <p:cNvSpPr/>
          <p:nvPr/>
        </p:nvSpPr>
        <p:spPr>
          <a:xfrm>
            <a:off x="4059936"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W3</a:t>
            </a:r>
            <a:endParaRPr lang="en-US" sz="1100" dirty="0"/>
          </a:p>
        </p:txBody>
      </p:sp>
      <p:sp>
        <p:nvSpPr>
          <p:cNvPr id="12" name="Text 10"/>
          <p:cNvSpPr/>
          <p:nvPr/>
        </p:nvSpPr>
        <p:spPr>
          <a:xfrm>
            <a:off x="4059936"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Attributes &amp; Methods</a:t>
            </a:r>
            <a:endParaRPr lang="en-US" sz="1050" dirty="0"/>
          </a:p>
        </p:txBody>
      </p:sp>
      <p:sp>
        <p:nvSpPr>
          <p:cNvPr id="13" name="Shape 11"/>
          <p:cNvSpPr/>
          <p:nvPr/>
        </p:nvSpPr>
        <p:spPr>
          <a:xfrm>
            <a:off x="5632704" y="1691640"/>
            <a:ext cx="1536192" cy="1051560"/>
          </a:xfrm>
          <a:prstGeom prst="roundRect">
            <a:avLst>
              <a:gd name="adj" fmla="val 8696"/>
            </a:avLst>
          </a:prstGeom>
          <a:solidFill>
            <a:srgbClr val="1B2A45"/>
          </a:solidFill>
          <a:ln/>
        </p:spPr>
      </p:sp>
      <p:sp>
        <p:nvSpPr>
          <p:cNvPr id="14" name="Text 12"/>
          <p:cNvSpPr/>
          <p:nvPr/>
        </p:nvSpPr>
        <p:spPr>
          <a:xfrm>
            <a:off x="5724144"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W4</a:t>
            </a:r>
            <a:endParaRPr lang="en-US" sz="1100" dirty="0"/>
          </a:p>
        </p:txBody>
      </p:sp>
      <p:sp>
        <p:nvSpPr>
          <p:cNvPr id="15" name="Text 13"/>
          <p:cNvSpPr/>
          <p:nvPr/>
        </p:nvSpPr>
        <p:spPr>
          <a:xfrm>
            <a:off x="5724144"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Encapsulation</a:t>
            </a:r>
            <a:endParaRPr lang="en-US" sz="1050" dirty="0"/>
          </a:p>
        </p:txBody>
      </p:sp>
      <p:sp>
        <p:nvSpPr>
          <p:cNvPr id="16" name="Shape 14"/>
          <p:cNvSpPr/>
          <p:nvPr/>
        </p:nvSpPr>
        <p:spPr>
          <a:xfrm>
            <a:off x="7296912" y="1691640"/>
            <a:ext cx="1536192" cy="1051560"/>
          </a:xfrm>
          <a:prstGeom prst="roundRect">
            <a:avLst>
              <a:gd name="adj" fmla="val 8696"/>
            </a:avLst>
          </a:prstGeom>
          <a:solidFill>
            <a:srgbClr val="06B6D4"/>
          </a:solidFill>
          <a:ln/>
        </p:spPr>
      </p:sp>
      <p:sp>
        <p:nvSpPr>
          <p:cNvPr id="17" name="Text 15"/>
          <p:cNvSpPr/>
          <p:nvPr/>
        </p:nvSpPr>
        <p:spPr>
          <a:xfrm>
            <a:off x="7388352" y="1783080"/>
            <a:ext cx="1353312" cy="274320"/>
          </a:xfrm>
          <a:prstGeom prst="rect">
            <a:avLst/>
          </a:prstGeom>
          <a:noFill/>
          <a:ln/>
        </p:spPr>
        <p:txBody>
          <a:bodyPr wrap="square" lIns="0" tIns="0" rIns="0" bIns="0" rtlCol="0" anchor="ctr"/>
          <a:lstStyle/>
          <a:p>
            <a:pPr indent="0" marL="0">
              <a:buNone/>
            </a:pPr>
            <a:r>
              <a:rPr lang="en-US" sz="1100" b="1" dirty="0">
                <a:solidFill>
                  <a:srgbClr val="0B1220"/>
                </a:solidFill>
                <a:latin typeface="Calibri" pitchFamily="34" charset="0"/>
                <a:ea typeface="Calibri" pitchFamily="34" charset="-122"/>
                <a:cs typeface="Calibri" pitchFamily="34" charset="-120"/>
              </a:rPr>
              <a:t>W5</a:t>
            </a:r>
            <a:endParaRPr lang="en-US" sz="1100" dirty="0"/>
          </a:p>
        </p:txBody>
      </p:sp>
      <p:sp>
        <p:nvSpPr>
          <p:cNvPr id="18" name="Text 16"/>
          <p:cNvSpPr/>
          <p:nvPr/>
        </p:nvSpPr>
        <p:spPr>
          <a:xfrm>
            <a:off x="7388352" y="2075688"/>
            <a:ext cx="1353312" cy="594360"/>
          </a:xfrm>
          <a:prstGeom prst="rect">
            <a:avLst/>
          </a:prstGeom>
          <a:noFill/>
          <a:ln/>
        </p:spPr>
        <p:txBody>
          <a:bodyPr wrap="square" lIns="0" tIns="0" rIns="0" bIns="0" rtlCol="0" anchor="t"/>
          <a:lstStyle/>
          <a:p>
            <a:pPr indent="0" marL="0">
              <a:buNone/>
            </a:pPr>
            <a:r>
              <a:rPr lang="en-US" sz="1050" dirty="0">
                <a:solidFill>
                  <a:srgbClr val="0B1220"/>
                </a:solidFill>
                <a:latin typeface="Calibri" pitchFamily="34" charset="0"/>
                <a:ea typeface="Calibri" pitchFamily="34" charset="-122"/>
                <a:cs typeface="Calibri" pitchFamily="34" charset="-120"/>
              </a:rPr>
              <a:t>Inheritance</a:t>
            </a:r>
            <a:endParaRPr lang="en-US" sz="1050" dirty="0"/>
          </a:p>
        </p:txBody>
      </p:sp>
      <p:sp>
        <p:nvSpPr>
          <p:cNvPr id="19" name="Shape 17"/>
          <p:cNvSpPr/>
          <p:nvPr/>
        </p:nvSpPr>
        <p:spPr>
          <a:xfrm>
            <a:off x="8961120" y="1691640"/>
            <a:ext cx="1536192" cy="1051560"/>
          </a:xfrm>
          <a:prstGeom prst="roundRect">
            <a:avLst>
              <a:gd name="adj" fmla="val 8696"/>
            </a:avLst>
          </a:prstGeom>
          <a:solidFill>
            <a:srgbClr val="141F33"/>
          </a:solidFill>
          <a:ln/>
        </p:spPr>
      </p:sp>
      <p:sp>
        <p:nvSpPr>
          <p:cNvPr id="20" name="Text 18"/>
          <p:cNvSpPr/>
          <p:nvPr/>
        </p:nvSpPr>
        <p:spPr>
          <a:xfrm>
            <a:off x="9052560"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W6</a:t>
            </a:r>
            <a:endParaRPr lang="en-US" sz="1100" dirty="0"/>
          </a:p>
        </p:txBody>
      </p:sp>
      <p:sp>
        <p:nvSpPr>
          <p:cNvPr id="21" name="Text 19"/>
          <p:cNvSpPr/>
          <p:nvPr/>
        </p:nvSpPr>
        <p:spPr>
          <a:xfrm>
            <a:off x="9052560"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Polymorphism</a:t>
            </a:r>
            <a:endParaRPr lang="en-US" sz="1050" dirty="0"/>
          </a:p>
        </p:txBody>
      </p:sp>
      <p:sp>
        <p:nvSpPr>
          <p:cNvPr id="22" name="Shape 20"/>
          <p:cNvSpPr/>
          <p:nvPr/>
        </p:nvSpPr>
        <p:spPr>
          <a:xfrm>
            <a:off x="10625328" y="1691640"/>
            <a:ext cx="1536192" cy="1051560"/>
          </a:xfrm>
          <a:prstGeom prst="roundRect">
            <a:avLst>
              <a:gd name="adj" fmla="val 8696"/>
            </a:avLst>
          </a:prstGeom>
          <a:solidFill>
            <a:srgbClr val="141F33"/>
          </a:solidFill>
          <a:ln/>
        </p:spPr>
      </p:sp>
      <p:sp>
        <p:nvSpPr>
          <p:cNvPr id="23" name="Text 21"/>
          <p:cNvSpPr/>
          <p:nvPr/>
        </p:nvSpPr>
        <p:spPr>
          <a:xfrm>
            <a:off x="10716768" y="1783080"/>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W7</a:t>
            </a:r>
            <a:endParaRPr lang="en-US" sz="1100" dirty="0"/>
          </a:p>
        </p:txBody>
      </p:sp>
      <p:sp>
        <p:nvSpPr>
          <p:cNvPr id="24" name="Text 22"/>
          <p:cNvSpPr/>
          <p:nvPr/>
        </p:nvSpPr>
        <p:spPr>
          <a:xfrm>
            <a:off x="10716768"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Abstraction</a:t>
            </a:r>
            <a:endParaRPr lang="en-US" sz="1050" dirty="0"/>
          </a:p>
        </p:txBody>
      </p:sp>
      <p:sp>
        <p:nvSpPr>
          <p:cNvPr id="25" name="Shape 23"/>
          <p:cNvSpPr/>
          <p:nvPr/>
        </p:nvSpPr>
        <p:spPr>
          <a:xfrm>
            <a:off x="640080" y="2907792"/>
            <a:ext cx="1536192" cy="1051560"/>
          </a:xfrm>
          <a:prstGeom prst="roundRect">
            <a:avLst>
              <a:gd name="adj" fmla="val 8696"/>
            </a:avLst>
          </a:prstGeom>
          <a:solidFill>
            <a:srgbClr val="141F33"/>
          </a:solidFill>
          <a:ln/>
        </p:spPr>
      </p:sp>
      <p:sp>
        <p:nvSpPr>
          <p:cNvPr id="26" name="Text 24"/>
          <p:cNvSpPr/>
          <p:nvPr/>
        </p:nvSpPr>
        <p:spPr>
          <a:xfrm>
            <a:off x="731520"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W8</a:t>
            </a:r>
            <a:endParaRPr lang="en-US" sz="1100" dirty="0"/>
          </a:p>
        </p:txBody>
      </p:sp>
      <p:sp>
        <p:nvSpPr>
          <p:cNvPr id="27" name="Text 25"/>
          <p:cNvSpPr/>
          <p:nvPr/>
        </p:nvSpPr>
        <p:spPr>
          <a:xfrm>
            <a:off x="731520"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Midterm</a:t>
            </a:r>
            <a:endParaRPr lang="en-US" sz="1050" dirty="0"/>
          </a:p>
        </p:txBody>
      </p:sp>
      <p:sp>
        <p:nvSpPr>
          <p:cNvPr id="28" name="Shape 26"/>
          <p:cNvSpPr/>
          <p:nvPr/>
        </p:nvSpPr>
        <p:spPr>
          <a:xfrm>
            <a:off x="2304288" y="2907792"/>
            <a:ext cx="1536192" cy="1051560"/>
          </a:xfrm>
          <a:prstGeom prst="roundRect">
            <a:avLst>
              <a:gd name="adj" fmla="val 8696"/>
            </a:avLst>
          </a:prstGeom>
          <a:solidFill>
            <a:srgbClr val="141F33"/>
          </a:solidFill>
          <a:ln/>
        </p:spPr>
      </p:sp>
      <p:sp>
        <p:nvSpPr>
          <p:cNvPr id="29" name="Text 27"/>
          <p:cNvSpPr/>
          <p:nvPr/>
        </p:nvSpPr>
        <p:spPr>
          <a:xfrm>
            <a:off x="2395728"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W9</a:t>
            </a:r>
            <a:endParaRPr lang="en-US" sz="1100" dirty="0"/>
          </a:p>
        </p:txBody>
      </p:sp>
      <p:sp>
        <p:nvSpPr>
          <p:cNvPr id="30" name="Text 28"/>
          <p:cNvSpPr/>
          <p:nvPr/>
        </p:nvSpPr>
        <p:spPr>
          <a:xfrm>
            <a:off x="2395728"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Composition</a:t>
            </a:r>
            <a:endParaRPr lang="en-US" sz="1050" dirty="0"/>
          </a:p>
        </p:txBody>
      </p:sp>
      <p:sp>
        <p:nvSpPr>
          <p:cNvPr id="31" name="Shape 29"/>
          <p:cNvSpPr/>
          <p:nvPr/>
        </p:nvSpPr>
        <p:spPr>
          <a:xfrm>
            <a:off x="3968496" y="2907792"/>
            <a:ext cx="1536192" cy="1051560"/>
          </a:xfrm>
          <a:prstGeom prst="roundRect">
            <a:avLst>
              <a:gd name="adj" fmla="val 8696"/>
            </a:avLst>
          </a:prstGeom>
          <a:solidFill>
            <a:srgbClr val="141F33"/>
          </a:solidFill>
          <a:ln/>
        </p:spPr>
      </p:sp>
      <p:sp>
        <p:nvSpPr>
          <p:cNvPr id="32" name="Text 30"/>
          <p:cNvSpPr/>
          <p:nvPr/>
        </p:nvSpPr>
        <p:spPr>
          <a:xfrm>
            <a:off x="4059936"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W10</a:t>
            </a:r>
            <a:endParaRPr lang="en-US" sz="1100" dirty="0"/>
          </a:p>
        </p:txBody>
      </p:sp>
      <p:sp>
        <p:nvSpPr>
          <p:cNvPr id="33" name="Text 31"/>
          <p:cNvSpPr/>
          <p:nvPr/>
        </p:nvSpPr>
        <p:spPr>
          <a:xfrm>
            <a:off x="4059936"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Exceptions</a:t>
            </a:r>
            <a:endParaRPr lang="en-US" sz="1050" dirty="0"/>
          </a:p>
        </p:txBody>
      </p:sp>
      <p:sp>
        <p:nvSpPr>
          <p:cNvPr id="34" name="Shape 32"/>
          <p:cNvSpPr/>
          <p:nvPr/>
        </p:nvSpPr>
        <p:spPr>
          <a:xfrm>
            <a:off x="5632704" y="2907792"/>
            <a:ext cx="1536192" cy="1051560"/>
          </a:xfrm>
          <a:prstGeom prst="roundRect">
            <a:avLst>
              <a:gd name="adj" fmla="val 8696"/>
            </a:avLst>
          </a:prstGeom>
          <a:solidFill>
            <a:srgbClr val="141F33"/>
          </a:solidFill>
          <a:ln/>
        </p:spPr>
      </p:sp>
      <p:sp>
        <p:nvSpPr>
          <p:cNvPr id="35" name="Text 33"/>
          <p:cNvSpPr/>
          <p:nvPr/>
        </p:nvSpPr>
        <p:spPr>
          <a:xfrm>
            <a:off x="5724144"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W11</a:t>
            </a:r>
            <a:endParaRPr lang="en-US" sz="1100" dirty="0"/>
          </a:p>
        </p:txBody>
      </p:sp>
      <p:sp>
        <p:nvSpPr>
          <p:cNvPr id="36" name="Text 34"/>
          <p:cNvSpPr/>
          <p:nvPr/>
        </p:nvSpPr>
        <p:spPr>
          <a:xfrm>
            <a:off x="5724144"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File Handling</a:t>
            </a:r>
            <a:endParaRPr lang="en-US" sz="1050" dirty="0"/>
          </a:p>
        </p:txBody>
      </p:sp>
      <p:sp>
        <p:nvSpPr>
          <p:cNvPr id="37" name="Shape 35"/>
          <p:cNvSpPr/>
          <p:nvPr/>
        </p:nvSpPr>
        <p:spPr>
          <a:xfrm>
            <a:off x="7296912" y="2907792"/>
            <a:ext cx="1536192" cy="1051560"/>
          </a:xfrm>
          <a:prstGeom prst="roundRect">
            <a:avLst>
              <a:gd name="adj" fmla="val 8696"/>
            </a:avLst>
          </a:prstGeom>
          <a:solidFill>
            <a:srgbClr val="141F33"/>
          </a:solidFill>
          <a:ln/>
        </p:spPr>
      </p:sp>
      <p:sp>
        <p:nvSpPr>
          <p:cNvPr id="38" name="Text 36"/>
          <p:cNvSpPr/>
          <p:nvPr/>
        </p:nvSpPr>
        <p:spPr>
          <a:xfrm>
            <a:off x="7388352"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W12</a:t>
            </a:r>
            <a:endParaRPr lang="en-US" sz="1100" dirty="0"/>
          </a:p>
        </p:txBody>
      </p:sp>
      <p:sp>
        <p:nvSpPr>
          <p:cNvPr id="39" name="Text 37"/>
          <p:cNvSpPr/>
          <p:nvPr/>
        </p:nvSpPr>
        <p:spPr>
          <a:xfrm>
            <a:off x="7388352"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Modules &amp; Testing</a:t>
            </a:r>
            <a:endParaRPr lang="en-US" sz="1050" dirty="0"/>
          </a:p>
        </p:txBody>
      </p:sp>
      <p:sp>
        <p:nvSpPr>
          <p:cNvPr id="40" name="Shape 38"/>
          <p:cNvSpPr/>
          <p:nvPr/>
        </p:nvSpPr>
        <p:spPr>
          <a:xfrm>
            <a:off x="8961120" y="2907792"/>
            <a:ext cx="1536192" cy="1051560"/>
          </a:xfrm>
          <a:prstGeom prst="roundRect">
            <a:avLst>
              <a:gd name="adj" fmla="val 8696"/>
            </a:avLst>
          </a:prstGeom>
          <a:solidFill>
            <a:srgbClr val="141F33"/>
          </a:solidFill>
          <a:ln/>
        </p:spPr>
      </p:sp>
      <p:sp>
        <p:nvSpPr>
          <p:cNvPr id="41" name="Text 39"/>
          <p:cNvSpPr/>
          <p:nvPr/>
        </p:nvSpPr>
        <p:spPr>
          <a:xfrm>
            <a:off x="9052560"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W13</a:t>
            </a:r>
            <a:endParaRPr lang="en-US" sz="1100" dirty="0"/>
          </a:p>
        </p:txBody>
      </p:sp>
      <p:sp>
        <p:nvSpPr>
          <p:cNvPr id="42" name="Text 40"/>
          <p:cNvSpPr/>
          <p:nvPr/>
        </p:nvSpPr>
        <p:spPr>
          <a:xfrm>
            <a:off x="9052560"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Project Dev.</a:t>
            </a:r>
            <a:endParaRPr lang="en-US" sz="1050" dirty="0"/>
          </a:p>
        </p:txBody>
      </p:sp>
      <p:sp>
        <p:nvSpPr>
          <p:cNvPr id="43" name="Shape 41"/>
          <p:cNvSpPr/>
          <p:nvPr/>
        </p:nvSpPr>
        <p:spPr>
          <a:xfrm>
            <a:off x="10625328" y="2907792"/>
            <a:ext cx="1536192" cy="1051560"/>
          </a:xfrm>
          <a:prstGeom prst="roundRect">
            <a:avLst>
              <a:gd name="adj" fmla="val 8696"/>
            </a:avLst>
          </a:prstGeom>
          <a:solidFill>
            <a:srgbClr val="141F33"/>
          </a:solidFill>
          <a:ln/>
        </p:spPr>
      </p:sp>
      <p:sp>
        <p:nvSpPr>
          <p:cNvPr id="44" name="Text 42"/>
          <p:cNvSpPr/>
          <p:nvPr/>
        </p:nvSpPr>
        <p:spPr>
          <a:xfrm>
            <a:off x="10716768" y="2999232"/>
            <a:ext cx="1353312" cy="27432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W14</a:t>
            </a:r>
            <a:endParaRPr lang="en-US" sz="1100" dirty="0"/>
          </a:p>
        </p:txBody>
      </p:sp>
      <p:sp>
        <p:nvSpPr>
          <p:cNvPr id="45" name="Text 43"/>
          <p:cNvSpPr/>
          <p:nvPr/>
        </p:nvSpPr>
        <p:spPr>
          <a:xfrm>
            <a:off x="10716768"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Presentations</a:t>
            </a:r>
            <a:endParaRPr lang="en-US" sz="1050" dirty="0"/>
          </a:p>
        </p:txBody>
      </p:sp>
      <p:sp>
        <p:nvSpPr>
          <p:cNvPr id="46" name="Text 44"/>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47" name="Text 4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Learning Outcomes</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By the end of today, you will be able to:</a:t>
            </a:r>
            <a:endParaRPr lang="en-US" sz="1350" dirty="0"/>
          </a:p>
        </p:txBody>
      </p:sp>
      <p:sp>
        <p:nvSpPr>
          <p:cNvPr id="4" name="Shape 2"/>
          <p:cNvSpPr/>
          <p:nvPr/>
        </p:nvSpPr>
        <p:spPr>
          <a:xfrm>
            <a:off x="640080" y="1691640"/>
            <a:ext cx="457200" cy="457200"/>
          </a:xfrm>
          <a:prstGeom prst="roundRect">
            <a:avLst>
              <a:gd name="adj" fmla="val 50000"/>
            </a:avLst>
          </a:prstGeom>
          <a:solidFill>
            <a:srgbClr val="1B2A45"/>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80160" y="167335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Define a child class that inherits from a parent class</a:t>
            </a:r>
            <a:endParaRPr lang="en-US" sz="1350" dirty="0"/>
          </a:p>
        </p:txBody>
      </p:sp>
      <p:sp>
        <p:nvSpPr>
          <p:cNvPr id="7" name="Shape 5"/>
          <p:cNvSpPr/>
          <p:nvPr/>
        </p:nvSpPr>
        <p:spPr>
          <a:xfrm>
            <a:off x="640080" y="2407920"/>
            <a:ext cx="457200" cy="457200"/>
          </a:xfrm>
          <a:prstGeom prst="roundRect">
            <a:avLst>
              <a:gd name="adj" fmla="val 50000"/>
            </a:avLst>
          </a:prstGeom>
          <a:solidFill>
            <a:srgbClr val="1B2A45"/>
          </a:solidFill>
          <a:ln/>
        </p:spPr>
      </p:sp>
      <p:sp>
        <p:nvSpPr>
          <p:cNvPr id="8" name="Text 6"/>
          <p:cNvSpPr/>
          <p:nvPr/>
        </p:nvSpPr>
        <p:spPr>
          <a:xfrm>
            <a:off x="640080" y="240792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80160" y="238963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Explain exactly what a child class automatically receives from its parent</a:t>
            </a:r>
            <a:endParaRPr lang="en-US" sz="1350" dirty="0"/>
          </a:p>
        </p:txBody>
      </p:sp>
      <p:sp>
        <p:nvSpPr>
          <p:cNvPr id="10" name="Shape 8"/>
          <p:cNvSpPr/>
          <p:nvPr/>
        </p:nvSpPr>
        <p:spPr>
          <a:xfrm>
            <a:off x="640080" y="3124200"/>
            <a:ext cx="457200" cy="457200"/>
          </a:xfrm>
          <a:prstGeom prst="roundRect">
            <a:avLst>
              <a:gd name="adj" fmla="val 50000"/>
            </a:avLst>
          </a:prstGeom>
          <a:solidFill>
            <a:srgbClr val="1B2A45"/>
          </a:solidFill>
          <a:ln/>
        </p:spPr>
      </p:sp>
      <p:sp>
        <p:nvSpPr>
          <p:cNvPr id="11" name="Text 9"/>
          <p:cNvSpPr/>
          <p:nvPr/>
        </p:nvSpPr>
        <p:spPr>
          <a:xfrm>
            <a:off x="640080" y="312420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80160" y="310591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Use super() to call the parent's __init__() and methods correctly</a:t>
            </a:r>
            <a:endParaRPr lang="en-US" sz="1350" dirty="0"/>
          </a:p>
        </p:txBody>
      </p:sp>
      <p:sp>
        <p:nvSpPr>
          <p:cNvPr id="13" name="Shape 11"/>
          <p:cNvSpPr/>
          <p:nvPr/>
        </p:nvSpPr>
        <p:spPr>
          <a:xfrm>
            <a:off x="640080" y="3840480"/>
            <a:ext cx="457200" cy="457200"/>
          </a:xfrm>
          <a:prstGeom prst="roundRect">
            <a:avLst>
              <a:gd name="adj" fmla="val 50000"/>
            </a:avLst>
          </a:prstGeom>
          <a:solidFill>
            <a:srgbClr val="1B2A45"/>
          </a:solidFill>
          <a:ln/>
        </p:spPr>
      </p:sp>
      <p:sp>
        <p:nvSpPr>
          <p:cNvPr id="14" name="Text 12"/>
          <p:cNvSpPr/>
          <p:nvPr/>
        </p:nvSpPr>
        <p:spPr>
          <a:xfrm>
            <a:off x="640080" y="384048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80160" y="382219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Override a parent method in a child class, and extend rather than replace it when appropriate</a:t>
            </a:r>
            <a:endParaRPr lang="en-US" sz="1350" dirty="0"/>
          </a:p>
        </p:txBody>
      </p:sp>
      <p:sp>
        <p:nvSpPr>
          <p:cNvPr id="16" name="Shape 14"/>
          <p:cNvSpPr/>
          <p:nvPr/>
        </p:nvSpPr>
        <p:spPr>
          <a:xfrm>
            <a:off x="640080" y="4556760"/>
            <a:ext cx="457200" cy="457200"/>
          </a:xfrm>
          <a:prstGeom prst="roundRect">
            <a:avLst>
              <a:gd name="adj" fmla="val 50000"/>
            </a:avLst>
          </a:prstGeom>
          <a:solidFill>
            <a:srgbClr val="1B2A45"/>
          </a:solidFill>
          <a:ln/>
        </p:spPr>
      </p:sp>
      <p:sp>
        <p:nvSpPr>
          <p:cNvPr id="17" name="Text 15"/>
          <p:cNvSpPr/>
          <p:nvPr/>
        </p:nvSpPr>
        <p:spPr>
          <a:xfrm>
            <a:off x="640080" y="455676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80160" y="453847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Use isinstance() and issubclass() to reason about class hierarchies</a:t>
            </a:r>
            <a:endParaRPr lang="en-US" sz="1350" dirty="0"/>
          </a:p>
        </p:txBody>
      </p:sp>
      <p:sp>
        <p:nvSpPr>
          <p:cNvPr id="19" name="Shape 17"/>
          <p:cNvSpPr/>
          <p:nvPr/>
        </p:nvSpPr>
        <p:spPr>
          <a:xfrm>
            <a:off x="640080" y="5273040"/>
            <a:ext cx="457200" cy="457200"/>
          </a:xfrm>
          <a:prstGeom prst="roundRect">
            <a:avLst>
              <a:gd name="adj" fmla="val 50000"/>
            </a:avLst>
          </a:prstGeom>
          <a:solidFill>
            <a:srgbClr val="1B2A45"/>
          </a:solidFill>
          <a:ln/>
        </p:spPr>
      </p:sp>
      <p:sp>
        <p:nvSpPr>
          <p:cNvPr id="20" name="Text 18"/>
          <p:cNvSpPr/>
          <p:nvPr/>
        </p:nvSpPr>
        <p:spPr>
          <a:xfrm>
            <a:off x="640080" y="5273040"/>
            <a:ext cx="457200" cy="45720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80160" y="5254752"/>
            <a:ext cx="10241280" cy="67056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Recognize when inheritance is the right tool, and when it isn't</a:t>
            </a:r>
            <a:endParaRPr lang="en-US" sz="1350" dirty="0"/>
          </a:p>
        </p:txBody>
      </p:sp>
      <p:sp>
        <p:nvSpPr>
          <p:cNvPr id="22" name="Text 2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23" name="Text 2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Today's Agenda</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Two hours of theory, two hours of hands-on lab</a:t>
            </a:r>
            <a:endParaRPr lang="en-US" sz="1350" dirty="0"/>
          </a:p>
        </p:txBody>
      </p:sp>
      <p:sp>
        <p:nvSpPr>
          <p:cNvPr id="4" name="Shape 2"/>
          <p:cNvSpPr/>
          <p:nvPr/>
        </p:nvSpPr>
        <p:spPr>
          <a:xfrm>
            <a:off x="640080" y="1600200"/>
            <a:ext cx="411480" cy="411480"/>
          </a:xfrm>
          <a:prstGeom prst="roundRect">
            <a:avLst>
              <a:gd name="adj" fmla="val 17778"/>
            </a:avLst>
          </a:prstGeom>
          <a:solidFill>
            <a:srgbClr val="06B6D4"/>
          </a:solidFill>
          <a:ln/>
        </p:spPr>
      </p:sp>
      <p:sp>
        <p:nvSpPr>
          <p:cNvPr id="5" name="Text 3"/>
          <p:cNvSpPr/>
          <p:nvPr/>
        </p:nvSpPr>
        <p:spPr>
          <a:xfrm>
            <a:off x="640080" y="160020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55448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What Is Inheritance? (15 min)</a:t>
            </a:r>
            <a:endParaRPr lang="en-US" sz="1400" dirty="0"/>
          </a:p>
        </p:txBody>
      </p:sp>
      <p:sp>
        <p:nvSpPr>
          <p:cNvPr id="7" name="Text 5"/>
          <p:cNvSpPr/>
          <p:nvPr/>
        </p:nvSpPr>
        <p:spPr>
          <a:xfrm>
            <a:off x="7223760" y="158191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The “is-a” relationship</a:t>
            </a:r>
            <a:endParaRPr lang="en-US" sz="1150" dirty="0"/>
          </a:p>
        </p:txBody>
      </p:sp>
      <p:sp>
        <p:nvSpPr>
          <p:cNvPr id="8" name="Shape 6"/>
          <p:cNvSpPr/>
          <p:nvPr/>
        </p:nvSpPr>
        <p:spPr>
          <a:xfrm>
            <a:off x="640080" y="2377440"/>
            <a:ext cx="411480" cy="411480"/>
          </a:xfrm>
          <a:prstGeom prst="roundRect">
            <a:avLst>
              <a:gd name="adj" fmla="val 17778"/>
            </a:avLst>
          </a:prstGeom>
          <a:solidFill>
            <a:srgbClr val="06B6D4"/>
          </a:solidFill>
          <a:ln/>
        </p:spPr>
      </p:sp>
      <p:sp>
        <p:nvSpPr>
          <p:cNvPr id="9" name="Text 7"/>
          <p:cNvSpPr/>
          <p:nvPr/>
        </p:nvSpPr>
        <p:spPr>
          <a:xfrm>
            <a:off x="640080" y="237744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33172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Building a Parent and Child Class (25 min)</a:t>
            </a:r>
            <a:endParaRPr lang="en-US" sz="1400" dirty="0"/>
          </a:p>
        </p:txBody>
      </p:sp>
      <p:sp>
        <p:nvSpPr>
          <p:cNvPr id="11" name="Text 9"/>
          <p:cNvSpPr/>
          <p:nvPr/>
        </p:nvSpPr>
        <p:spPr>
          <a:xfrm>
            <a:off x="7223760" y="235915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Vehicle and Car, step by step</a:t>
            </a:r>
            <a:endParaRPr lang="en-US" sz="1150" dirty="0"/>
          </a:p>
        </p:txBody>
      </p:sp>
      <p:sp>
        <p:nvSpPr>
          <p:cNvPr id="12" name="Shape 10"/>
          <p:cNvSpPr/>
          <p:nvPr/>
        </p:nvSpPr>
        <p:spPr>
          <a:xfrm>
            <a:off x="640080" y="3154680"/>
            <a:ext cx="411480" cy="411480"/>
          </a:xfrm>
          <a:prstGeom prst="roundRect">
            <a:avLst>
              <a:gd name="adj" fmla="val 17778"/>
            </a:avLst>
          </a:prstGeom>
          <a:solidFill>
            <a:srgbClr val="06B6D4"/>
          </a:solidFill>
          <a:ln/>
        </p:spPr>
      </p:sp>
      <p:sp>
        <p:nvSpPr>
          <p:cNvPr id="13" name="Text 11"/>
          <p:cNvSpPr/>
          <p:nvPr/>
        </p:nvSpPr>
        <p:spPr>
          <a:xfrm>
            <a:off x="640080" y="315468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10896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super() and Constructor Chaining (20 min)</a:t>
            </a:r>
            <a:endParaRPr lang="en-US" sz="1400" dirty="0"/>
          </a:p>
        </p:txBody>
      </p:sp>
      <p:sp>
        <p:nvSpPr>
          <p:cNvPr id="15" name="Text 13"/>
          <p:cNvSpPr/>
          <p:nvPr/>
        </p:nvSpPr>
        <p:spPr>
          <a:xfrm>
            <a:off x="7223760" y="313639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Reusing the parent's __init__ correctly</a:t>
            </a:r>
            <a:endParaRPr lang="en-US" sz="1150" dirty="0"/>
          </a:p>
        </p:txBody>
      </p:sp>
      <p:sp>
        <p:nvSpPr>
          <p:cNvPr id="16" name="Shape 14"/>
          <p:cNvSpPr/>
          <p:nvPr/>
        </p:nvSpPr>
        <p:spPr>
          <a:xfrm>
            <a:off x="640080" y="3931920"/>
            <a:ext cx="411480" cy="411480"/>
          </a:xfrm>
          <a:prstGeom prst="roundRect">
            <a:avLst>
              <a:gd name="adj" fmla="val 17778"/>
            </a:avLst>
          </a:prstGeom>
          <a:solidFill>
            <a:srgbClr val="06B6D4"/>
          </a:solidFill>
          <a:ln/>
        </p:spPr>
      </p:sp>
      <p:sp>
        <p:nvSpPr>
          <p:cNvPr id="17" name="Text 15"/>
          <p:cNvSpPr/>
          <p:nvPr/>
        </p:nvSpPr>
        <p:spPr>
          <a:xfrm>
            <a:off x="640080" y="393192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88720" y="388620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Overriding Methods (20 min)</a:t>
            </a:r>
            <a:endParaRPr lang="en-US" sz="1400" dirty="0"/>
          </a:p>
        </p:txBody>
      </p:sp>
      <p:sp>
        <p:nvSpPr>
          <p:cNvPr id="19" name="Text 17"/>
          <p:cNvSpPr/>
          <p:nvPr/>
        </p:nvSpPr>
        <p:spPr>
          <a:xfrm>
            <a:off x="7223760" y="391363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Replacing or extending parent behavior</a:t>
            </a:r>
            <a:endParaRPr lang="en-US" sz="1150" dirty="0"/>
          </a:p>
        </p:txBody>
      </p:sp>
      <p:sp>
        <p:nvSpPr>
          <p:cNvPr id="20" name="Shape 18"/>
          <p:cNvSpPr/>
          <p:nvPr/>
        </p:nvSpPr>
        <p:spPr>
          <a:xfrm>
            <a:off x="640080" y="4709160"/>
            <a:ext cx="411480" cy="411480"/>
          </a:xfrm>
          <a:prstGeom prst="roundRect">
            <a:avLst>
              <a:gd name="adj" fmla="val 17778"/>
            </a:avLst>
          </a:prstGeom>
          <a:solidFill>
            <a:srgbClr val="06B6D4"/>
          </a:solidFill>
          <a:ln/>
        </p:spPr>
      </p:sp>
      <p:sp>
        <p:nvSpPr>
          <p:cNvPr id="21" name="Text 19"/>
          <p:cNvSpPr/>
          <p:nvPr/>
        </p:nvSpPr>
        <p:spPr>
          <a:xfrm>
            <a:off x="640080" y="470916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466344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Multiple Children, One Parent (15 min)</a:t>
            </a:r>
            <a:endParaRPr lang="en-US" sz="1400" dirty="0"/>
          </a:p>
        </p:txBody>
      </p:sp>
      <p:sp>
        <p:nvSpPr>
          <p:cNvPr id="23" name="Text 21"/>
          <p:cNvSpPr/>
          <p:nvPr/>
        </p:nvSpPr>
        <p:spPr>
          <a:xfrm>
            <a:off x="7223760" y="469087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Car and Motorcycle sharing Vehicle</a:t>
            </a:r>
            <a:endParaRPr lang="en-US" sz="1150" dirty="0"/>
          </a:p>
        </p:txBody>
      </p:sp>
      <p:sp>
        <p:nvSpPr>
          <p:cNvPr id="24" name="Shape 22"/>
          <p:cNvSpPr/>
          <p:nvPr/>
        </p:nvSpPr>
        <p:spPr>
          <a:xfrm>
            <a:off x="640080" y="5486400"/>
            <a:ext cx="411480" cy="411480"/>
          </a:xfrm>
          <a:prstGeom prst="roundRect">
            <a:avLst>
              <a:gd name="adj" fmla="val 17778"/>
            </a:avLst>
          </a:prstGeom>
          <a:solidFill>
            <a:srgbClr val="06B6D4"/>
          </a:solidFill>
          <a:ln/>
        </p:spPr>
      </p:sp>
      <p:sp>
        <p:nvSpPr>
          <p:cNvPr id="25" name="Text 23"/>
          <p:cNvSpPr/>
          <p:nvPr/>
        </p:nvSpPr>
        <p:spPr>
          <a:xfrm>
            <a:off x="640080" y="548640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1188720" y="544068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Lab: Vehicle Management System (45 min)</a:t>
            </a:r>
            <a:endParaRPr lang="en-US" sz="1400" dirty="0"/>
          </a:p>
        </p:txBody>
      </p:sp>
      <p:sp>
        <p:nvSpPr>
          <p:cNvPr id="27" name="Text 25"/>
          <p:cNvSpPr/>
          <p:nvPr/>
        </p:nvSpPr>
        <p:spPr>
          <a:xfrm>
            <a:off x="7223760" y="546811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Build the full hierarchy</a:t>
            </a:r>
            <a:endParaRPr lang="en-US" sz="11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29" name="Text 2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PART 1 · THE CORE IDEA</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What Is Inheritance?</a:t>
            </a:r>
            <a:endParaRPr lang="en-US" sz="2700" dirty="0"/>
          </a:p>
        </p:txBody>
      </p:sp>
      <p:sp>
        <p:nvSpPr>
          <p:cNvPr id="4" name="Shape 2"/>
          <p:cNvSpPr/>
          <p:nvPr/>
        </p:nvSpPr>
        <p:spPr>
          <a:xfrm>
            <a:off x="640080" y="1691640"/>
            <a:ext cx="10908792" cy="1280160"/>
          </a:xfrm>
          <a:prstGeom prst="roundRect">
            <a:avLst>
              <a:gd name="adj" fmla="val 8571"/>
            </a:avLst>
          </a:prstGeom>
          <a:solidFill>
            <a:srgbClr val="0A2E33"/>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A mechanism where a new class (the child, or subclass) is built on top of an existing class (the parent, or superclass), automatically gaining its attributes and methods, and adding or overriding only what's different.</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The relationship it models</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Inheritance expresses an “is-a” relationship: a Car is a Vehicle, a Motorcycle is a Vehicle</a:t>
            </a:r>
            <a:endParaRPr lang="en-US" sz="1250" dirty="0"/>
          </a:p>
        </p:txBody>
      </p:sp>
      <p:pic>
        <p:nvPicPr>
          <p:cNvPr id="10" name="Image 1" descr="preencoded.png">    </p:cNvPr>
          <p:cNvPicPr>
            <a:picLocks noChangeAspect="1"/>
          </p:cNvPicPr>
          <p:nvPr/>
        </p:nvPicPr>
        <p:blipFill>
          <a:blip r:embed="rId2"/>
          <a:stretch>
            <a:fillRect/>
          </a:stretch>
        </p:blipFill>
        <p:spPr>
          <a:xfrm>
            <a:off x="914400" y="4721352"/>
            <a:ext cx="201168" cy="201168"/>
          </a:xfrm>
          <a:prstGeom prst="rect">
            <a:avLst/>
          </a:prstGeom>
        </p:spPr>
      </p:pic>
      <p:sp>
        <p:nvSpPr>
          <p:cNvPr id="11" name="Text 7"/>
          <p:cNvSpPr/>
          <p:nvPr/>
        </p:nvSpPr>
        <p:spPr>
          <a:xfrm>
            <a:off x="1234440" y="463905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Contrast with composition (Week 9), which expresses “has-a”: a Car has an Engine</a:t>
            </a:r>
            <a:endParaRPr lang="en-US" sz="1250" dirty="0"/>
          </a:p>
        </p:txBody>
      </p:sp>
      <p:pic>
        <p:nvPicPr>
          <p:cNvPr id="12" name="Image 2" descr="preencoded.png">    </p:cNvPr>
          <p:cNvPicPr>
            <a:picLocks noChangeAspect="1"/>
          </p:cNvPicPr>
          <p:nvPr/>
        </p:nvPicPr>
        <p:blipFill>
          <a:blip r:embed="rId3"/>
          <a:stretch>
            <a:fillRect/>
          </a:stretch>
        </p:blipFill>
        <p:spPr>
          <a:xfrm>
            <a:off x="914400" y="5529072"/>
            <a:ext cx="201168" cy="201168"/>
          </a:xfrm>
          <a:prstGeom prst="rect">
            <a:avLst/>
          </a:prstGeom>
        </p:spPr>
      </p:pic>
      <p:sp>
        <p:nvSpPr>
          <p:cNvPr id="13" name="Text 8"/>
          <p:cNvSpPr/>
          <p:nvPr/>
        </p:nvSpPr>
        <p:spPr>
          <a:xfrm>
            <a:off x="1234440" y="544677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This directly solves Week 1's “duplicated logic per entity type” pain point</a:t>
            </a:r>
            <a:endParaRPr lang="en-US" sz="1250" dirty="0"/>
          </a:p>
        </p:txBody>
      </p:sp>
      <p:sp>
        <p:nvSpPr>
          <p:cNvPr id="14" name="Text 9"/>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5" name="Text 10"/>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Step 1 — A Parent Class: Vehicle</a:t>
            </a:r>
            <a:endParaRPr lang="en-US" sz="2600" dirty="0"/>
          </a:p>
        </p:txBody>
      </p:sp>
      <p:sp>
        <p:nvSpPr>
          <p:cNvPr id="3" name="Shape 1"/>
          <p:cNvSpPr/>
          <p:nvPr/>
        </p:nvSpPr>
        <p:spPr>
          <a:xfrm>
            <a:off x="640080" y="1691640"/>
            <a:ext cx="11000232" cy="4023360"/>
          </a:xfrm>
          <a:prstGeom prst="roundRect">
            <a:avLst>
              <a:gd name="adj" fmla="val 1818"/>
            </a:avLst>
          </a:prstGeom>
          <a:solidFill>
            <a:srgbClr val="0A0F1C"/>
          </a:solidFill>
          <a:ln/>
        </p:spPr>
      </p:sp>
      <p:sp>
        <p:nvSpPr>
          <p:cNvPr id="4" name="Text 2"/>
          <p:cNvSpPr/>
          <p:nvPr/>
        </p:nvSpPr>
        <p:spPr>
          <a:xfrm>
            <a:off x="822960" y="1801368"/>
            <a:ext cx="10634472" cy="3803904"/>
          </a:xfrm>
          <a:prstGeom prst="rect">
            <a:avLst/>
          </a:prstGeom>
          <a:noFill/>
          <a:ln/>
        </p:spPr>
        <p:txBody>
          <a:bodyPr wrap="square" lIns="0" tIns="0" rIns="0" bIns="0" rtlCol="0" anchor="t"/>
          <a:lstStyle/>
          <a:p>
            <a:pPr indent="0" marL="0">
              <a:buNone/>
            </a:pPr>
            <a:r>
              <a:rPr lang="en-US" sz="1350" dirty="0">
                <a:solidFill>
                  <a:srgbClr val="9EE6A0"/>
                </a:solidFill>
                <a:latin typeface="Consolas" pitchFamily="34" charset="0"/>
                <a:ea typeface="Consolas" pitchFamily="34" charset="-122"/>
                <a:cs typeface="Consolas" pitchFamily="34" charset="-120"/>
              </a:rPr>
              <a:t>class Vehicle:</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def __init__(self, brand, model, fuel_level=100):</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self.brand = brand</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self.model = model</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self.fuel_level = fuel_level</a:t>
            </a:r>
            <a:endParaRPr lang="en-US" sz="1350" dirty="0"/>
          </a:p>
          <a:p>
            <a:pPr indent="0" marL="0">
              <a:buNone/>
            </a:pP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def describe(self):</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return f"{self.brand} {self.model}"</a:t>
            </a:r>
            <a:endParaRPr lang="en-US" sz="1350" dirty="0"/>
          </a:p>
          <a:p>
            <a:pPr indent="0" marL="0">
              <a:buNone/>
            </a:pP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def refuel(self, amount):</a:t>
            </a:r>
            <a:endParaRPr lang="en-US" sz="1350" dirty="0"/>
          </a:p>
          <a:p>
            <a:pPr indent="0" marL="0">
              <a:buNone/>
            </a:pPr>
            <a:r>
              <a:rPr lang="en-US" sz="1350" dirty="0">
                <a:solidFill>
                  <a:srgbClr val="9EE6A0"/>
                </a:solidFill>
                <a:latin typeface="Consolas" pitchFamily="34" charset="0"/>
                <a:ea typeface="Consolas" pitchFamily="34" charset="-122"/>
                <a:cs typeface="Consolas" pitchFamily="34" charset="-120"/>
              </a:rPr>
              <a:t>        self.fuel_level = min(100, self.fuel_level + amount)</a:t>
            </a:r>
            <a:endParaRPr lang="en-US" sz="135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Step 2 — A Minimal Child Class: Car</a:t>
            </a:r>
            <a:endParaRPr lang="en-US" sz="2600" dirty="0"/>
          </a:p>
        </p:txBody>
      </p:sp>
      <p:sp>
        <p:nvSpPr>
          <p:cNvPr id="3" name="Shape 1"/>
          <p:cNvSpPr/>
          <p:nvPr/>
        </p:nvSpPr>
        <p:spPr>
          <a:xfrm>
            <a:off x="640080" y="1691640"/>
            <a:ext cx="11000232" cy="4206240"/>
          </a:xfrm>
          <a:prstGeom prst="roundRect">
            <a:avLst>
              <a:gd name="adj" fmla="val 1739"/>
            </a:avLst>
          </a:prstGeom>
          <a:solidFill>
            <a:srgbClr val="0A0F1C"/>
          </a:solidFill>
          <a:ln/>
        </p:spPr>
      </p:sp>
      <p:sp>
        <p:nvSpPr>
          <p:cNvPr id="4" name="Text 2"/>
          <p:cNvSpPr/>
          <p:nvPr/>
        </p:nvSpPr>
        <p:spPr>
          <a:xfrm>
            <a:off x="822960" y="1801368"/>
            <a:ext cx="10634472" cy="3986784"/>
          </a:xfrm>
          <a:prstGeom prst="rect">
            <a:avLst/>
          </a:prstGeom>
          <a:noFill/>
          <a:ln/>
        </p:spPr>
        <p:txBody>
          <a:bodyPr wrap="square" lIns="0" tIns="0" rIns="0" bIns="0" rtlCol="0" anchor="t"/>
          <a:lstStyle/>
          <a:p>
            <a:pPr indent="0" marL="0">
              <a:buNone/>
            </a:pPr>
            <a:r>
              <a:rPr lang="en-US" sz="1300" dirty="0">
                <a:solidFill>
                  <a:srgbClr val="9EE6A0"/>
                </a:solidFill>
                <a:latin typeface="Consolas" pitchFamily="34" charset="0"/>
                <a:ea typeface="Consolas" pitchFamily="34" charset="-122"/>
                <a:cs typeface="Consolas" pitchFamily="34" charset="-120"/>
              </a:rPr>
              <a:t>class Car(Vehicle):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pass    # inherits everything from Vehicle, adds nothing yet</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my_car = Car("Toyota", "Corolla")</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print(my_car.describe())    # 'Toyota Corolla'</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my_car.refuel(20)</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print(my_car.fuel_level)    # 100 (capped)</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print(isinstance(my_car, Vehicle))  # True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print(isinstance(my_car, Car))      # True</a:t>
            </a:r>
            <a:endParaRPr lang="en-US" sz="13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What Did Car Get for Free?</a:t>
            </a:r>
            <a:endParaRPr lang="en-US" sz="2700" dirty="0"/>
          </a:p>
        </p:txBody>
      </p:sp>
      <p:sp>
        <p:nvSpPr>
          <p:cNvPr id="3" name="Shape 1"/>
          <p:cNvSpPr/>
          <p:nvPr/>
        </p:nvSpPr>
        <p:spPr>
          <a:xfrm>
            <a:off x="640080" y="1280160"/>
            <a:ext cx="10908792" cy="1280160"/>
          </a:xfrm>
          <a:prstGeom prst="roundRect">
            <a:avLst>
              <a:gd name="adj" fmla="val 8571"/>
            </a:avLst>
          </a:prstGeom>
          <a:solidFill>
            <a:srgbClr val="0A2E33"/>
          </a:solidFill>
          <a:ln/>
        </p:spPr>
      </p:sp>
      <p:sp>
        <p:nvSpPr>
          <p:cNvPr id="4" name="Text 2"/>
          <p:cNvSpPr/>
          <p:nvPr/>
        </p:nvSpPr>
        <p:spPr>
          <a:xfrm>
            <a:off x="914400" y="146304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class Car(Vehicle): tells Python that Car inherits from Vehicle. Every attribute and method Vehicle defines is now available on Car — without a single line being copy-pasted.</a:t>
            </a:r>
            <a:endParaRPr lang="en-US" sz="1600" dirty="0"/>
          </a:p>
        </p:txBody>
      </p:sp>
      <p:sp>
        <p:nvSpPr>
          <p:cNvPr id="5" name="Shape 3"/>
          <p:cNvSpPr/>
          <p:nvPr/>
        </p:nvSpPr>
        <p:spPr>
          <a:xfrm>
            <a:off x="640080" y="2788920"/>
            <a:ext cx="10972800" cy="3749040"/>
          </a:xfrm>
          <a:prstGeom prst="roundRect">
            <a:avLst>
              <a:gd name="adj" fmla="val 2927"/>
            </a:avLst>
          </a:prstGeom>
          <a:solidFill>
            <a:srgbClr val="141F33"/>
          </a:solidFill>
          <a:ln/>
        </p:spPr>
      </p:sp>
      <p:sp>
        <p:nvSpPr>
          <p:cNvPr id="6" name="Text 4"/>
          <p:cNvSpPr/>
          <p:nvPr/>
        </p:nvSpPr>
        <p:spPr>
          <a:xfrm>
            <a:off x="914400" y="297180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Notice</a:t>
            </a:r>
            <a:endParaRPr lang="en-US" sz="1400" dirty="0"/>
          </a:p>
        </p:txBody>
      </p:sp>
      <p:pic>
        <p:nvPicPr>
          <p:cNvPr id="7" name="Image 0" descr="preencoded.png">    </p:cNvPr>
          <p:cNvPicPr>
            <a:picLocks noChangeAspect="1"/>
          </p:cNvPicPr>
          <p:nvPr/>
        </p:nvPicPr>
        <p:blipFill>
          <a:blip r:embed="rId1"/>
          <a:stretch>
            <a:fillRect/>
          </a:stretch>
        </p:blipFill>
        <p:spPr>
          <a:xfrm>
            <a:off x="914400" y="3502152"/>
            <a:ext cx="201168" cy="201168"/>
          </a:xfrm>
          <a:prstGeom prst="rect">
            <a:avLst/>
          </a:prstGeom>
        </p:spPr>
      </p:pic>
      <p:sp>
        <p:nvSpPr>
          <p:cNvPr id="8" name="Text 5"/>
          <p:cNvSpPr/>
          <p:nvPr/>
        </p:nvSpPr>
        <p:spPr>
          <a:xfrm>
            <a:off x="1234440" y="3419856"/>
            <a:ext cx="10104120" cy="9448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Car did not redefine __init__, describe(), or refuel() — it uses Vehicle's versions automatically</a:t>
            </a:r>
            <a:endParaRPr lang="en-US" sz="1250" dirty="0"/>
          </a:p>
        </p:txBody>
      </p:sp>
      <p:pic>
        <p:nvPicPr>
          <p:cNvPr id="9" name="Image 1" descr="preencoded.png">    </p:cNvPr>
          <p:cNvPicPr>
            <a:picLocks noChangeAspect="1"/>
          </p:cNvPicPr>
          <p:nvPr/>
        </p:nvPicPr>
        <p:blipFill>
          <a:blip r:embed="rId2"/>
          <a:stretch>
            <a:fillRect/>
          </a:stretch>
        </p:blipFill>
        <p:spPr>
          <a:xfrm>
            <a:off x="914400" y="4447032"/>
            <a:ext cx="201168" cy="201168"/>
          </a:xfrm>
          <a:prstGeom prst="rect">
            <a:avLst/>
          </a:prstGeom>
        </p:spPr>
      </p:pic>
      <p:sp>
        <p:nvSpPr>
          <p:cNvPr id="10" name="Text 6"/>
          <p:cNvSpPr/>
          <p:nvPr/>
        </p:nvSpPr>
        <p:spPr>
          <a:xfrm>
            <a:off x="1234440" y="4364736"/>
            <a:ext cx="10104120" cy="9448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 Car object is also considered a Vehicle object — isinstance(my_car, Vehicle) is True</a:t>
            </a:r>
            <a:endParaRPr lang="en-US" sz="1250" dirty="0"/>
          </a:p>
        </p:txBody>
      </p:sp>
      <p:pic>
        <p:nvPicPr>
          <p:cNvPr id="11" name="Image 2" descr="preencoded.png">    </p:cNvPr>
          <p:cNvPicPr>
            <a:picLocks noChangeAspect="1"/>
          </p:cNvPicPr>
          <p:nvPr/>
        </p:nvPicPr>
        <p:blipFill>
          <a:blip r:embed="rId3"/>
          <a:stretch>
            <a:fillRect/>
          </a:stretch>
        </p:blipFill>
        <p:spPr>
          <a:xfrm>
            <a:off x="914400" y="5391912"/>
            <a:ext cx="201168" cy="201168"/>
          </a:xfrm>
          <a:prstGeom prst="rect">
            <a:avLst/>
          </a:prstGeom>
        </p:spPr>
      </p:pic>
      <p:sp>
        <p:nvSpPr>
          <p:cNvPr id="12" name="Text 7"/>
          <p:cNvSpPr/>
          <p:nvPr/>
        </p:nvSpPr>
        <p:spPr>
          <a:xfrm>
            <a:off x="1234440" y="5309616"/>
            <a:ext cx="10104120" cy="9448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This is the “reuse” half of inheritance's promise — the “extend” half is next</a:t>
            </a:r>
            <a:endParaRPr lang="en-US" sz="1250" dirty="0"/>
          </a:p>
        </p:txBody>
      </p:sp>
      <p:sp>
        <p:nvSpPr>
          <p:cNvPr id="13"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4"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PART 2 · SUPER()</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Adding Car-Specific Attributes</a:t>
            </a:r>
            <a:endParaRPr lang="en-US" sz="2700" dirty="0"/>
          </a:p>
        </p:txBody>
      </p:sp>
      <p:sp>
        <p:nvSpPr>
          <p:cNvPr id="4" name="Shape 2"/>
          <p:cNvSpPr/>
          <p:nvPr/>
        </p:nvSpPr>
        <p:spPr>
          <a:xfrm>
            <a:off x="640080" y="1691640"/>
            <a:ext cx="10908792" cy="1280160"/>
          </a:xfrm>
          <a:prstGeom prst="roundRect">
            <a:avLst>
              <a:gd name="adj" fmla="val 8571"/>
            </a:avLst>
          </a:prstGeom>
          <a:solidFill>
            <a:srgbClr val="0A2E33"/>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Cars need something Vehicles in general don't: a number of doors. We extend __init__ in the child class, but we don't want to retype brand, model, and fuel_level logic — that's exactly what super() is for.</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What super() does</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super().__init__(...) calls the parent class's __init__, running its setup logic exactly as written</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The child's __init__ can then add its own attributes on top</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Overriding __init__() With super()</a:t>
            </a:r>
            <a:endParaRPr lang="en-US" sz="2600" dirty="0"/>
          </a:p>
        </p:txBody>
      </p:sp>
      <p:sp>
        <p:nvSpPr>
          <p:cNvPr id="3" name="Shape 1"/>
          <p:cNvSpPr/>
          <p:nvPr/>
        </p:nvSpPr>
        <p:spPr>
          <a:xfrm>
            <a:off x="640080" y="1691640"/>
            <a:ext cx="11000232" cy="4023360"/>
          </a:xfrm>
          <a:prstGeom prst="roundRect">
            <a:avLst>
              <a:gd name="adj" fmla="val 1818"/>
            </a:avLst>
          </a:prstGeom>
          <a:solidFill>
            <a:srgbClr val="0A0F1C"/>
          </a:solidFill>
          <a:ln/>
        </p:spPr>
      </p:sp>
      <p:sp>
        <p:nvSpPr>
          <p:cNvPr id="4" name="Text 2"/>
          <p:cNvSpPr/>
          <p:nvPr/>
        </p:nvSpPr>
        <p:spPr>
          <a:xfrm>
            <a:off x="822960" y="1801368"/>
            <a:ext cx="10634472" cy="3803904"/>
          </a:xfrm>
          <a:prstGeom prst="rect">
            <a:avLst/>
          </a:prstGeom>
          <a:noFill/>
          <a:ln/>
        </p:spPr>
        <p:txBody>
          <a:bodyPr wrap="square" lIns="0" tIns="0" rIns="0" bIns="0" rtlCol="0" anchor="t"/>
          <a:lstStyle/>
          <a:p>
            <a:pPr indent="0" marL="0">
              <a:buNone/>
            </a:pPr>
            <a:r>
              <a:rPr lang="en-US" sz="1300" dirty="0">
                <a:solidFill>
                  <a:srgbClr val="9EE6A0"/>
                </a:solidFill>
                <a:latin typeface="Consolas" pitchFamily="34" charset="0"/>
                <a:ea typeface="Consolas" pitchFamily="34" charset="-122"/>
                <a:cs typeface="Consolas" pitchFamily="34" charset="-120"/>
              </a:rPr>
              <a:t>class Car(Vehicle):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def __init__(self, brand, model, num_doors, fuel_level=100):</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super().__init__(brand, model, fuel_level)</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self.num_doors = num_doors</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my_car = Car("Toyota", "Corolla", 4)</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print(my_car.describe())      # inherited from Vehicle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print(my_car.num_doors)       # 4, Car-specific</a:t>
            </a:r>
            <a:endParaRPr lang="en-US" sz="13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Why super() Beats Retyping the Parent's Logic</a:t>
            </a:r>
            <a:endParaRPr lang="en-US" sz="2600" dirty="0"/>
          </a:p>
        </p:txBody>
      </p:sp>
      <p:sp>
        <p:nvSpPr>
          <p:cNvPr id="3" name="Shape 1"/>
          <p:cNvSpPr/>
          <p:nvPr/>
        </p:nvSpPr>
        <p:spPr>
          <a:xfrm>
            <a:off x="640080" y="1691640"/>
            <a:ext cx="5349240" cy="4206240"/>
          </a:xfrm>
          <a:prstGeom prst="roundRect">
            <a:avLst>
              <a:gd name="adj" fmla="val 1739"/>
            </a:avLst>
          </a:prstGeom>
          <a:solidFill>
            <a:srgbClr val="0A0F1C"/>
          </a:solidFill>
          <a:ln/>
        </p:spPr>
      </p:sp>
      <p:sp>
        <p:nvSpPr>
          <p:cNvPr id="4" name="Text 2"/>
          <p:cNvSpPr/>
          <p:nvPr/>
        </p:nvSpPr>
        <p:spPr>
          <a:xfrm>
            <a:off x="822960" y="1801368"/>
            <a:ext cx="4983480" cy="3986784"/>
          </a:xfrm>
          <a:prstGeom prst="rect">
            <a:avLst/>
          </a:prstGeom>
          <a:noFill/>
          <a:ln/>
        </p:spPr>
        <p:txBody>
          <a:bodyPr wrap="square" lIns="0" tIns="0" rIns="0" bIns="0" rtlCol="0" anchor="t"/>
          <a:lstStyle/>
          <a:p>
            <a:pPr indent="0" marL="0">
              <a:buNone/>
            </a:pPr>
            <a:r>
              <a:rPr lang="en-US" sz="1200" dirty="0">
                <a:solidFill>
                  <a:srgbClr val="9EE6A0"/>
                </a:solidFill>
                <a:latin typeface="Consolas" pitchFamily="34" charset="0"/>
                <a:ea typeface="Consolas" pitchFamily="34" charset="-122"/>
                <a:cs typeface="Consolas" pitchFamily="34" charset="-120"/>
              </a:rPr>
              <a:t>class Car(Vehicle):</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def __init__(self, brand, model,</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num_doors, fuel_level=100):</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self.brand = brand</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self.model = model</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self.fuel_level = fuel_level</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self.num_doors = num_doors</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 Vehicle's __init__ logic,</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 copy-pasted and now duplicated</a:t>
            </a:r>
            <a:endParaRPr lang="en-US" sz="1200" dirty="0"/>
          </a:p>
        </p:txBody>
      </p:sp>
      <p:sp>
        <p:nvSpPr>
          <p:cNvPr id="5" name="Shape 3"/>
          <p:cNvSpPr/>
          <p:nvPr/>
        </p:nvSpPr>
        <p:spPr>
          <a:xfrm>
            <a:off x="6199632" y="1691640"/>
            <a:ext cx="5349240" cy="4206240"/>
          </a:xfrm>
          <a:prstGeom prst="roundRect">
            <a:avLst>
              <a:gd name="adj" fmla="val 1739"/>
            </a:avLst>
          </a:prstGeom>
          <a:solidFill>
            <a:srgbClr val="0A0F1C"/>
          </a:solidFill>
          <a:ln/>
        </p:spPr>
      </p:sp>
      <p:sp>
        <p:nvSpPr>
          <p:cNvPr id="6" name="Text 4"/>
          <p:cNvSpPr/>
          <p:nvPr/>
        </p:nvSpPr>
        <p:spPr>
          <a:xfrm>
            <a:off x="6382512" y="1801368"/>
            <a:ext cx="4983480" cy="3986784"/>
          </a:xfrm>
          <a:prstGeom prst="rect">
            <a:avLst/>
          </a:prstGeom>
          <a:noFill/>
          <a:ln/>
        </p:spPr>
        <p:txBody>
          <a:bodyPr wrap="square" lIns="0" tIns="0" rIns="0" bIns="0" rtlCol="0" anchor="t"/>
          <a:lstStyle/>
          <a:p>
            <a:pPr indent="0" marL="0">
              <a:buNone/>
            </a:pPr>
            <a:r>
              <a:rPr lang="en-US" sz="1200" dirty="0">
                <a:solidFill>
                  <a:srgbClr val="9EE6A0"/>
                </a:solidFill>
                <a:latin typeface="Consolas" pitchFamily="34" charset="0"/>
                <a:ea typeface="Consolas" pitchFamily="34" charset="-122"/>
                <a:cs typeface="Consolas" pitchFamily="34" charset="-120"/>
              </a:rPr>
              <a:t>class Car(Vehicle):</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def __init__(self, brand, model,</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num_doors, fuel_level=100):</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super().__init__(brand, model, fuel_level)</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self.num_doors = num_doors</a:t>
            </a:r>
            <a:endParaRPr lang="en-US" sz="1200" dirty="0"/>
          </a:p>
          <a:p>
            <a:pPr indent="0" marL="0">
              <a:buNone/>
            </a:pP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If Vehicle's __init__ changes later,</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Car automatically benefits --</a:t>
            </a:r>
            <a:endParaRPr lang="en-US" sz="1200" dirty="0"/>
          </a:p>
          <a:p>
            <a:pPr indent="0" marL="0">
              <a:buNone/>
            </a:pPr>
            <a:r>
              <a:rPr lang="en-US" sz="1200" dirty="0">
                <a:solidFill>
                  <a:srgbClr val="9EE6A0"/>
                </a:solidFill>
                <a:latin typeface="Consolas" pitchFamily="34" charset="0"/>
                <a:ea typeface="Consolas" pitchFamily="34" charset="-122"/>
                <a:cs typeface="Consolas" pitchFamily="34" charset="-120"/>
              </a:rPr>
              <a:t># no changes needed here.</a:t>
            </a:r>
            <a:endParaRPr lang="en-US" sz="1200" dirty="0"/>
          </a:p>
        </p:txBody>
      </p:sp>
      <p:sp>
        <p:nvSpPr>
          <p:cNvPr id="7" name="Text 5"/>
          <p:cNvSpPr/>
          <p:nvPr/>
        </p:nvSpPr>
        <p:spPr>
          <a:xfrm>
            <a:off x="640080" y="1417320"/>
            <a:ext cx="5349240" cy="274320"/>
          </a:xfrm>
          <a:prstGeom prst="rect">
            <a:avLst/>
          </a:prstGeom>
          <a:noFill/>
          <a:ln/>
        </p:spPr>
        <p:txBody>
          <a:bodyPr wrap="square" lIns="0" tIns="0" rIns="0" bIns="0"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Without super() (don't do this)</a:t>
            </a:r>
            <a:endParaRPr lang="en-US" sz="1200" dirty="0"/>
          </a:p>
        </p:txBody>
      </p:sp>
      <p:sp>
        <p:nvSpPr>
          <p:cNvPr id="8" name="Text 6"/>
          <p:cNvSpPr/>
          <p:nvPr/>
        </p:nvSpPr>
        <p:spPr>
          <a:xfrm>
            <a:off x="6199632" y="1417320"/>
            <a:ext cx="5349240" cy="274320"/>
          </a:xfrm>
          <a:prstGeom prst="rect">
            <a:avLst/>
          </a:prstGeom>
          <a:noFill/>
          <a:ln/>
        </p:spPr>
        <p:txBody>
          <a:bodyPr wrap="square" lIns="0" tIns="0" rIns="0" bIns="0"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With super() (do this)</a:t>
            </a:r>
            <a:endParaRPr lang="en-US" sz="1200" dirty="0"/>
          </a:p>
        </p:txBody>
      </p:sp>
      <p:sp>
        <p:nvSpPr>
          <p:cNvPr id="9"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0"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PART 3 · OVERRIDING METHODS</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Overriding a Method Entirely</a:t>
            </a:r>
            <a:endParaRPr lang="en-US" sz="2700" dirty="0"/>
          </a:p>
        </p:txBody>
      </p:sp>
      <p:sp>
        <p:nvSpPr>
          <p:cNvPr id="4" name="Shape 2"/>
          <p:cNvSpPr/>
          <p:nvPr/>
        </p:nvSpPr>
        <p:spPr>
          <a:xfrm>
            <a:off x="640080" y="1691640"/>
            <a:ext cx="10908792" cy="1280160"/>
          </a:xfrm>
          <a:prstGeom prst="roundRect">
            <a:avLst>
              <a:gd name="adj" fmla="val 8571"/>
            </a:avLst>
          </a:prstGeom>
          <a:solidFill>
            <a:srgbClr val="0A2E33"/>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A child class can redefine a method with the same name as the parent's — this is called overriding. Python uses the child's version whenever the method is called on a child object.</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Example scenario</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Vehicle.describe() returns just brand and model</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Car might want to describe() itself with its door count included too</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Overriding describe() in Car</a:t>
            </a:r>
            <a:endParaRPr lang="en-US" sz="2600" dirty="0"/>
          </a:p>
        </p:txBody>
      </p:sp>
      <p:sp>
        <p:nvSpPr>
          <p:cNvPr id="3" name="Shape 1"/>
          <p:cNvSpPr/>
          <p:nvPr/>
        </p:nvSpPr>
        <p:spPr>
          <a:xfrm>
            <a:off x="640080" y="1691640"/>
            <a:ext cx="11000232" cy="4206240"/>
          </a:xfrm>
          <a:prstGeom prst="roundRect">
            <a:avLst>
              <a:gd name="adj" fmla="val 1739"/>
            </a:avLst>
          </a:prstGeom>
          <a:solidFill>
            <a:srgbClr val="0A0F1C"/>
          </a:solidFill>
          <a:ln/>
        </p:spPr>
      </p:sp>
      <p:sp>
        <p:nvSpPr>
          <p:cNvPr id="4" name="Text 2"/>
          <p:cNvSpPr/>
          <p:nvPr/>
        </p:nvSpPr>
        <p:spPr>
          <a:xfrm>
            <a:off x="822960" y="1801368"/>
            <a:ext cx="10634472" cy="3986784"/>
          </a:xfrm>
          <a:prstGeom prst="rect">
            <a:avLst/>
          </a:prstGeom>
          <a:noFill/>
          <a:ln/>
        </p:spPr>
        <p:txBody>
          <a:bodyPr wrap="square" lIns="0" tIns="0" rIns="0" bIns="0" rtlCol="0" anchor="t"/>
          <a:lstStyle/>
          <a:p>
            <a:pPr indent="0" marL="0">
              <a:buNone/>
            </a:pPr>
            <a:r>
              <a:rPr lang="en-US" sz="1300" dirty="0">
                <a:solidFill>
                  <a:srgbClr val="9EE6A0"/>
                </a:solidFill>
                <a:latin typeface="Consolas" pitchFamily="34" charset="0"/>
                <a:ea typeface="Consolas" pitchFamily="34" charset="-122"/>
                <a:cs typeface="Consolas" pitchFamily="34" charset="-120"/>
              </a:rPr>
              <a:t>class Car(Vehicle):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def __init__(self, brand, model, num_doors, fuel_level=100):</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super().__init__(brand, model, fuel_level)</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self.num_doors = num_doors</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def describe(self):</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return f"{self.brand} {self.model} ({self.num_doors}-door)"</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my_car = Car("Toyota", "Corolla", 4)</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print(my_car.describe())   # 'Toyota Corolla (4-door)'</a:t>
            </a:r>
            <a:endParaRPr lang="en-US" sz="13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Extending Instead of Replacing: super().describe()</a:t>
            </a:r>
            <a:endParaRPr lang="en-US" sz="2600" dirty="0"/>
          </a:p>
        </p:txBody>
      </p:sp>
      <p:sp>
        <p:nvSpPr>
          <p:cNvPr id="3" name="Shape 1"/>
          <p:cNvSpPr/>
          <p:nvPr/>
        </p:nvSpPr>
        <p:spPr>
          <a:xfrm>
            <a:off x="640080" y="1691640"/>
            <a:ext cx="11000232" cy="4206240"/>
          </a:xfrm>
          <a:prstGeom prst="roundRect">
            <a:avLst>
              <a:gd name="adj" fmla="val 1739"/>
            </a:avLst>
          </a:prstGeom>
          <a:solidFill>
            <a:srgbClr val="0A0F1C"/>
          </a:solidFill>
          <a:ln/>
        </p:spPr>
      </p:sp>
      <p:sp>
        <p:nvSpPr>
          <p:cNvPr id="4" name="Text 2"/>
          <p:cNvSpPr/>
          <p:nvPr/>
        </p:nvSpPr>
        <p:spPr>
          <a:xfrm>
            <a:off x="822960" y="1801368"/>
            <a:ext cx="10634472" cy="3986784"/>
          </a:xfrm>
          <a:prstGeom prst="rect">
            <a:avLst/>
          </a:prstGeom>
          <a:noFill/>
          <a:ln/>
        </p:spPr>
        <p:txBody>
          <a:bodyPr wrap="square" lIns="0" tIns="0" rIns="0" bIns="0" rtlCol="0" anchor="t"/>
          <a:lstStyle/>
          <a:p>
            <a:pPr indent="0" marL="0">
              <a:buNone/>
            </a:pPr>
            <a:r>
              <a:rPr lang="en-US" sz="1300" dirty="0">
                <a:solidFill>
                  <a:srgbClr val="9EE6A0"/>
                </a:solidFill>
                <a:latin typeface="Consolas" pitchFamily="34" charset="0"/>
                <a:ea typeface="Consolas" pitchFamily="34" charset="-122"/>
                <a:cs typeface="Consolas" pitchFamily="34" charset="-120"/>
              </a:rPr>
              <a:t>class Car(Vehicle):</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def __init__(self, brand, model, num_doors, fuel_level=100):</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super().__init__(brand, model, fuel_level)</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self.num_doors = num_doors</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def describe(self):</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base = super().describe()          # reuse the parent's version</a:t>
            </a: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        return f"{base} ({self.num_doors}-door)"</a:t>
            </a:r>
            <a:endParaRPr lang="en-US" sz="1300" dirty="0"/>
          </a:p>
          <a:p>
            <a:pPr indent="0" marL="0">
              <a:buNone/>
            </a:pPr>
            <a:endParaRPr lang="en-US" sz="1300" dirty="0"/>
          </a:p>
          <a:p>
            <a:pPr indent="0" marL="0">
              <a:buNone/>
            </a:pPr>
            <a:r>
              <a:rPr lang="en-US" sz="1300" dirty="0">
                <a:solidFill>
                  <a:srgbClr val="9EE6A0"/>
                </a:solidFill>
                <a:latin typeface="Consolas" pitchFamily="34" charset="0"/>
                <a:ea typeface="Consolas" pitchFamily="34" charset="-122"/>
                <a:cs typeface="Consolas" pitchFamily="34" charset="-120"/>
              </a:rPr>
              <a:t>print(my_car.describe())   # same result, less duplication</a:t>
            </a:r>
            <a:endParaRPr lang="en-US" sz="13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Overriding: Replace vs. Extend</a:t>
            </a:r>
            <a:endParaRPr lang="en-US" sz="2600" dirty="0"/>
          </a:p>
        </p:txBody>
      </p:sp>
      <p:sp>
        <p:nvSpPr>
          <p:cNvPr id="3" name="Shape 1"/>
          <p:cNvSpPr/>
          <p:nvPr/>
        </p:nvSpPr>
        <p:spPr>
          <a:xfrm>
            <a:off x="640080" y="1691640"/>
            <a:ext cx="11000232" cy="502920"/>
          </a:xfrm>
          <a:prstGeom prst="roundRect">
            <a:avLst>
              <a:gd name="adj" fmla="val 10909"/>
            </a:avLst>
          </a:prstGeom>
          <a:solidFill>
            <a:srgbClr val="06B6D4"/>
          </a:solidFill>
          <a:ln/>
        </p:spPr>
      </p:sp>
      <p:sp>
        <p:nvSpPr>
          <p:cNvPr id="4" name="Text 2"/>
          <p:cNvSpPr/>
          <p:nvPr/>
        </p:nvSpPr>
        <p:spPr>
          <a:xfrm>
            <a:off x="640080" y="1691640"/>
            <a:ext cx="301752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Approach</a:t>
            </a:r>
            <a:endParaRPr lang="en-US" sz="1300" dirty="0"/>
          </a:p>
        </p:txBody>
      </p:sp>
      <p:sp>
        <p:nvSpPr>
          <p:cNvPr id="5" name="Text 3"/>
          <p:cNvSpPr/>
          <p:nvPr/>
        </p:nvSpPr>
        <p:spPr>
          <a:xfrm>
            <a:off x="3657600" y="1691640"/>
            <a:ext cx="4233672"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What it does</a:t>
            </a:r>
            <a:endParaRPr lang="en-US" sz="1300" dirty="0"/>
          </a:p>
        </p:txBody>
      </p:sp>
      <p:sp>
        <p:nvSpPr>
          <p:cNvPr id="6" name="Text 4"/>
          <p:cNvSpPr/>
          <p:nvPr/>
        </p:nvSpPr>
        <p:spPr>
          <a:xfrm>
            <a:off x="7891272" y="1691640"/>
            <a:ext cx="365760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When to use</a:t>
            </a:r>
            <a:endParaRPr lang="en-US" sz="1300" dirty="0"/>
          </a:p>
        </p:txBody>
      </p:sp>
      <p:sp>
        <p:nvSpPr>
          <p:cNvPr id="7" name="Shape 5"/>
          <p:cNvSpPr/>
          <p:nvPr/>
        </p:nvSpPr>
        <p:spPr>
          <a:xfrm>
            <a:off x="640080" y="2258568"/>
            <a:ext cx="11000232" cy="731520"/>
          </a:xfrm>
          <a:prstGeom prst="roundRect">
            <a:avLst>
              <a:gd name="adj" fmla="val 7500"/>
            </a:avLst>
          </a:prstGeom>
          <a:solidFill>
            <a:srgbClr val="141F33"/>
          </a:solidFill>
          <a:ln/>
        </p:spPr>
      </p:sp>
      <p:sp>
        <p:nvSpPr>
          <p:cNvPr id="8" name="Text 6"/>
          <p:cNvSpPr/>
          <p:nvPr/>
        </p:nvSpPr>
        <p:spPr>
          <a:xfrm>
            <a:off x="640080" y="2258568"/>
            <a:ext cx="301752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Full override</a:t>
            </a:r>
            <a:endParaRPr lang="en-US" sz="1250" dirty="0"/>
          </a:p>
        </p:txBody>
      </p:sp>
      <p:sp>
        <p:nvSpPr>
          <p:cNvPr id="9" name="Text 7"/>
          <p:cNvSpPr/>
          <p:nvPr/>
        </p:nvSpPr>
        <p:spPr>
          <a:xfrm>
            <a:off x="3657600" y="2258568"/>
            <a:ext cx="42336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Child's method completely replaces the parent's</a:t>
            </a:r>
            <a:endParaRPr lang="en-US" sz="1250" dirty="0"/>
          </a:p>
        </p:txBody>
      </p:sp>
      <p:sp>
        <p:nvSpPr>
          <p:cNvPr id="10" name="Text 8"/>
          <p:cNvSpPr/>
          <p:nvPr/>
        </p:nvSpPr>
        <p:spPr>
          <a:xfrm>
            <a:off x="7891272" y="2258568"/>
            <a:ext cx="365760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The parent's behavior isn't relevant at all to the child</a:t>
            </a:r>
            <a:endParaRPr lang="en-US" sz="1250" dirty="0"/>
          </a:p>
        </p:txBody>
      </p:sp>
      <p:sp>
        <p:nvSpPr>
          <p:cNvPr id="11" name="Shape 9"/>
          <p:cNvSpPr/>
          <p:nvPr/>
        </p:nvSpPr>
        <p:spPr>
          <a:xfrm>
            <a:off x="640080" y="3054096"/>
            <a:ext cx="11000232" cy="731520"/>
          </a:xfrm>
          <a:prstGeom prst="roundRect">
            <a:avLst>
              <a:gd name="adj" fmla="val 7500"/>
            </a:avLst>
          </a:prstGeom>
          <a:solidFill>
            <a:srgbClr val="1B2A45"/>
          </a:solidFill>
          <a:ln/>
        </p:spPr>
      </p:sp>
      <p:sp>
        <p:nvSpPr>
          <p:cNvPr id="12" name="Text 10"/>
          <p:cNvSpPr/>
          <p:nvPr/>
        </p:nvSpPr>
        <p:spPr>
          <a:xfrm>
            <a:off x="640080" y="3054096"/>
            <a:ext cx="301752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super().method() + extra</a:t>
            </a:r>
            <a:endParaRPr lang="en-US" sz="1250" dirty="0"/>
          </a:p>
        </p:txBody>
      </p:sp>
      <p:sp>
        <p:nvSpPr>
          <p:cNvPr id="13" name="Text 11"/>
          <p:cNvSpPr/>
          <p:nvPr/>
        </p:nvSpPr>
        <p:spPr>
          <a:xfrm>
            <a:off x="3657600" y="3054096"/>
            <a:ext cx="42336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Child's method reuses the parent's result, then adds to it</a:t>
            </a:r>
            <a:endParaRPr lang="en-US" sz="1250" dirty="0"/>
          </a:p>
        </p:txBody>
      </p:sp>
      <p:sp>
        <p:nvSpPr>
          <p:cNvPr id="14" name="Text 12"/>
          <p:cNvSpPr/>
          <p:nvPr/>
        </p:nvSpPr>
        <p:spPr>
          <a:xfrm>
            <a:off x="7891272" y="3054096"/>
            <a:ext cx="365760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The child needs everything the parent does, plus something extra</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PART 4 · MULTIPLE CHILDREN</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 Second Child: Motorcycle</a:t>
            </a:r>
            <a:endParaRPr lang="en-US" sz="2700" dirty="0"/>
          </a:p>
        </p:txBody>
      </p:sp>
      <p:sp>
        <p:nvSpPr>
          <p:cNvPr id="4" name="Shape 2"/>
          <p:cNvSpPr/>
          <p:nvPr/>
        </p:nvSpPr>
        <p:spPr>
          <a:xfrm>
            <a:off x="640080" y="1691640"/>
            <a:ext cx="10908792" cy="1280160"/>
          </a:xfrm>
          <a:prstGeom prst="roundRect">
            <a:avLst>
              <a:gd name="adj" fmla="val 8571"/>
            </a:avLst>
          </a:prstGeom>
          <a:solidFill>
            <a:srgbClr val="0A2E33"/>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The real payoff of inheritance shows up once there's more than one child class sharing the same parent.</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Design</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Motorcycle also inherits brand, model, fuel_level, refuel() from Vehicle</a:t>
            </a:r>
            <a:endParaRPr lang="en-US" sz="1250" dirty="0"/>
          </a:p>
        </p:txBody>
      </p:sp>
      <p:pic>
        <p:nvPicPr>
          <p:cNvPr id="10" name="Image 1" descr="preencoded.png">    </p:cNvPr>
          <p:cNvPicPr>
            <a:picLocks noChangeAspect="1"/>
          </p:cNvPicPr>
          <p:nvPr/>
        </p:nvPicPr>
        <p:blipFill>
          <a:blip r:embed="rId2"/>
          <a:stretch>
            <a:fillRect/>
          </a:stretch>
        </p:blipFill>
        <p:spPr>
          <a:xfrm>
            <a:off x="914400" y="4721352"/>
            <a:ext cx="201168" cy="201168"/>
          </a:xfrm>
          <a:prstGeom prst="rect">
            <a:avLst/>
          </a:prstGeom>
        </p:spPr>
      </p:pic>
      <p:sp>
        <p:nvSpPr>
          <p:cNvPr id="11" name="Text 7"/>
          <p:cNvSpPr/>
          <p:nvPr/>
        </p:nvSpPr>
        <p:spPr>
          <a:xfrm>
            <a:off x="1234440" y="463905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Motorcycle adds has_sidecar, and overrides describe() in its own way</a:t>
            </a:r>
            <a:endParaRPr lang="en-US" sz="1250" dirty="0"/>
          </a:p>
        </p:txBody>
      </p:sp>
      <p:pic>
        <p:nvPicPr>
          <p:cNvPr id="12" name="Image 2" descr="preencoded.png">    </p:cNvPr>
          <p:cNvPicPr>
            <a:picLocks noChangeAspect="1"/>
          </p:cNvPicPr>
          <p:nvPr/>
        </p:nvPicPr>
        <p:blipFill>
          <a:blip r:embed="rId3"/>
          <a:stretch>
            <a:fillRect/>
          </a:stretch>
        </p:blipFill>
        <p:spPr>
          <a:xfrm>
            <a:off x="914400" y="5529072"/>
            <a:ext cx="201168" cy="201168"/>
          </a:xfrm>
          <a:prstGeom prst="rect">
            <a:avLst/>
          </a:prstGeom>
        </p:spPr>
      </p:pic>
      <p:sp>
        <p:nvSpPr>
          <p:cNvPr id="13" name="Text 8"/>
          <p:cNvSpPr/>
          <p:nvPr/>
        </p:nvSpPr>
        <p:spPr>
          <a:xfrm>
            <a:off x="1234440" y="544677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Zero duplicated setup logic between Car and Motorcycle — both reuse Vehicle's __init__ through super()</a:t>
            </a:r>
            <a:endParaRPr lang="en-US" sz="1250" dirty="0"/>
          </a:p>
        </p:txBody>
      </p:sp>
      <p:sp>
        <p:nvSpPr>
          <p:cNvPr id="14" name="Text 9"/>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5" name="Text 10"/>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The Motorcycle Class</a:t>
            </a:r>
            <a:endParaRPr lang="en-US" sz="2600" dirty="0"/>
          </a:p>
        </p:txBody>
      </p:sp>
      <p:sp>
        <p:nvSpPr>
          <p:cNvPr id="3" name="Shape 1"/>
          <p:cNvSpPr/>
          <p:nvPr/>
        </p:nvSpPr>
        <p:spPr>
          <a:xfrm>
            <a:off x="640080" y="1691640"/>
            <a:ext cx="11000232" cy="4206240"/>
          </a:xfrm>
          <a:prstGeom prst="roundRect">
            <a:avLst>
              <a:gd name="adj" fmla="val 1739"/>
            </a:avLst>
          </a:prstGeom>
          <a:solidFill>
            <a:srgbClr val="0A0F1C"/>
          </a:solidFill>
          <a:ln/>
        </p:spPr>
      </p:sp>
      <p:sp>
        <p:nvSpPr>
          <p:cNvPr id="4" name="Text 2"/>
          <p:cNvSpPr/>
          <p:nvPr/>
        </p:nvSpPr>
        <p:spPr>
          <a:xfrm>
            <a:off x="822960" y="1801368"/>
            <a:ext cx="10634472" cy="3986784"/>
          </a:xfrm>
          <a:prstGeom prst="rect">
            <a:avLst/>
          </a:prstGeom>
          <a:noFill/>
          <a:ln/>
        </p:spPr>
        <p:txBody>
          <a:bodyPr wrap="square" lIns="0" tIns="0" rIns="0" bIns="0" rtlCol="0" anchor="t"/>
          <a:lstStyle/>
          <a:p>
            <a:pPr indent="0" marL="0">
              <a:buNone/>
            </a:pPr>
            <a:r>
              <a:rPr lang="en-US" sz="1250" dirty="0">
                <a:solidFill>
                  <a:srgbClr val="9EE6A0"/>
                </a:solidFill>
                <a:latin typeface="Consolas" pitchFamily="34" charset="0"/>
                <a:ea typeface="Consolas" pitchFamily="34" charset="-122"/>
                <a:cs typeface="Consolas" pitchFamily="34" charset="-120"/>
              </a:rPr>
              <a:t>class Motorcycle(Vehicle):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__init__(self, brand, model, has_sidecar=False, fuel_level=100):</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super().__init__(brand, model, fuel_level)</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self.has_sidecar = has_sidecar</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describe(self):</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extra = " with sidecar" if self.has_sidecar else ""</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return f"{super().describe()}{extra}"</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bike = Motorcycle("Honda", "CB500", has_sidecar=True)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print(bike.describe())   # 'Honda CB500 with sidecar'</a:t>
            </a:r>
            <a:endParaRPr lang="en-US" sz="125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Vehicle, Car, and Motorcycle — Attribute &amp; Method Map</a:t>
            </a:r>
            <a:endParaRPr lang="en-US" sz="2600" dirty="0"/>
          </a:p>
        </p:txBody>
      </p:sp>
      <p:sp>
        <p:nvSpPr>
          <p:cNvPr id="3" name="Shape 1"/>
          <p:cNvSpPr/>
          <p:nvPr/>
        </p:nvSpPr>
        <p:spPr>
          <a:xfrm>
            <a:off x="640080" y="1691640"/>
            <a:ext cx="11000232" cy="502920"/>
          </a:xfrm>
          <a:prstGeom prst="roundRect">
            <a:avLst>
              <a:gd name="adj" fmla="val 10909"/>
            </a:avLst>
          </a:prstGeom>
          <a:solidFill>
            <a:srgbClr val="06B6D4"/>
          </a:solidFill>
          <a:ln/>
        </p:spPr>
      </p:sp>
      <p:sp>
        <p:nvSpPr>
          <p:cNvPr id="4" name="Text 2"/>
          <p:cNvSpPr/>
          <p:nvPr/>
        </p:nvSpPr>
        <p:spPr>
          <a:xfrm>
            <a:off x="640080" y="1691640"/>
            <a:ext cx="329184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Member</a:t>
            </a:r>
            <a:endParaRPr lang="en-US" sz="1300" dirty="0"/>
          </a:p>
        </p:txBody>
      </p:sp>
      <p:sp>
        <p:nvSpPr>
          <p:cNvPr id="5" name="Text 3"/>
          <p:cNvSpPr/>
          <p:nvPr/>
        </p:nvSpPr>
        <p:spPr>
          <a:xfrm>
            <a:off x="3931920" y="1691640"/>
            <a:ext cx="256032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Vehicle</a:t>
            </a:r>
            <a:endParaRPr lang="en-US" sz="1300" dirty="0"/>
          </a:p>
        </p:txBody>
      </p:sp>
      <p:sp>
        <p:nvSpPr>
          <p:cNvPr id="6" name="Text 4"/>
          <p:cNvSpPr/>
          <p:nvPr/>
        </p:nvSpPr>
        <p:spPr>
          <a:xfrm>
            <a:off x="6492240" y="1691640"/>
            <a:ext cx="256032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Car</a:t>
            </a:r>
            <a:endParaRPr lang="en-US" sz="1300" dirty="0"/>
          </a:p>
        </p:txBody>
      </p:sp>
      <p:sp>
        <p:nvSpPr>
          <p:cNvPr id="7" name="Text 5"/>
          <p:cNvSpPr/>
          <p:nvPr/>
        </p:nvSpPr>
        <p:spPr>
          <a:xfrm>
            <a:off x="9052560" y="1691640"/>
            <a:ext cx="2496312"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Motorcycle</a:t>
            </a:r>
            <a:endParaRPr lang="en-US" sz="1300" dirty="0"/>
          </a:p>
        </p:txBody>
      </p:sp>
      <p:sp>
        <p:nvSpPr>
          <p:cNvPr id="8" name="Shape 6"/>
          <p:cNvSpPr/>
          <p:nvPr/>
        </p:nvSpPr>
        <p:spPr>
          <a:xfrm>
            <a:off x="640080" y="2258568"/>
            <a:ext cx="11000232" cy="731520"/>
          </a:xfrm>
          <a:prstGeom prst="roundRect">
            <a:avLst>
              <a:gd name="adj" fmla="val 7500"/>
            </a:avLst>
          </a:prstGeom>
          <a:solidFill>
            <a:srgbClr val="141F33"/>
          </a:solidFill>
          <a:ln/>
        </p:spPr>
      </p:sp>
      <p:sp>
        <p:nvSpPr>
          <p:cNvPr id="9" name="Text 7"/>
          <p:cNvSpPr/>
          <p:nvPr/>
        </p:nvSpPr>
        <p:spPr>
          <a:xfrm>
            <a:off x="640080" y="2258568"/>
            <a:ext cx="329184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brand, model, fuel_level</a:t>
            </a:r>
            <a:endParaRPr lang="en-US" sz="1250" dirty="0"/>
          </a:p>
        </p:txBody>
      </p:sp>
      <p:sp>
        <p:nvSpPr>
          <p:cNvPr id="10" name="Text 8"/>
          <p:cNvSpPr/>
          <p:nvPr/>
        </p:nvSpPr>
        <p:spPr>
          <a:xfrm>
            <a:off x="3931920" y="2258568"/>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defines</a:t>
            </a:r>
            <a:endParaRPr lang="en-US" sz="1250" dirty="0"/>
          </a:p>
        </p:txBody>
      </p:sp>
      <p:sp>
        <p:nvSpPr>
          <p:cNvPr id="11" name="Text 9"/>
          <p:cNvSpPr/>
          <p:nvPr/>
        </p:nvSpPr>
        <p:spPr>
          <a:xfrm>
            <a:off x="6492240" y="2258568"/>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inherited</a:t>
            </a:r>
            <a:endParaRPr lang="en-US" sz="1250" dirty="0"/>
          </a:p>
        </p:txBody>
      </p:sp>
      <p:sp>
        <p:nvSpPr>
          <p:cNvPr id="12" name="Text 10"/>
          <p:cNvSpPr/>
          <p:nvPr/>
        </p:nvSpPr>
        <p:spPr>
          <a:xfrm>
            <a:off x="9052560" y="2258568"/>
            <a:ext cx="249631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inherited</a:t>
            </a:r>
            <a:endParaRPr lang="en-US" sz="1250" dirty="0"/>
          </a:p>
        </p:txBody>
      </p:sp>
      <p:sp>
        <p:nvSpPr>
          <p:cNvPr id="13" name="Shape 11"/>
          <p:cNvSpPr/>
          <p:nvPr/>
        </p:nvSpPr>
        <p:spPr>
          <a:xfrm>
            <a:off x="640080" y="3054096"/>
            <a:ext cx="11000232" cy="731520"/>
          </a:xfrm>
          <a:prstGeom prst="roundRect">
            <a:avLst>
              <a:gd name="adj" fmla="val 7500"/>
            </a:avLst>
          </a:prstGeom>
          <a:solidFill>
            <a:srgbClr val="1B2A45"/>
          </a:solidFill>
          <a:ln/>
        </p:spPr>
      </p:sp>
      <p:sp>
        <p:nvSpPr>
          <p:cNvPr id="14" name="Text 12"/>
          <p:cNvSpPr/>
          <p:nvPr/>
        </p:nvSpPr>
        <p:spPr>
          <a:xfrm>
            <a:off x="640080" y="3054096"/>
            <a:ext cx="329184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refuel()</a:t>
            </a:r>
            <a:endParaRPr lang="en-US" sz="1250" dirty="0"/>
          </a:p>
        </p:txBody>
      </p:sp>
      <p:sp>
        <p:nvSpPr>
          <p:cNvPr id="15" name="Text 13"/>
          <p:cNvSpPr/>
          <p:nvPr/>
        </p:nvSpPr>
        <p:spPr>
          <a:xfrm>
            <a:off x="3931920" y="3054096"/>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defines</a:t>
            </a:r>
            <a:endParaRPr lang="en-US" sz="1250" dirty="0"/>
          </a:p>
        </p:txBody>
      </p:sp>
      <p:sp>
        <p:nvSpPr>
          <p:cNvPr id="16" name="Text 14"/>
          <p:cNvSpPr/>
          <p:nvPr/>
        </p:nvSpPr>
        <p:spPr>
          <a:xfrm>
            <a:off x="6492240" y="3054096"/>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inherited</a:t>
            </a:r>
            <a:endParaRPr lang="en-US" sz="1250" dirty="0"/>
          </a:p>
        </p:txBody>
      </p:sp>
      <p:sp>
        <p:nvSpPr>
          <p:cNvPr id="17" name="Text 15"/>
          <p:cNvSpPr/>
          <p:nvPr/>
        </p:nvSpPr>
        <p:spPr>
          <a:xfrm>
            <a:off x="9052560" y="3054096"/>
            <a:ext cx="249631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inherited</a:t>
            </a:r>
            <a:endParaRPr lang="en-US" sz="1250" dirty="0"/>
          </a:p>
        </p:txBody>
      </p:sp>
      <p:sp>
        <p:nvSpPr>
          <p:cNvPr id="18" name="Shape 16"/>
          <p:cNvSpPr/>
          <p:nvPr/>
        </p:nvSpPr>
        <p:spPr>
          <a:xfrm>
            <a:off x="640080" y="3849624"/>
            <a:ext cx="11000232" cy="731520"/>
          </a:xfrm>
          <a:prstGeom prst="roundRect">
            <a:avLst>
              <a:gd name="adj" fmla="val 7500"/>
            </a:avLst>
          </a:prstGeom>
          <a:solidFill>
            <a:srgbClr val="141F33"/>
          </a:solidFill>
          <a:ln/>
        </p:spPr>
      </p:sp>
      <p:sp>
        <p:nvSpPr>
          <p:cNvPr id="19" name="Text 17"/>
          <p:cNvSpPr/>
          <p:nvPr/>
        </p:nvSpPr>
        <p:spPr>
          <a:xfrm>
            <a:off x="640080" y="3849624"/>
            <a:ext cx="329184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describe()</a:t>
            </a:r>
            <a:endParaRPr lang="en-US" sz="1250" dirty="0"/>
          </a:p>
        </p:txBody>
      </p:sp>
      <p:sp>
        <p:nvSpPr>
          <p:cNvPr id="20" name="Text 18"/>
          <p:cNvSpPr/>
          <p:nvPr/>
        </p:nvSpPr>
        <p:spPr>
          <a:xfrm>
            <a:off x="3931920" y="3849624"/>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defines</a:t>
            </a:r>
            <a:endParaRPr lang="en-US" sz="1250" dirty="0"/>
          </a:p>
        </p:txBody>
      </p:sp>
      <p:sp>
        <p:nvSpPr>
          <p:cNvPr id="21" name="Text 19"/>
          <p:cNvSpPr/>
          <p:nvPr/>
        </p:nvSpPr>
        <p:spPr>
          <a:xfrm>
            <a:off x="6492240" y="3849624"/>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overrides (extends)</a:t>
            </a:r>
            <a:endParaRPr lang="en-US" sz="1250" dirty="0"/>
          </a:p>
        </p:txBody>
      </p:sp>
      <p:sp>
        <p:nvSpPr>
          <p:cNvPr id="22" name="Text 20"/>
          <p:cNvSpPr/>
          <p:nvPr/>
        </p:nvSpPr>
        <p:spPr>
          <a:xfrm>
            <a:off x="9052560" y="3849624"/>
            <a:ext cx="249631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overrides (extends)</a:t>
            </a:r>
            <a:endParaRPr lang="en-US" sz="1250" dirty="0"/>
          </a:p>
        </p:txBody>
      </p:sp>
      <p:sp>
        <p:nvSpPr>
          <p:cNvPr id="23" name="Shape 21"/>
          <p:cNvSpPr/>
          <p:nvPr/>
        </p:nvSpPr>
        <p:spPr>
          <a:xfrm>
            <a:off x="640080" y="4645152"/>
            <a:ext cx="11000232" cy="731520"/>
          </a:xfrm>
          <a:prstGeom prst="roundRect">
            <a:avLst>
              <a:gd name="adj" fmla="val 7500"/>
            </a:avLst>
          </a:prstGeom>
          <a:solidFill>
            <a:srgbClr val="1B2A45"/>
          </a:solidFill>
          <a:ln/>
        </p:spPr>
      </p:sp>
      <p:sp>
        <p:nvSpPr>
          <p:cNvPr id="24" name="Text 22"/>
          <p:cNvSpPr/>
          <p:nvPr/>
        </p:nvSpPr>
        <p:spPr>
          <a:xfrm>
            <a:off x="640080" y="4645152"/>
            <a:ext cx="329184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num_doors</a:t>
            </a:r>
            <a:endParaRPr lang="en-US" sz="1250" dirty="0"/>
          </a:p>
        </p:txBody>
      </p:sp>
      <p:sp>
        <p:nvSpPr>
          <p:cNvPr id="25" name="Text 23"/>
          <p:cNvSpPr/>
          <p:nvPr/>
        </p:nvSpPr>
        <p:spPr>
          <a:xfrm>
            <a:off x="3931920" y="4645152"/>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t>
            </a:r>
            <a:endParaRPr lang="en-US" sz="1250" dirty="0"/>
          </a:p>
        </p:txBody>
      </p:sp>
      <p:sp>
        <p:nvSpPr>
          <p:cNvPr id="26" name="Text 24"/>
          <p:cNvSpPr/>
          <p:nvPr/>
        </p:nvSpPr>
        <p:spPr>
          <a:xfrm>
            <a:off x="6492240" y="4645152"/>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adds</a:t>
            </a:r>
            <a:endParaRPr lang="en-US" sz="1250" dirty="0"/>
          </a:p>
        </p:txBody>
      </p:sp>
      <p:sp>
        <p:nvSpPr>
          <p:cNvPr id="27" name="Text 25"/>
          <p:cNvSpPr/>
          <p:nvPr/>
        </p:nvSpPr>
        <p:spPr>
          <a:xfrm>
            <a:off x="9052560" y="4645152"/>
            <a:ext cx="249631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640080" y="5440680"/>
            <a:ext cx="11000232" cy="731520"/>
          </a:xfrm>
          <a:prstGeom prst="roundRect">
            <a:avLst>
              <a:gd name="adj" fmla="val 7500"/>
            </a:avLst>
          </a:prstGeom>
          <a:solidFill>
            <a:srgbClr val="141F33"/>
          </a:solidFill>
          <a:ln/>
        </p:spPr>
      </p:sp>
      <p:sp>
        <p:nvSpPr>
          <p:cNvPr id="29" name="Text 27"/>
          <p:cNvSpPr/>
          <p:nvPr/>
        </p:nvSpPr>
        <p:spPr>
          <a:xfrm>
            <a:off x="640080" y="5440680"/>
            <a:ext cx="329184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has_sidecar</a:t>
            </a:r>
            <a:endParaRPr lang="en-US" sz="1250" dirty="0"/>
          </a:p>
        </p:txBody>
      </p:sp>
      <p:sp>
        <p:nvSpPr>
          <p:cNvPr id="30" name="Text 28"/>
          <p:cNvSpPr/>
          <p:nvPr/>
        </p:nvSpPr>
        <p:spPr>
          <a:xfrm>
            <a:off x="3931920" y="5440680"/>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t>
            </a:r>
            <a:endParaRPr lang="en-US" sz="1250" dirty="0"/>
          </a:p>
        </p:txBody>
      </p:sp>
      <p:sp>
        <p:nvSpPr>
          <p:cNvPr id="31" name="Text 29"/>
          <p:cNvSpPr/>
          <p:nvPr/>
        </p:nvSpPr>
        <p:spPr>
          <a:xfrm>
            <a:off x="6492240" y="5440680"/>
            <a:ext cx="2560320"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t>
            </a:r>
            <a:endParaRPr lang="en-US" sz="1250" dirty="0"/>
          </a:p>
        </p:txBody>
      </p:sp>
      <p:sp>
        <p:nvSpPr>
          <p:cNvPr id="32" name="Text 30"/>
          <p:cNvSpPr/>
          <p:nvPr/>
        </p:nvSpPr>
        <p:spPr>
          <a:xfrm>
            <a:off x="9052560" y="5440680"/>
            <a:ext cx="249631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adds</a:t>
            </a:r>
            <a:endParaRPr lang="en-US" sz="1250" dirty="0"/>
          </a:p>
        </p:txBody>
      </p:sp>
      <p:sp>
        <p:nvSpPr>
          <p:cNvPr id="33" name="Text 31"/>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34" name="Text 3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Working With a Mixed List of Vehicles</a:t>
            </a:r>
            <a:endParaRPr lang="en-US" sz="2600" dirty="0"/>
          </a:p>
        </p:txBody>
      </p:sp>
      <p:sp>
        <p:nvSpPr>
          <p:cNvPr id="3" name="Shape 1"/>
          <p:cNvSpPr/>
          <p:nvPr/>
        </p:nvSpPr>
        <p:spPr>
          <a:xfrm>
            <a:off x="640080" y="1691640"/>
            <a:ext cx="5486400" cy="3657600"/>
          </a:xfrm>
          <a:prstGeom prst="roundRect">
            <a:avLst>
              <a:gd name="adj" fmla="val 2000"/>
            </a:avLst>
          </a:prstGeom>
          <a:solidFill>
            <a:srgbClr val="0A0F1C"/>
          </a:solidFill>
          <a:ln/>
        </p:spPr>
      </p:sp>
      <p:sp>
        <p:nvSpPr>
          <p:cNvPr id="4" name="Text 2"/>
          <p:cNvSpPr/>
          <p:nvPr/>
        </p:nvSpPr>
        <p:spPr>
          <a:xfrm>
            <a:off x="822960" y="1801368"/>
            <a:ext cx="5120640" cy="3438144"/>
          </a:xfrm>
          <a:prstGeom prst="rect">
            <a:avLst/>
          </a:prstGeom>
          <a:noFill/>
          <a:ln/>
        </p:spPr>
        <p:txBody>
          <a:bodyPr wrap="square" lIns="0" tIns="0" rIns="0" bIns="0" rtlCol="0" anchor="t"/>
          <a:lstStyle/>
          <a:p>
            <a:pPr indent="0" marL="0">
              <a:buNone/>
            </a:pPr>
            <a:r>
              <a:rPr lang="en-US" sz="1250" dirty="0">
                <a:solidFill>
                  <a:srgbClr val="9EE6A0"/>
                </a:solidFill>
                <a:latin typeface="Consolas" pitchFamily="34" charset="0"/>
                <a:ea typeface="Consolas" pitchFamily="34" charset="-122"/>
                <a:cs typeface="Consolas" pitchFamily="34" charset="-120"/>
              </a:rPr>
              <a:t>fleet = [</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Car("Toyota", "Corolla", 4),</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Motorcycle("Honda", "CB500"),</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Vehicle("Generic", "Vehicle"),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for v in fleet:</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print(v.describe())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print(isinstance(v, Vehicle))   # True for all three</a:t>
            </a:r>
            <a:endParaRPr lang="en-US" sz="1250" dirty="0"/>
          </a:p>
        </p:txBody>
      </p:sp>
      <p:sp>
        <p:nvSpPr>
          <p:cNvPr id="5" name="Shape 3"/>
          <p:cNvSpPr/>
          <p:nvPr/>
        </p:nvSpPr>
        <p:spPr>
          <a:xfrm>
            <a:off x="6291072" y="1691640"/>
            <a:ext cx="5257800" cy="3657600"/>
          </a:xfrm>
          <a:prstGeom prst="roundRect">
            <a:avLst>
              <a:gd name="adj" fmla="val 3000"/>
            </a:avLst>
          </a:prstGeom>
          <a:solidFill>
            <a:srgbClr val="141F33"/>
          </a:solidFill>
          <a:ln/>
        </p:spPr>
      </p:sp>
      <p:sp>
        <p:nvSpPr>
          <p:cNvPr id="6" name="Text 4"/>
          <p:cNvSpPr/>
          <p:nvPr/>
        </p:nvSpPr>
        <p:spPr>
          <a:xfrm>
            <a:off x="6565392" y="1874520"/>
            <a:ext cx="4709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Notice</a:t>
            </a:r>
            <a:endParaRPr lang="en-US" sz="1400" dirty="0"/>
          </a:p>
        </p:txBody>
      </p:sp>
      <p:pic>
        <p:nvPicPr>
          <p:cNvPr id="7" name="Image 0" descr="preencoded.png">    </p:cNvPr>
          <p:cNvPicPr>
            <a:picLocks noChangeAspect="1"/>
          </p:cNvPicPr>
          <p:nvPr/>
        </p:nvPicPr>
        <p:blipFill>
          <a:blip r:embed="rId1"/>
          <a:stretch>
            <a:fillRect/>
          </a:stretch>
        </p:blipFill>
        <p:spPr>
          <a:xfrm>
            <a:off x="6565392" y="2404872"/>
            <a:ext cx="201168" cy="201168"/>
          </a:xfrm>
          <a:prstGeom prst="rect">
            <a:avLst/>
          </a:prstGeom>
        </p:spPr>
      </p:pic>
      <p:sp>
        <p:nvSpPr>
          <p:cNvPr id="8" name="Text 5"/>
          <p:cNvSpPr/>
          <p:nvPr/>
        </p:nvSpPr>
        <p:spPr>
          <a:xfrm>
            <a:off x="6885432" y="2322576"/>
            <a:ext cx="4389120" cy="137160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The same loop and the same describe() call work correctly for every type in the list</a:t>
            </a:r>
            <a:endParaRPr lang="en-US" sz="1250" dirty="0"/>
          </a:p>
        </p:txBody>
      </p:sp>
      <p:pic>
        <p:nvPicPr>
          <p:cNvPr id="9" name="Image 1" descr="preencoded.png">    </p:cNvPr>
          <p:cNvPicPr>
            <a:picLocks noChangeAspect="1"/>
          </p:cNvPicPr>
          <p:nvPr/>
        </p:nvPicPr>
        <p:blipFill>
          <a:blip r:embed="rId2"/>
          <a:stretch>
            <a:fillRect/>
          </a:stretch>
        </p:blipFill>
        <p:spPr>
          <a:xfrm>
            <a:off x="6565392" y="3776472"/>
            <a:ext cx="201168" cy="201168"/>
          </a:xfrm>
          <a:prstGeom prst="rect">
            <a:avLst/>
          </a:prstGeom>
        </p:spPr>
      </p:pic>
      <p:sp>
        <p:nvSpPr>
          <p:cNvPr id="10" name="Text 6"/>
          <p:cNvSpPr/>
          <p:nvPr/>
        </p:nvSpPr>
        <p:spPr>
          <a:xfrm>
            <a:off x="6885432" y="3694176"/>
            <a:ext cx="4389120" cy="137160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Each object runs its own version of describe() automatically — this behavior is called polymorphism, and it's the entire topic of Week 6</a:t>
            </a:r>
            <a:endParaRPr lang="en-US" sz="1250" dirty="0"/>
          </a:p>
        </p:txBody>
      </p:sp>
      <p:sp>
        <p:nvSpPr>
          <p:cNvPr id="11"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2"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isinstance() vs. type() — Use isinstance()</a:t>
            </a:r>
            <a:endParaRPr lang="en-US" sz="2600" dirty="0"/>
          </a:p>
        </p:txBody>
      </p:sp>
      <p:sp>
        <p:nvSpPr>
          <p:cNvPr id="3" name="Shape 1"/>
          <p:cNvSpPr/>
          <p:nvPr/>
        </p:nvSpPr>
        <p:spPr>
          <a:xfrm>
            <a:off x="640080" y="1691640"/>
            <a:ext cx="10908792" cy="777240"/>
          </a:xfrm>
          <a:prstGeom prst="roundRect">
            <a:avLst>
              <a:gd name="adj" fmla="val 11765"/>
            </a:avLst>
          </a:prstGeom>
          <a:solidFill>
            <a:srgbClr val="141F33"/>
          </a:solidFill>
          <a:ln/>
        </p:spPr>
      </p:sp>
      <p:pic>
        <p:nvPicPr>
          <p:cNvPr id="4" name="Image 0" descr="preencoded.png">    </p:cNvPr>
          <p:cNvPicPr>
            <a:picLocks noChangeAspect="1"/>
          </p:cNvPicPr>
          <p:nvPr/>
        </p:nvPicPr>
        <p:blipFill>
          <a:blip r:embed="rId1"/>
          <a:stretch>
            <a:fillRect/>
          </a:stretch>
        </p:blipFill>
        <p:spPr>
          <a:xfrm>
            <a:off x="868680" y="1933956"/>
            <a:ext cx="292608" cy="292608"/>
          </a:xfrm>
          <a:prstGeom prst="rect">
            <a:avLst/>
          </a:prstGeom>
        </p:spPr>
      </p:pic>
      <p:sp>
        <p:nvSpPr>
          <p:cNvPr id="5" name="Text 2"/>
          <p:cNvSpPr/>
          <p:nvPr/>
        </p:nvSpPr>
        <p:spPr>
          <a:xfrm>
            <a:off x="1417320" y="16916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isinstance(bike, Vehicle)</a:t>
            </a:r>
            <a:endParaRPr lang="en-US" sz="1350" dirty="0"/>
          </a:p>
        </p:txBody>
      </p:sp>
      <p:sp>
        <p:nvSpPr>
          <p:cNvPr id="6" name="Text 3"/>
          <p:cNvSpPr/>
          <p:nvPr/>
        </p:nvSpPr>
        <p:spPr>
          <a:xfrm>
            <a:off x="5806440" y="16916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True — correctly recognizes that a Motorcycle is-a Vehicle, respecting inheritance</a:t>
            </a:r>
            <a:endParaRPr lang="en-US" sz="1200" dirty="0"/>
          </a:p>
        </p:txBody>
      </p:sp>
      <p:sp>
        <p:nvSpPr>
          <p:cNvPr id="7" name="Shape 4"/>
          <p:cNvSpPr/>
          <p:nvPr/>
        </p:nvSpPr>
        <p:spPr>
          <a:xfrm>
            <a:off x="640080" y="2606040"/>
            <a:ext cx="10908792" cy="777240"/>
          </a:xfrm>
          <a:prstGeom prst="roundRect">
            <a:avLst>
              <a:gd name="adj" fmla="val 11765"/>
            </a:avLst>
          </a:prstGeom>
          <a:solidFill>
            <a:srgbClr val="141F33"/>
          </a:solidFill>
          <a:ln/>
        </p:spPr>
      </p:sp>
      <p:pic>
        <p:nvPicPr>
          <p:cNvPr id="8" name="Image 1" descr="preencoded.png">    </p:cNvPr>
          <p:cNvPicPr>
            <a:picLocks noChangeAspect="1"/>
          </p:cNvPicPr>
          <p:nvPr/>
        </p:nvPicPr>
        <p:blipFill>
          <a:blip r:embed="rId2"/>
          <a:stretch>
            <a:fillRect/>
          </a:stretch>
        </p:blipFill>
        <p:spPr>
          <a:xfrm>
            <a:off x="868680" y="2848356"/>
            <a:ext cx="292608" cy="292608"/>
          </a:xfrm>
          <a:prstGeom prst="rect">
            <a:avLst/>
          </a:prstGeom>
        </p:spPr>
      </p:pic>
      <p:sp>
        <p:nvSpPr>
          <p:cNvPr id="9" name="Text 5"/>
          <p:cNvSpPr/>
          <p:nvPr/>
        </p:nvSpPr>
        <p:spPr>
          <a:xfrm>
            <a:off x="1417320" y="26060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type(bike) == Vehicle</a:t>
            </a:r>
            <a:endParaRPr lang="en-US" sz="1350" dirty="0"/>
          </a:p>
        </p:txBody>
      </p:sp>
      <p:sp>
        <p:nvSpPr>
          <p:cNvPr id="10" name="Text 6"/>
          <p:cNvSpPr/>
          <p:nvPr/>
        </p:nvSpPr>
        <p:spPr>
          <a:xfrm>
            <a:off x="5806440" y="26060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False — type() checks for an exact class match and ignores the inheritance relationship entirely</a:t>
            </a:r>
            <a:endParaRPr lang="en-US" sz="1200" dirty="0"/>
          </a:p>
        </p:txBody>
      </p:sp>
      <p:sp>
        <p:nvSpPr>
          <p:cNvPr id="11" name="Shape 7"/>
          <p:cNvSpPr/>
          <p:nvPr/>
        </p:nvSpPr>
        <p:spPr>
          <a:xfrm>
            <a:off x="640080" y="3520440"/>
            <a:ext cx="10908792" cy="777240"/>
          </a:xfrm>
          <a:prstGeom prst="roundRect">
            <a:avLst>
              <a:gd name="adj" fmla="val 11765"/>
            </a:avLst>
          </a:prstGeom>
          <a:solidFill>
            <a:srgbClr val="141F33"/>
          </a:solidFill>
          <a:ln/>
        </p:spPr>
      </p:sp>
      <p:pic>
        <p:nvPicPr>
          <p:cNvPr id="12" name="Image 2" descr="preencoded.png">    </p:cNvPr>
          <p:cNvPicPr>
            <a:picLocks noChangeAspect="1"/>
          </p:cNvPicPr>
          <p:nvPr/>
        </p:nvPicPr>
        <p:blipFill>
          <a:blip r:embed="rId3"/>
          <a:stretch>
            <a:fillRect/>
          </a:stretch>
        </p:blipFill>
        <p:spPr>
          <a:xfrm>
            <a:off x="868680" y="3762756"/>
            <a:ext cx="292608" cy="292608"/>
          </a:xfrm>
          <a:prstGeom prst="rect">
            <a:avLst/>
          </a:prstGeom>
        </p:spPr>
      </p:pic>
      <p:sp>
        <p:nvSpPr>
          <p:cNvPr id="13" name="Text 8"/>
          <p:cNvSpPr/>
          <p:nvPr/>
        </p:nvSpPr>
        <p:spPr>
          <a:xfrm>
            <a:off x="1417320" y="35204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issubclass(Motorcycle, Vehicle)</a:t>
            </a:r>
            <a:endParaRPr lang="en-US" sz="1350" dirty="0"/>
          </a:p>
        </p:txBody>
      </p:sp>
      <p:sp>
        <p:nvSpPr>
          <p:cNvPr id="14" name="Text 9"/>
          <p:cNvSpPr/>
          <p:nvPr/>
        </p:nvSpPr>
        <p:spPr>
          <a:xfrm>
            <a:off x="5806440" y="35204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True — checks the relationship between two classes themselves, not objects</a:t>
            </a:r>
            <a:endParaRPr lang="en-US" sz="1200" dirty="0"/>
          </a:p>
        </p:txBody>
      </p:sp>
      <p:sp>
        <p:nvSpPr>
          <p:cNvPr id="15"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6" name="Text 1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Common Inheritance Mistakes</a:t>
            </a:r>
            <a:endParaRPr lang="en-US" sz="2600" dirty="0"/>
          </a:p>
        </p:txBody>
      </p:sp>
      <p:sp>
        <p:nvSpPr>
          <p:cNvPr id="3" name="Shape 1"/>
          <p:cNvSpPr/>
          <p:nvPr/>
        </p:nvSpPr>
        <p:spPr>
          <a:xfrm>
            <a:off x="640080" y="1691640"/>
            <a:ext cx="10908792" cy="777240"/>
          </a:xfrm>
          <a:prstGeom prst="roundRect">
            <a:avLst>
              <a:gd name="adj" fmla="val 11765"/>
            </a:avLst>
          </a:prstGeom>
          <a:solidFill>
            <a:srgbClr val="141F33"/>
          </a:solidFill>
          <a:ln/>
        </p:spPr>
      </p:sp>
      <p:pic>
        <p:nvPicPr>
          <p:cNvPr id="4" name="Image 0" descr="preencoded.png">    </p:cNvPr>
          <p:cNvPicPr>
            <a:picLocks noChangeAspect="1"/>
          </p:cNvPicPr>
          <p:nvPr/>
        </p:nvPicPr>
        <p:blipFill>
          <a:blip r:embed="rId1"/>
          <a:stretch>
            <a:fillRect/>
          </a:stretch>
        </p:blipFill>
        <p:spPr>
          <a:xfrm>
            <a:off x="868680" y="1933956"/>
            <a:ext cx="292608" cy="292608"/>
          </a:xfrm>
          <a:prstGeom prst="rect">
            <a:avLst/>
          </a:prstGeom>
        </p:spPr>
      </p:pic>
      <p:sp>
        <p:nvSpPr>
          <p:cNvPr id="5" name="Text 2"/>
          <p:cNvSpPr/>
          <p:nvPr/>
        </p:nvSpPr>
        <p:spPr>
          <a:xfrm>
            <a:off x="1417320" y="16916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Forgetting super().__init__()</a:t>
            </a:r>
            <a:endParaRPr lang="en-US" sz="1350" dirty="0"/>
          </a:p>
        </p:txBody>
      </p:sp>
      <p:sp>
        <p:nvSpPr>
          <p:cNvPr id="6" name="Text 3"/>
          <p:cNvSpPr/>
          <p:nvPr/>
        </p:nvSpPr>
        <p:spPr>
          <a:xfrm>
            <a:off x="5806440" y="16916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The child's own __init__ then never sets up the parent's attributes — accessing self.brand would fail</a:t>
            </a:r>
            <a:endParaRPr lang="en-US" sz="1200" dirty="0"/>
          </a:p>
        </p:txBody>
      </p:sp>
      <p:sp>
        <p:nvSpPr>
          <p:cNvPr id="7" name="Shape 4"/>
          <p:cNvSpPr/>
          <p:nvPr/>
        </p:nvSpPr>
        <p:spPr>
          <a:xfrm>
            <a:off x="640080" y="2606040"/>
            <a:ext cx="10908792" cy="777240"/>
          </a:xfrm>
          <a:prstGeom prst="roundRect">
            <a:avLst>
              <a:gd name="adj" fmla="val 11765"/>
            </a:avLst>
          </a:prstGeom>
          <a:solidFill>
            <a:srgbClr val="141F33"/>
          </a:solidFill>
          <a:ln/>
        </p:spPr>
      </p:sp>
      <p:pic>
        <p:nvPicPr>
          <p:cNvPr id="8" name="Image 1" descr="preencoded.png">    </p:cNvPr>
          <p:cNvPicPr>
            <a:picLocks noChangeAspect="1"/>
          </p:cNvPicPr>
          <p:nvPr/>
        </p:nvPicPr>
        <p:blipFill>
          <a:blip r:embed="rId2"/>
          <a:stretch>
            <a:fillRect/>
          </a:stretch>
        </p:blipFill>
        <p:spPr>
          <a:xfrm>
            <a:off x="868680" y="2848356"/>
            <a:ext cx="292608" cy="292608"/>
          </a:xfrm>
          <a:prstGeom prst="rect">
            <a:avLst/>
          </a:prstGeom>
        </p:spPr>
      </p:pic>
      <p:sp>
        <p:nvSpPr>
          <p:cNvPr id="9" name="Text 5"/>
          <p:cNvSpPr/>
          <p:nvPr/>
        </p:nvSpPr>
        <p:spPr>
          <a:xfrm>
            <a:off x="1417320" y="26060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Copy-pasting parent logic instead of calling super()</a:t>
            </a:r>
            <a:endParaRPr lang="en-US" sz="1350" dirty="0"/>
          </a:p>
        </p:txBody>
      </p:sp>
      <p:sp>
        <p:nvSpPr>
          <p:cNvPr id="10" name="Text 6"/>
          <p:cNvSpPr/>
          <p:nvPr/>
        </p:nvSpPr>
        <p:spPr>
          <a:xfrm>
            <a:off x="5806440" y="26060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Reintroduces exactly the duplication inheritance is meant to eliminate</a:t>
            </a:r>
            <a:endParaRPr lang="en-US" sz="1200" dirty="0"/>
          </a:p>
        </p:txBody>
      </p:sp>
      <p:sp>
        <p:nvSpPr>
          <p:cNvPr id="11" name="Shape 7"/>
          <p:cNvSpPr/>
          <p:nvPr/>
        </p:nvSpPr>
        <p:spPr>
          <a:xfrm>
            <a:off x="640080" y="3520440"/>
            <a:ext cx="10908792" cy="777240"/>
          </a:xfrm>
          <a:prstGeom prst="roundRect">
            <a:avLst>
              <a:gd name="adj" fmla="val 11765"/>
            </a:avLst>
          </a:prstGeom>
          <a:solidFill>
            <a:srgbClr val="141F33"/>
          </a:solidFill>
          <a:ln/>
        </p:spPr>
      </p:sp>
      <p:pic>
        <p:nvPicPr>
          <p:cNvPr id="12" name="Image 2" descr="preencoded.png">    </p:cNvPr>
          <p:cNvPicPr>
            <a:picLocks noChangeAspect="1"/>
          </p:cNvPicPr>
          <p:nvPr/>
        </p:nvPicPr>
        <p:blipFill>
          <a:blip r:embed="rId3"/>
          <a:stretch>
            <a:fillRect/>
          </a:stretch>
        </p:blipFill>
        <p:spPr>
          <a:xfrm>
            <a:off x="868680" y="3762756"/>
            <a:ext cx="292608" cy="292608"/>
          </a:xfrm>
          <a:prstGeom prst="rect">
            <a:avLst/>
          </a:prstGeom>
        </p:spPr>
      </p:pic>
      <p:sp>
        <p:nvSpPr>
          <p:cNvPr id="13" name="Text 8"/>
          <p:cNvSpPr/>
          <p:nvPr/>
        </p:nvSpPr>
        <p:spPr>
          <a:xfrm>
            <a:off x="1417320" y="35204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Inheriting just to reuse one unrelated method</a:t>
            </a:r>
            <a:endParaRPr lang="en-US" sz="1350" dirty="0"/>
          </a:p>
        </p:txBody>
      </p:sp>
      <p:sp>
        <p:nvSpPr>
          <p:cNvPr id="14" name="Text 9"/>
          <p:cNvSpPr/>
          <p:nvPr/>
        </p:nvSpPr>
        <p:spPr>
          <a:xfrm>
            <a:off x="5806440" y="35204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If Car and Invoice share one helper method but aren't really the same kind of thing, inheritance is the wrong tool — a plain function or composition fits better</a:t>
            </a:r>
            <a:endParaRPr lang="en-US" sz="1200" dirty="0"/>
          </a:p>
        </p:txBody>
      </p:sp>
      <p:sp>
        <p:nvSpPr>
          <p:cNvPr id="15"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6" name="Text 1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PART 5 · JUDGMENT</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When NOT to Use Inheritance</a:t>
            </a:r>
            <a:endParaRPr lang="en-US" sz="2700" dirty="0"/>
          </a:p>
        </p:txBody>
      </p:sp>
      <p:sp>
        <p:nvSpPr>
          <p:cNvPr id="4" name="Shape 2"/>
          <p:cNvSpPr/>
          <p:nvPr/>
        </p:nvSpPr>
        <p:spPr>
          <a:xfrm>
            <a:off x="640080" y="1691640"/>
            <a:ext cx="10908792" cy="1280160"/>
          </a:xfrm>
          <a:prstGeom prst="roundRect">
            <a:avLst>
              <a:gd name="adj" fmla="val 8571"/>
            </a:avLst>
          </a:prstGeom>
          <a:solidFill>
            <a:srgbClr val="0A2E33"/>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Inheritance should model a genuine “is-a” relationship. If you find yourself inheriting just to reuse a method, and the two classes aren't really the same kind of thing, that's a design smell.</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A quick test</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Ask: “Is a [Child] genuinely a [Parent]?” — if the sentence sounds forced, reconsider</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 Car is a Vehicle” reads naturally. “An Invoice is a Logger” does not — that calls for composition instead (Week 9)</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Revisiting Week 1's Pain Points</a:t>
            </a:r>
            <a:endParaRPr lang="en-US" sz="2600" dirty="0"/>
          </a:p>
        </p:txBody>
      </p:sp>
      <p:sp>
        <p:nvSpPr>
          <p:cNvPr id="3" name="Shape 1"/>
          <p:cNvSpPr/>
          <p:nvPr/>
        </p:nvSpPr>
        <p:spPr>
          <a:xfrm>
            <a:off x="640080" y="1691640"/>
            <a:ext cx="11000232" cy="502920"/>
          </a:xfrm>
          <a:prstGeom prst="roundRect">
            <a:avLst>
              <a:gd name="adj" fmla="val 10909"/>
            </a:avLst>
          </a:prstGeom>
          <a:solidFill>
            <a:srgbClr val="06B6D4"/>
          </a:solidFill>
          <a:ln/>
        </p:spPr>
      </p:sp>
      <p:sp>
        <p:nvSpPr>
          <p:cNvPr id="4" name="Text 2"/>
          <p:cNvSpPr/>
          <p:nvPr/>
        </p:nvSpPr>
        <p:spPr>
          <a:xfrm>
            <a:off x="640080" y="1691640"/>
            <a:ext cx="502920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Pain point</a:t>
            </a:r>
            <a:endParaRPr lang="en-US" sz="1300" dirty="0"/>
          </a:p>
        </p:txBody>
      </p:sp>
      <p:sp>
        <p:nvSpPr>
          <p:cNvPr id="5" name="Text 3"/>
          <p:cNvSpPr/>
          <p:nvPr/>
        </p:nvSpPr>
        <p:spPr>
          <a:xfrm>
            <a:off x="5669280" y="1691640"/>
            <a:ext cx="5879592"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Status</a:t>
            </a:r>
            <a:endParaRPr lang="en-US" sz="1300" dirty="0"/>
          </a:p>
        </p:txBody>
      </p:sp>
      <p:sp>
        <p:nvSpPr>
          <p:cNvPr id="6" name="Shape 4"/>
          <p:cNvSpPr/>
          <p:nvPr/>
        </p:nvSpPr>
        <p:spPr>
          <a:xfrm>
            <a:off x="640080" y="2258568"/>
            <a:ext cx="11000232" cy="731520"/>
          </a:xfrm>
          <a:prstGeom prst="roundRect">
            <a:avLst>
              <a:gd name="adj" fmla="val 7500"/>
            </a:avLst>
          </a:prstGeom>
          <a:solidFill>
            <a:srgbClr val="141F33"/>
          </a:solidFill>
          <a:ln/>
        </p:spPr>
      </p:sp>
      <p:sp>
        <p:nvSpPr>
          <p:cNvPr id="7" name="Text 5"/>
          <p:cNvSpPr/>
          <p:nvPr/>
        </p:nvSpPr>
        <p:spPr>
          <a:xfrm>
            <a:off x="640080" y="2258568"/>
            <a:ext cx="502920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Duplicated logic per entity type</a:t>
            </a:r>
            <a:endParaRPr lang="en-US" sz="1250" dirty="0"/>
          </a:p>
        </p:txBody>
      </p:sp>
      <p:sp>
        <p:nvSpPr>
          <p:cNvPr id="8" name="Text 6"/>
          <p:cNvSpPr/>
          <p:nvPr/>
        </p:nvSpPr>
        <p:spPr>
          <a:xfrm>
            <a:off x="5669280" y="2258568"/>
            <a:ext cx="587959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Solved — Car and Motorcycle both reuse Vehicle's setup and behavior through super()</a:t>
            </a:r>
            <a:endParaRPr lang="en-US" sz="1250" dirty="0"/>
          </a:p>
        </p:txBody>
      </p:sp>
      <p:sp>
        <p:nvSpPr>
          <p:cNvPr id="9" name="Shape 7"/>
          <p:cNvSpPr/>
          <p:nvPr/>
        </p:nvSpPr>
        <p:spPr>
          <a:xfrm>
            <a:off x="640080" y="3054096"/>
            <a:ext cx="11000232" cy="731520"/>
          </a:xfrm>
          <a:prstGeom prst="roundRect">
            <a:avLst>
              <a:gd name="adj" fmla="val 7500"/>
            </a:avLst>
          </a:prstGeom>
          <a:solidFill>
            <a:srgbClr val="1B2A45"/>
          </a:solidFill>
          <a:ln/>
        </p:spPr>
      </p:sp>
      <p:sp>
        <p:nvSpPr>
          <p:cNvPr id="10" name="Text 8"/>
          <p:cNvSpPr/>
          <p:nvPr/>
        </p:nvSpPr>
        <p:spPr>
          <a:xfrm>
            <a:off x="640080" y="3054096"/>
            <a:ext cx="5029200" cy="731520"/>
          </a:xfrm>
          <a:prstGeom prst="rect">
            <a:avLst/>
          </a:prstGeom>
          <a:noFill/>
          <a:ln/>
        </p:spPr>
        <p:txBody>
          <a:bodyPr wrap="square" lIns="0" tIns="0" rIns="0" bIns="0"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Hard to extend safely</a:t>
            </a:r>
            <a:endParaRPr lang="en-US" sz="1250" dirty="0"/>
          </a:p>
        </p:txBody>
      </p:sp>
      <p:sp>
        <p:nvSpPr>
          <p:cNvPr id="11" name="Text 9"/>
          <p:cNvSpPr/>
          <p:nvPr/>
        </p:nvSpPr>
        <p:spPr>
          <a:xfrm>
            <a:off x="5669280" y="3054096"/>
            <a:ext cx="587959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Improved further — adding a new Vehicle subclass doesn't touch Car or Motorcycle at all</a:t>
            </a:r>
            <a:endParaRPr lang="en-US" sz="125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3" name="Text 1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Why Inheritance Matters</a:t>
            </a:r>
            <a:endParaRPr lang="en-US" sz="2600" dirty="0"/>
          </a:p>
        </p:txBody>
      </p:sp>
      <p:sp>
        <p:nvSpPr>
          <p:cNvPr id="3" name="Shape 1"/>
          <p:cNvSpPr/>
          <p:nvPr/>
        </p:nvSpPr>
        <p:spPr>
          <a:xfrm>
            <a:off x="640080" y="1691640"/>
            <a:ext cx="3544824" cy="3291840"/>
          </a:xfrm>
          <a:prstGeom prst="roundRect">
            <a:avLst>
              <a:gd name="adj" fmla="val 3333"/>
            </a:avLst>
          </a:prstGeom>
          <a:solidFill>
            <a:srgbClr val="0A2E33"/>
          </a:solidFill>
          <a:ln/>
        </p:spPr>
      </p:sp>
      <p:sp>
        <p:nvSpPr>
          <p:cNvPr id="4" name="Shape 2"/>
          <p:cNvSpPr/>
          <p:nvPr/>
        </p:nvSpPr>
        <p:spPr>
          <a:xfrm>
            <a:off x="914400" y="1965960"/>
            <a:ext cx="640080" cy="640080"/>
          </a:xfrm>
          <a:prstGeom prst="ellipse">
            <a:avLst/>
          </a:prstGeom>
          <a:solidFill>
            <a:srgbClr val="1B2A45"/>
          </a:solidFill>
          <a:ln/>
        </p:spPr>
      </p:sp>
      <p:pic>
        <p:nvPicPr>
          <p:cNvPr id="5" name="Image 0" descr="preencoded.png">    </p:cNvPr>
          <p:cNvPicPr>
            <a:picLocks noChangeAspect="1"/>
          </p:cNvPicPr>
          <p:nvPr/>
        </p:nvPicPr>
        <p:blipFill>
          <a:blip r:embed="rId1"/>
          <a:stretch>
            <a:fillRect/>
          </a:stretch>
        </p:blipFill>
        <p:spPr>
          <a:xfrm>
            <a:off x="1069848" y="2121408"/>
            <a:ext cx="329184" cy="329184"/>
          </a:xfrm>
          <a:prstGeom prst="rect">
            <a:avLst/>
          </a:prstGeom>
        </p:spPr>
      </p:pic>
      <p:sp>
        <p:nvSpPr>
          <p:cNvPr id="6" name="Text 3"/>
          <p:cNvSpPr/>
          <p:nvPr/>
        </p:nvSpPr>
        <p:spPr>
          <a:xfrm>
            <a:off x="914400"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Reuse</a:t>
            </a:r>
            <a:endParaRPr lang="en-US" sz="1500" dirty="0"/>
          </a:p>
        </p:txBody>
      </p:sp>
      <p:sp>
        <p:nvSpPr>
          <p:cNvPr id="7" name="Text 4"/>
          <p:cNvSpPr/>
          <p:nvPr/>
        </p:nvSpPr>
        <p:spPr>
          <a:xfrm>
            <a:off x="914400"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Shared setup and behavior live in one place — the parent class</a:t>
            </a:r>
            <a:endParaRPr lang="en-US" sz="1150" dirty="0"/>
          </a:p>
        </p:txBody>
      </p:sp>
      <p:sp>
        <p:nvSpPr>
          <p:cNvPr id="8" name="Shape 5"/>
          <p:cNvSpPr/>
          <p:nvPr/>
        </p:nvSpPr>
        <p:spPr>
          <a:xfrm>
            <a:off x="4367784" y="1691640"/>
            <a:ext cx="3544824" cy="3291840"/>
          </a:xfrm>
          <a:prstGeom prst="roundRect">
            <a:avLst>
              <a:gd name="adj" fmla="val 3333"/>
            </a:avLst>
          </a:prstGeom>
          <a:solidFill>
            <a:srgbClr val="141F33"/>
          </a:solidFill>
          <a:ln/>
        </p:spPr>
      </p:sp>
      <p:sp>
        <p:nvSpPr>
          <p:cNvPr id="9" name="Shape 6"/>
          <p:cNvSpPr/>
          <p:nvPr/>
        </p:nvSpPr>
        <p:spPr>
          <a:xfrm>
            <a:off x="4642104" y="1965960"/>
            <a:ext cx="640080" cy="640080"/>
          </a:xfrm>
          <a:prstGeom prst="ellipse">
            <a:avLst/>
          </a:prstGeom>
          <a:solidFill>
            <a:srgbClr val="1B2A45"/>
          </a:solidFill>
          <a:ln/>
        </p:spPr>
      </p:sp>
      <p:pic>
        <p:nvPicPr>
          <p:cNvPr id="10" name="Image 1" descr="preencoded.png">    </p:cNvPr>
          <p:cNvPicPr>
            <a:picLocks noChangeAspect="1"/>
          </p:cNvPicPr>
          <p:nvPr/>
        </p:nvPicPr>
        <p:blipFill>
          <a:blip r:embed="rId2"/>
          <a:stretch>
            <a:fillRect/>
          </a:stretch>
        </p:blipFill>
        <p:spPr>
          <a:xfrm>
            <a:off x="4797552" y="2121408"/>
            <a:ext cx="329184" cy="329184"/>
          </a:xfrm>
          <a:prstGeom prst="rect">
            <a:avLst/>
          </a:prstGeom>
        </p:spPr>
      </p:pic>
      <p:sp>
        <p:nvSpPr>
          <p:cNvPr id="11" name="Text 7"/>
          <p:cNvSpPr/>
          <p:nvPr/>
        </p:nvSpPr>
        <p:spPr>
          <a:xfrm>
            <a:off x="4642104"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Extensibility</a:t>
            </a:r>
            <a:endParaRPr lang="en-US" sz="1500" dirty="0"/>
          </a:p>
        </p:txBody>
      </p:sp>
      <p:sp>
        <p:nvSpPr>
          <p:cNvPr id="12" name="Text 8"/>
          <p:cNvSpPr/>
          <p:nvPr/>
        </p:nvSpPr>
        <p:spPr>
          <a:xfrm>
            <a:off x="4642104"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New vehicle types can be added without touching existing classes</a:t>
            </a:r>
            <a:endParaRPr lang="en-US" sz="1150" dirty="0"/>
          </a:p>
        </p:txBody>
      </p:sp>
      <p:sp>
        <p:nvSpPr>
          <p:cNvPr id="13" name="Shape 9"/>
          <p:cNvSpPr/>
          <p:nvPr/>
        </p:nvSpPr>
        <p:spPr>
          <a:xfrm>
            <a:off x="8095488" y="1691640"/>
            <a:ext cx="3544824" cy="3291840"/>
          </a:xfrm>
          <a:prstGeom prst="roundRect">
            <a:avLst>
              <a:gd name="adj" fmla="val 3333"/>
            </a:avLst>
          </a:prstGeom>
          <a:solidFill>
            <a:srgbClr val="141F33"/>
          </a:solidFill>
          <a:ln/>
        </p:spPr>
      </p:sp>
      <p:sp>
        <p:nvSpPr>
          <p:cNvPr id="14" name="Shape 10"/>
          <p:cNvSpPr/>
          <p:nvPr/>
        </p:nvSpPr>
        <p:spPr>
          <a:xfrm>
            <a:off x="8369808" y="1965960"/>
            <a:ext cx="640080" cy="640080"/>
          </a:xfrm>
          <a:prstGeom prst="ellipse">
            <a:avLst/>
          </a:prstGeom>
          <a:solidFill>
            <a:srgbClr val="1B2A45"/>
          </a:solidFill>
          <a:ln/>
        </p:spPr>
      </p:sp>
      <p:pic>
        <p:nvPicPr>
          <p:cNvPr id="15" name="Image 2" descr="preencoded.png">    </p:cNvPr>
          <p:cNvPicPr>
            <a:picLocks noChangeAspect="1"/>
          </p:cNvPicPr>
          <p:nvPr/>
        </p:nvPicPr>
        <p:blipFill>
          <a:blip r:embed="rId3"/>
          <a:stretch>
            <a:fillRect/>
          </a:stretch>
        </p:blipFill>
        <p:spPr>
          <a:xfrm>
            <a:off x="8525256" y="2121408"/>
            <a:ext cx="329184" cy="329184"/>
          </a:xfrm>
          <a:prstGeom prst="rect">
            <a:avLst/>
          </a:prstGeom>
        </p:spPr>
      </p:pic>
      <p:sp>
        <p:nvSpPr>
          <p:cNvPr id="16" name="Text 11"/>
          <p:cNvSpPr/>
          <p:nvPr/>
        </p:nvSpPr>
        <p:spPr>
          <a:xfrm>
            <a:off x="8369808"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Hierarchy Modeling</a:t>
            </a:r>
            <a:endParaRPr lang="en-US" sz="1500" dirty="0"/>
          </a:p>
        </p:txBody>
      </p:sp>
      <p:sp>
        <p:nvSpPr>
          <p:cNvPr id="17" name="Text 12"/>
          <p:cNvSpPr/>
          <p:nvPr/>
        </p:nvSpPr>
        <p:spPr>
          <a:xfrm>
            <a:off x="8369808"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Code structure mirrors the real “is-a” relationships in the problem domain</a:t>
            </a:r>
            <a:endParaRPr lang="en-US" sz="1150" dirty="0"/>
          </a:p>
        </p:txBody>
      </p:sp>
      <p:sp>
        <p:nvSpPr>
          <p:cNvPr id="18"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9"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2E33"/>
          </a:solidFill>
          <a:ln/>
        </p:spPr>
      </p:sp>
      <p:pic>
        <p:nvPicPr>
          <p:cNvPr id="3" name="Image 0" descr="preencoded.png">    </p:cNvPr>
          <p:cNvPicPr>
            <a:picLocks noChangeAspect="1"/>
          </p:cNvPicPr>
          <p:nvPr/>
        </p:nvPicPr>
        <p:blipFill>
          <a:blip r:embed="rId1"/>
          <a:stretch>
            <a:fillRect/>
          </a:stretch>
        </p:blipFill>
        <p:spPr>
          <a:xfrm>
            <a:off x="640080" y="640080"/>
            <a:ext cx="502920" cy="502920"/>
          </a:xfrm>
          <a:prstGeom prst="rect">
            <a:avLst/>
          </a:prstGeom>
        </p:spPr>
      </p:pic>
      <p:sp>
        <p:nvSpPr>
          <p:cNvPr id="4" name="Text 1"/>
          <p:cNvSpPr/>
          <p:nvPr/>
        </p:nvSpPr>
        <p:spPr>
          <a:xfrm>
            <a:off x="1280160" y="658368"/>
            <a:ext cx="7315200" cy="457200"/>
          </a:xfrm>
          <a:prstGeom prst="rect">
            <a:avLst/>
          </a:prstGeom>
          <a:noFill/>
          <a:ln/>
        </p:spPr>
        <p:txBody>
          <a:bodyPr wrap="square" lIns="0" tIns="0" rIns="0" bIns="0" rtlCol="0" anchor="ctr"/>
          <a:lstStyle/>
          <a:p>
            <a:pPr indent="0" marL="0">
              <a:buNone/>
            </a:pPr>
            <a:r>
              <a:rPr lang="en-US" sz="1600" b="1" dirty="0">
                <a:solidFill>
                  <a:srgbClr val="06B6D4"/>
                </a:solidFill>
                <a:latin typeface="Calibri" pitchFamily="34" charset="0"/>
                <a:ea typeface="Calibri" pitchFamily="34" charset="-122"/>
                <a:cs typeface="Calibri" pitchFamily="34" charset="-120"/>
              </a:rPr>
              <a:t>This Week's Lab</a:t>
            </a:r>
            <a:endParaRPr lang="en-US" sz="1600" dirty="0"/>
          </a:p>
        </p:txBody>
      </p:sp>
      <p:sp>
        <p:nvSpPr>
          <p:cNvPr id="5" name="Text 2"/>
          <p:cNvSpPr/>
          <p:nvPr/>
        </p:nvSpPr>
        <p:spPr>
          <a:xfrm>
            <a:off x="640080" y="1280160"/>
            <a:ext cx="10515600" cy="73152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Build a Vehicle Management System</a:t>
            </a:r>
            <a:endParaRPr lang="en-US" sz="2600" dirty="0"/>
          </a:p>
        </p:txBody>
      </p:sp>
      <p:sp>
        <p:nvSpPr>
          <p:cNvPr id="6" name="Shape 3"/>
          <p:cNvSpPr/>
          <p:nvPr/>
        </p:nvSpPr>
        <p:spPr>
          <a:xfrm>
            <a:off x="640080" y="2194560"/>
            <a:ext cx="10908792" cy="548640"/>
          </a:xfrm>
          <a:prstGeom prst="roundRect">
            <a:avLst>
              <a:gd name="adj" fmla="val 13333"/>
            </a:avLst>
          </a:prstGeom>
          <a:solidFill>
            <a:srgbClr val="141F33"/>
          </a:solidFill>
          <a:ln/>
        </p:spPr>
      </p:sp>
      <p:pic>
        <p:nvPicPr>
          <p:cNvPr id="7" name="Image 1" descr="preencoded.png">    </p:cNvPr>
          <p:cNvPicPr>
            <a:picLocks noChangeAspect="1"/>
          </p:cNvPicPr>
          <p:nvPr/>
        </p:nvPicPr>
        <p:blipFill>
          <a:blip r:embed="rId2"/>
          <a:stretch>
            <a:fillRect/>
          </a:stretch>
        </p:blipFill>
        <p:spPr>
          <a:xfrm>
            <a:off x="868680" y="2340864"/>
            <a:ext cx="256032" cy="256032"/>
          </a:xfrm>
          <a:prstGeom prst="rect">
            <a:avLst/>
          </a:prstGeom>
        </p:spPr>
      </p:pic>
      <p:sp>
        <p:nvSpPr>
          <p:cNvPr id="8" name="Text 4"/>
          <p:cNvSpPr/>
          <p:nvPr/>
        </p:nvSpPr>
        <p:spPr>
          <a:xfrm>
            <a:off x="1280160" y="21945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Build the Vehicle parent class with __init__, describe(), and refuel()</a:t>
            </a:r>
            <a:endParaRPr lang="en-US" sz="1350" dirty="0"/>
          </a:p>
        </p:txBody>
      </p:sp>
      <p:sp>
        <p:nvSpPr>
          <p:cNvPr id="9" name="Shape 5"/>
          <p:cNvSpPr/>
          <p:nvPr/>
        </p:nvSpPr>
        <p:spPr>
          <a:xfrm>
            <a:off x="640080" y="2880360"/>
            <a:ext cx="10908792" cy="548640"/>
          </a:xfrm>
          <a:prstGeom prst="roundRect">
            <a:avLst>
              <a:gd name="adj" fmla="val 13333"/>
            </a:avLst>
          </a:prstGeom>
          <a:solidFill>
            <a:srgbClr val="141F33"/>
          </a:solidFill>
          <a:ln/>
        </p:spPr>
      </p:sp>
      <p:pic>
        <p:nvPicPr>
          <p:cNvPr id="10" name="Image 2" descr="preencoded.png">    </p:cNvPr>
          <p:cNvPicPr>
            <a:picLocks noChangeAspect="1"/>
          </p:cNvPicPr>
          <p:nvPr/>
        </p:nvPicPr>
        <p:blipFill>
          <a:blip r:embed="rId3"/>
          <a:stretch>
            <a:fillRect/>
          </a:stretch>
        </p:blipFill>
        <p:spPr>
          <a:xfrm>
            <a:off x="868680" y="3026664"/>
            <a:ext cx="256032" cy="256032"/>
          </a:xfrm>
          <a:prstGeom prst="rect">
            <a:avLst/>
          </a:prstGeom>
        </p:spPr>
      </p:pic>
      <p:sp>
        <p:nvSpPr>
          <p:cNvPr id="11" name="Text 6"/>
          <p:cNvSpPr/>
          <p:nvPr/>
        </p:nvSpPr>
        <p:spPr>
          <a:xfrm>
            <a:off x="1280160" y="28803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Build Car(Vehicle) with num_doors, using super().__init__()</a:t>
            </a:r>
            <a:endParaRPr lang="en-US" sz="1350" dirty="0"/>
          </a:p>
        </p:txBody>
      </p:sp>
      <p:sp>
        <p:nvSpPr>
          <p:cNvPr id="12" name="Shape 7"/>
          <p:cNvSpPr/>
          <p:nvPr/>
        </p:nvSpPr>
        <p:spPr>
          <a:xfrm>
            <a:off x="640080" y="3566160"/>
            <a:ext cx="10908792" cy="548640"/>
          </a:xfrm>
          <a:prstGeom prst="roundRect">
            <a:avLst>
              <a:gd name="adj" fmla="val 13333"/>
            </a:avLst>
          </a:prstGeom>
          <a:solidFill>
            <a:srgbClr val="141F33"/>
          </a:solidFill>
          <a:ln/>
        </p:spPr>
      </p:sp>
      <p:pic>
        <p:nvPicPr>
          <p:cNvPr id="13" name="Image 3" descr="preencoded.png">    </p:cNvPr>
          <p:cNvPicPr>
            <a:picLocks noChangeAspect="1"/>
          </p:cNvPicPr>
          <p:nvPr/>
        </p:nvPicPr>
        <p:blipFill>
          <a:blip r:embed="rId4"/>
          <a:stretch>
            <a:fillRect/>
          </a:stretch>
        </p:blipFill>
        <p:spPr>
          <a:xfrm>
            <a:off x="868680" y="3712464"/>
            <a:ext cx="256032" cy="256032"/>
          </a:xfrm>
          <a:prstGeom prst="rect">
            <a:avLst/>
          </a:prstGeom>
        </p:spPr>
      </p:pic>
      <p:sp>
        <p:nvSpPr>
          <p:cNvPr id="14" name="Text 8"/>
          <p:cNvSpPr/>
          <p:nvPr/>
        </p:nvSpPr>
        <p:spPr>
          <a:xfrm>
            <a:off x="1280160" y="35661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Build Motorcycle(Vehicle) with has_sidecar, using super().__init__()</a:t>
            </a:r>
            <a:endParaRPr lang="en-US" sz="1350" dirty="0"/>
          </a:p>
        </p:txBody>
      </p:sp>
      <p:sp>
        <p:nvSpPr>
          <p:cNvPr id="15" name="Shape 9"/>
          <p:cNvSpPr/>
          <p:nvPr/>
        </p:nvSpPr>
        <p:spPr>
          <a:xfrm>
            <a:off x="640080" y="4251960"/>
            <a:ext cx="10908792" cy="548640"/>
          </a:xfrm>
          <a:prstGeom prst="roundRect">
            <a:avLst>
              <a:gd name="adj" fmla="val 13333"/>
            </a:avLst>
          </a:prstGeom>
          <a:solidFill>
            <a:srgbClr val="141F33"/>
          </a:solidFill>
          <a:ln/>
        </p:spPr>
      </p:sp>
      <p:pic>
        <p:nvPicPr>
          <p:cNvPr id="16" name="Image 4" descr="preencoded.png">    </p:cNvPr>
          <p:cNvPicPr>
            <a:picLocks noChangeAspect="1"/>
          </p:cNvPicPr>
          <p:nvPr/>
        </p:nvPicPr>
        <p:blipFill>
          <a:blip r:embed="rId5"/>
          <a:stretch>
            <a:fillRect/>
          </a:stretch>
        </p:blipFill>
        <p:spPr>
          <a:xfrm>
            <a:off x="868680" y="4398264"/>
            <a:ext cx="256032" cy="256032"/>
          </a:xfrm>
          <a:prstGeom prst="rect">
            <a:avLst/>
          </a:prstGeom>
        </p:spPr>
      </p:pic>
      <p:sp>
        <p:nvSpPr>
          <p:cNvPr id="17" name="Text 10"/>
          <p:cNvSpPr/>
          <p:nvPr/>
        </p:nvSpPr>
        <p:spPr>
          <a:xfrm>
            <a:off x="1280160" y="42519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Override describe() in both children, extending the parent's version with super().describe()</a:t>
            </a:r>
            <a:endParaRPr lang="en-US" sz="1350" dirty="0"/>
          </a:p>
        </p:txBody>
      </p:sp>
      <p:sp>
        <p:nvSpPr>
          <p:cNvPr id="18" name="Shape 11"/>
          <p:cNvSpPr/>
          <p:nvPr/>
        </p:nvSpPr>
        <p:spPr>
          <a:xfrm>
            <a:off x="640080" y="4937760"/>
            <a:ext cx="10908792" cy="548640"/>
          </a:xfrm>
          <a:prstGeom prst="roundRect">
            <a:avLst>
              <a:gd name="adj" fmla="val 13333"/>
            </a:avLst>
          </a:prstGeom>
          <a:solidFill>
            <a:srgbClr val="141F33"/>
          </a:solidFill>
          <a:ln/>
        </p:spPr>
      </p:sp>
      <p:pic>
        <p:nvPicPr>
          <p:cNvPr id="19" name="Image 5" descr="preencoded.png">    </p:cNvPr>
          <p:cNvPicPr>
            <a:picLocks noChangeAspect="1"/>
          </p:cNvPicPr>
          <p:nvPr/>
        </p:nvPicPr>
        <p:blipFill>
          <a:blip r:embed="rId6"/>
          <a:stretch>
            <a:fillRect/>
          </a:stretch>
        </p:blipFill>
        <p:spPr>
          <a:xfrm>
            <a:off x="868680" y="5084064"/>
            <a:ext cx="256032" cy="256032"/>
          </a:xfrm>
          <a:prstGeom prst="rect">
            <a:avLst/>
          </a:prstGeom>
        </p:spPr>
      </p:pic>
      <p:sp>
        <p:nvSpPr>
          <p:cNvPr id="20" name="Text 12"/>
          <p:cNvSpPr/>
          <p:nvPr/>
        </p:nvSpPr>
        <p:spPr>
          <a:xfrm>
            <a:off x="1280160" y="49377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Create a mixed list of Vehicle/Car/Motorcycle objects and loop over it, calling describe() on each</a:t>
            </a:r>
            <a:endParaRPr lang="en-US" sz="1350" dirty="0"/>
          </a:p>
        </p:txBody>
      </p:sp>
      <p:sp>
        <p:nvSpPr>
          <p:cNvPr id="21"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22"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Key Takeaways</a:t>
            </a:r>
            <a:endParaRPr lang="en-US" sz="2600" dirty="0"/>
          </a:p>
        </p:txBody>
      </p:sp>
      <p:pic>
        <p:nvPicPr>
          <p:cNvPr id="3" name="Image 0" descr="preencoded.png">    </p:cNvPr>
          <p:cNvPicPr>
            <a:picLocks noChangeAspect="1"/>
          </p:cNvPicPr>
          <p:nvPr/>
        </p:nvPicPr>
        <p:blipFill>
          <a:blip r:embed="rId1"/>
          <a:stretch>
            <a:fillRect/>
          </a:stretch>
        </p:blipFill>
        <p:spPr>
          <a:xfrm>
            <a:off x="640080" y="1746504"/>
            <a:ext cx="274320" cy="274320"/>
          </a:xfrm>
          <a:prstGeom prst="rect">
            <a:avLst/>
          </a:prstGeom>
        </p:spPr>
      </p:pic>
      <p:sp>
        <p:nvSpPr>
          <p:cNvPr id="4" name="Text 1"/>
          <p:cNvSpPr/>
          <p:nvPr/>
        </p:nvSpPr>
        <p:spPr>
          <a:xfrm>
            <a:off x="1097280" y="1691640"/>
            <a:ext cx="1042416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Inheritance lets a child class reuse and extend a parent class, modeling an “is-a” relationship</a:t>
            </a:r>
            <a:endParaRPr lang="en-US" sz="1350" dirty="0"/>
          </a:p>
        </p:txBody>
      </p:sp>
      <p:pic>
        <p:nvPicPr>
          <p:cNvPr id="5" name="Image 1" descr="preencoded.png">    </p:cNvPr>
          <p:cNvPicPr>
            <a:picLocks noChangeAspect="1"/>
          </p:cNvPicPr>
          <p:nvPr/>
        </p:nvPicPr>
        <p:blipFill>
          <a:blip r:embed="rId2"/>
          <a:stretch>
            <a:fillRect/>
          </a:stretch>
        </p:blipFill>
        <p:spPr>
          <a:xfrm>
            <a:off x="640080" y="2606040"/>
            <a:ext cx="274320" cy="274320"/>
          </a:xfrm>
          <a:prstGeom prst="rect">
            <a:avLst/>
          </a:prstGeom>
        </p:spPr>
      </p:pic>
      <p:sp>
        <p:nvSpPr>
          <p:cNvPr id="6" name="Text 2"/>
          <p:cNvSpPr/>
          <p:nvPr/>
        </p:nvSpPr>
        <p:spPr>
          <a:xfrm>
            <a:off x="1097280" y="2551176"/>
            <a:ext cx="1042416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super().__init__() calls the parent's constructor — always prefer it over retyping the parent's setup logic</a:t>
            </a:r>
            <a:endParaRPr lang="en-US" sz="1350" dirty="0"/>
          </a:p>
        </p:txBody>
      </p:sp>
      <p:pic>
        <p:nvPicPr>
          <p:cNvPr id="7" name="Image 2" descr="preencoded.png">    </p:cNvPr>
          <p:cNvPicPr>
            <a:picLocks noChangeAspect="1"/>
          </p:cNvPicPr>
          <p:nvPr/>
        </p:nvPicPr>
        <p:blipFill>
          <a:blip r:embed="rId3"/>
          <a:stretch>
            <a:fillRect/>
          </a:stretch>
        </p:blipFill>
        <p:spPr>
          <a:xfrm>
            <a:off x="640080" y="3465576"/>
            <a:ext cx="274320" cy="274320"/>
          </a:xfrm>
          <a:prstGeom prst="rect">
            <a:avLst/>
          </a:prstGeom>
        </p:spPr>
      </p:pic>
      <p:sp>
        <p:nvSpPr>
          <p:cNvPr id="8" name="Text 3"/>
          <p:cNvSpPr/>
          <p:nvPr/>
        </p:nvSpPr>
        <p:spPr>
          <a:xfrm>
            <a:off x="1097280" y="3410712"/>
            <a:ext cx="1042416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A child method can fully override the parent's, or extend it using super().method_name()</a:t>
            </a:r>
            <a:endParaRPr lang="en-US" sz="1350" dirty="0"/>
          </a:p>
        </p:txBody>
      </p:sp>
      <p:pic>
        <p:nvPicPr>
          <p:cNvPr id="9" name="Image 3" descr="preencoded.png">    </p:cNvPr>
          <p:cNvPicPr>
            <a:picLocks noChangeAspect="1"/>
          </p:cNvPicPr>
          <p:nvPr/>
        </p:nvPicPr>
        <p:blipFill>
          <a:blip r:embed="rId4"/>
          <a:stretch>
            <a:fillRect/>
          </a:stretch>
        </p:blipFill>
        <p:spPr>
          <a:xfrm>
            <a:off x="640080" y="4325112"/>
            <a:ext cx="274320" cy="274320"/>
          </a:xfrm>
          <a:prstGeom prst="rect">
            <a:avLst/>
          </a:prstGeom>
        </p:spPr>
      </p:pic>
      <p:sp>
        <p:nvSpPr>
          <p:cNvPr id="10" name="Text 4"/>
          <p:cNvSpPr/>
          <p:nvPr/>
        </p:nvSpPr>
        <p:spPr>
          <a:xfrm>
            <a:off x="1097280" y="4270248"/>
            <a:ext cx="1042416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isinstance() respects inheritance; type() checks for an exact match only</a:t>
            </a:r>
            <a:endParaRPr lang="en-US" sz="1350" dirty="0"/>
          </a:p>
        </p:txBody>
      </p:sp>
      <p:pic>
        <p:nvPicPr>
          <p:cNvPr id="11" name="Image 4" descr="preencoded.png">    </p:cNvPr>
          <p:cNvPicPr>
            <a:picLocks noChangeAspect="1"/>
          </p:cNvPicPr>
          <p:nvPr/>
        </p:nvPicPr>
        <p:blipFill>
          <a:blip r:embed="rId5"/>
          <a:stretch>
            <a:fillRect/>
          </a:stretch>
        </p:blipFill>
        <p:spPr>
          <a:xfrm>
            <a:off x="640080" y="5184648"/>
            <a:ext cx="274320" cy="274320"/>
          </a:xfrm>
          <a:prstGeom prst="rect">
            <a:avLst/>
          </a:prstGeom>
        </p:spPr>
      </p:pic>
      <p:sp>
        <p:nvSpPr>
          <p:cNvPr id="12" name="Text 5"/>
          <p:cNvSpPr/>
          <p:nvPr/>
        </p:nvSpPr>
        <p:spPr>
          <a:xfrm>
            <a:off x="1097280" y="5129784"/>
            <a:ext cx="1042416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Reach for inheritance only when the is-a relationship genuinely holds — otherwise, composition is the better fit</a:t>
            </a:r>
            <a:endParaRPr lang="en-US" sz="1350" dirty="0"/>
          </a:p>
        </p:txBody>
      </p:sp>
      <p:sp>
        <p:nvSpPr>
          <p:cNvPr id="13"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4"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Next Week: Polymorphism</a:t>
            </a:r>
            <a:endParaRPr lang="en-US" sz="2600" dirty="0"/>
          </a:p>
        </p:txBody>
      </p:sp>
      <p:sp>
        <p:nvSpPr>
          <p:cNvPr id="3" name="Shape 1"/>
          <p:cNvSpPr/>
          <p:nvPr/>
        </p:nvSpPr>
        <p:spPr>
          <a:xfrm>
            <a:off x="640080" y="1600200"/>
            <a:ext cx="10972800" cy="4206240"/>
          </a:xfrm>
          <a:prstGeom prst="roundRect">
            <a:avLst>
              <a:gd name="adj" fmla="val 2609"/>
            </a:avLst>
          </a:prstGeom>
          <a:solidFill>
            <a:srgbClr val="06B6D4"/>
          </a:solidFill>
          <a:ln/>
        </p:spPr>
      </p:sp>
      <p:sp>
        <p:nvSpPr>
          <p:cNvPr id="4" name="Text 2"/>
          <p:cNvSpPr/>
          <p:nvPr/>
        </p:nvSpPr>
        <p:spPr>
          <a:xfrm>
            <a:off x="914400" y="1828800"/>
            <a:ext cx="457200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Week 6</a:t>
            </a:r>
            <a:endParaRPr lang="en-US" sz="1400" dirty="0"/>
          </a:p>
        </p:txBody>
      </p:sp>
      <p:sp>
        <p:nvSpPr>
          <p:cNvPr id="5" name="Text 3"/>
          <p:cNvSpPr/>
          <p:nvPr/>
        </p:nvSpPr>
        <p:spPr>
          <a:xfrm>
            <a:off x="914400" y="2194560"/>
            <a:ext cx="9144000" cy="548640"/>
          </a:xfrm>
          <a:prstGeom prst="rect">
            <a:avLst/>
          </a:prstGeom>
          <a:noFill/>
          <a:ln/>
        </p:spPr>
        <p:txBody>
          <a:bodyPr wrap="square" lIns="0" tIns="0" rIns="0" bIns="0" rtlCol="0" anchor="ctr"/>
          <a:lstStyle/>
          <a:p>
            <a:pPr indent="0" marL="0">
              <a:buNone/>
            </a:pPr>
            <a:r>
              <a:rPr lang="en-US" sz="2400" b="1" dirty="0">
                <a:solidFill>
                  <a:srgbClr val="0B1220"/>
                </a:solidFill>
                <a:latin typeface="Calibri" pitchFamily="34" charset="0"/>
                <a:ea typeface="Calibri" pitchFamily="34" charset="-122"/>
                <a:cs typeface="Calibri" pitchFamily="34" charset="-120"/>
              </a:rPr>
              <a:t>Polymorphism</a:t>
            </a:r>
            <a:endParaRPr lang="en-US" sz="2400" dirty="0"/>
          </a:p>
        </p:txBody>
      </p:sp>
      <p:sp>
        <p:nvSpPr>
          <p:cNvPr id="6" name="Shape 4"/>
          <p:cNvSpPr/>
          <p:nvPr/>
        </p:nvSpPr>
        <p:spPr>
          <a:xfrm>
            <a:off x="914400" y="2971800"/>
            <a:ext cx="10424160" cy="525780"/>
          </a:xfrm>
          <a:prstGeom prst="roundRect">
            <a:avLst>
              <a:gd name="adj" fmla="val 13913"/>
            </a:avLst>
          </a:prstGeom>
          <a:solidFill>
            <a:srgbClr val="FFFFFF">
              <a:alpha val="15000"/>
            </a:srgbClr>
          </a:solidFill>
          <a:ln/>
        </p:spPr>
      </p:sp>
      <p:sp>
        <p:nvSpPr>
          <p:cNvPr id="7" name="Text 5"/>
          <p:cNvSpPr/>
          <p:nvPr/>
        </p:nvSpPr>
        <p:spPr>
          <a:xfrm>
            <a:off x="1143000" y="297180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Why fleet loop calling v.describe() already showed polymorphism in action</a:t>
            </a:r>
            <a:endParaRPr lang="en-US" sz="1300" dirty="0"/>
          </a:p>
        </p:txBody>
      </p:sp>
      <p:sp>
        <p:nvSpPr>
          <p:cNvPr id="8" name="Shape 6"/>
          <p:cNvSpPr/>
          <p:nvPr/>
        </p:nvSpPr>
        <p:spPr>
          <a:xfrm>
            <a:off x="914400" y="3634740"/>
            <a:ext cx="10424160" cy="525780"/>
          </a:xfrm>
          <a:prstGeom prst="roundRect">
            <a:avLst>
              <a:gd name="adj" fmla="val 13913"/>
            </a:avLst>
          </a:prstGeom>
          <a:solidFill>
            <a:srgbClr val="FFFFFF">
              <a:alpha val="15000"/>
            </a:srgbClr>
          </a:solidFill>
          <a:ln/>
        </p:spPr>
      </p:sp>
      <p:sp>
        <p:nvSpPr>
          <p:cNvPr id="9" name="Text 7"/>
          <p:cNvSpPr/>
          <p:nvPr/>
        </p:nvSpPr>
        <p:spPr>
          <a:xfrm>
            <a:off x="1143000" y="363474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Method overriding and dynamic binding, formalized</a:t>
            </a:r>
            <a:endParaRPr lang="en-US" sz="1300" dirty="0"/>
          </a:p>
        </p:txBody>
      </p:sp>
      <p:sp>
        <p:nvSpPr>
          <p:cNvPr id="10" name="Shape 8"/>
          <p:cNvSpPr/>
          <p:nvPr/>
        </p:nvSpPr>
        <p:spPr>
          <a:xfrm>
            <a:off x="914400" y="4297680"/>
            <a:ext cx="10424160" cy="525780"/>
          </a:xfrm>
          <a:prstGeom prst="roundRect">
            <a:avLst>
              <a:gd name="adj" fmla="val 13913"/>
            </a:avLst>
          </a:prstGeom>
          <a:solidFill>
            <a:srgbClr val="FFFFFF">
              <a:alpha val="15000"/>
            </a:srgbClr>
          </a:solidFill>
          <a:ln/>
        </p:spPr>
      </p:sp>
      <p:sp>
        <p:nvSpPr>
          <p:cNvPr id="11" name="Text 9"/>
          <p:cNvSpPr/>
          <p:nvPr/>
        </p:nvSpPr>
        <p:spPr>
          <a:xfrm>
            <a:off x="1143000" y="429768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Duck typing — Python's flexible approach to “if it walks like a duck...”</a:t>
            </a:r>
            <a:endParaRPr lang="en-US" sz="1300" dirty="0"/>
          </a:p>
        </p:txBody>
      </p:sp>
      <p:sp>
        <p:nvSpPr>
          <p:cNvPr id="12" name="Shape 10"/>
          <p:cNvSpPr/>
          <p:nvPr/>
        </p:nvSpPr>
        <p:spPr>
          <a:xfrm>
            <a:off x="914400" y="4960620"/>
            <a:ext cx="10424160" cy="525780"/>
          </a:xfrm>
          <a:prstGeom prst="roundRect">
            <a:avLst>
              <a:gd name="adj" fmla="val 13913"/>
            </a:avLst>
          </a:prstGeom>
          <a:solidFill>
            <a:srgbClr val="FFFFFF">
              <a:alpha val="15000"/>
            </a:srgbClr>
          </a:solidFill>
          <a:ln/>
        </p:spPr>
      </p:sp>
      <p:sp>
        <p:nvSpPr>
          <p:cNvPr id="13" name="Text 11"/>
          <p:cNvSpPr/>
          <p:nvPr/>
        </p:nvSpPr>
        <p:spPr>
          <a:xfrm>
            <a:off x="1143000" y="496062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Lab: a Payment System (CreditCard, PayPal, Cash)</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03920" y="-2286000"/>
            <a:ext cx="6400800" cy="6400800"/>
          </a:xfrm>
          <a:prstGeom prst="ellipse">
            <a:avLst/>
          </a:prstGeom>
          <a:solidFill>
            <a:srgbClr val="0A2E33">
              <a:alpha val="60000"/>
            </a:srgbClr>
          </a:solidFill>
          <a:ln/>
        </p:spPr>
      </p:sp>
      <p:sp>
        <p:nvSpPr>
          <p:cNvPr id="3" name="Text 1"/>
          <p:cNvSpPr/>
          <p:nvPr/>
        </p:nvSpPr>
        <p:spPr>
          <a:xfrm>
            <a:off x="731520" y="2651760"/>
            <a:ext cx="7315200" cy="914400"/>
          </a:xfrm>
          <a:prstGeom prst="rect">
            <a:avLst/>
          </a:prstGeom>
          <a:noFill/>
          <a:ln/>
        </p:spPr>
        <p:txBody>
          <a:bodyPr wrap="square" lIns="0" tIns="0" rIns="0" bIns="0" rtlCol="0" anchor="ctr"/>
          <a:lstStyle/>
          <a:p>
            <a:pPr indent="0" marL="0">
              <a:buNone/>
            </a:pPr>
            <a:r>
              <a:rPr lang="en-US" sz="4400" b="1" dirty="0">
                <a:solidFill>
                  <a:srgbClr val="F1F5F9"/>
                </a:solidFill>
                <a:latin typeface="Calibri" pitchFamily="34" charset="0"/>
                <a:ea typeface="Calibri" pitchFamily="34" charset="-122"/>
                <a:cs typeface="Calibri" pitchFamily="34" charset="-120"/>
              </a:rPr>
              <a:t>Questions?</a:t>
            </a:r>
            <a:endParaRPr lang="en-US" sz="4400" dirty="0"/>
          </a:p>
        </p:txBody>
      </p:sp>
      <p:sp>
        <p:nvSpPr>
          <p:cNvPr id="4" name="Text 2"/>
          <p:cNvSpPr/>
          <p:nvPr/>
        </p:nvSpPr>
        <p:spPr>
          <a:xfrm>
            <a:off x="731520" y="3566160"/>
            <a:ext cx="8686800" cy="64008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Before next class: finish the Week 5 lab notebook — the fleet loop should correctly describe every vehicle type.</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5</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2026-08-25T10:11:36Z</dcterms:created>
  <dcterms:modified xsi:type="dcterms:W3CDTF">2026-08-25T10:11:36Z</dcterms:modified>
</cp:coreProperties>
</file>