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image" Target="../media/image-2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2286000"/>
            <a:ext cx="6400800" cy="6400800"/>
          </a:xfrm>
          <a:prstGeom prst="ellipse">
            <a:avLst/>
          </a:prstGeom>
          <a:solidFill>
            <a:srgbClr val="1A2E08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114800"/>
            <a:ext cx="3657600" cy="3657600"/>
          </a:xfrm>
          <a:prstGeom prst="ellipse">
            <a:avLst/>
          </a:prstGeom>
          <a:solidFill>
            <a:srgbClr val="1A2E08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65A3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9875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Modules, Packages, and Testing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Organizing and Verifying Code — Python 3.x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31520" y="3749040"/>
            <a:ext cx="2011680" cy="0"/>
          </a:xfrm>
          <a:prstGeom prst="line">
            <a:avLst/>
          </a:prstGeom>
          <a:noFill/>
          <a:ln w="31750">
            <a:solidFill>
              <a:srgbClr val="65A30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 ·  Object Oriented Programming  ·  Software Development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5A3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Week, in Brief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72800" cy="4297680"/>
          </a:xfrm>
          <a:prstGeom prst="roundRect">
            <a:avLst>
              <a:gd name="adj" fmla="val 2553"/>
            </a:avLst>
          </a:prstGeom>
          <a:solidFill>
            <a:srgbClr val="141F3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993392"/>
            <a:ext cx="201168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911096"/>
            <a:ext cx="1010412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handling let object state persist across separate runs of a program</a:t>
            </a:r>
            <a:endParaRPr lang="en-US" sz="12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942082"/>
            <a:ext cx="201168" cy="2011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4440" y="2859786"/>
            <a:ext cx="1010412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class we've built this semester has lived in one file, in one notebook</a:t>
            </a:r>
            <a:endParaRPr lang="en-US" sz="12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890772"/>
            <a:ext cx="201168" cy="2011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34440" y="3808476"/>
            <a:ext cx="1010412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projects split code across many files, and need a way to confirm it still works after changes</a:t>
            </a:r>
            <a:endParaRPr lang="en-US" sz="12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839462"/>
            <a:ext cx="201168" cy="20116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234440" y="4757166"/>
            <a:ext cx="1010412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modules, packages, and a first introduction to automated testing with pytest</a:t>
            </a:r>
            <a:endParaRPr lang="en-US" sz="1250" dirty="0"/>
          </a:p>
        </p:txBody>
      </p:sp>
      <p:sp>
        <p:nvSpPr>
          <p:cNvPr id="13" name="Text 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12</a:t>
            </a:r>
            <a:endParaRPr lang="en-US" sz="1000" dirty="0"/>
          </a:p>
        </p:txBody>
      </p:sp>
      <p:sp>
        <p:nvSpPr>
          <p:cNvPr id="14" name="Text 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14-Week Roadmap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today's session fits into the semester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B2A4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78308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5A3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075688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 to OOP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304288" y="1691640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B2A45"/>
          </a:solidFill>
          <a:ln/>
        </p:spPr>
      </p:sp>
      <p:sp>
        <p:nvSpPr>
          <p:cNvPr id="8" name="Text 6"/>
          <p:cNvSpPr/>
          <p:nvPr/>
        </p:nvSpPr>
        <p:spPr>
          <a:xfrm>
            <a:off x="2395728" y="178308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5A3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395728" y="2075688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&amp; Objects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968496" y="1691640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B2A45"/>
          </a:solidFill>
          <a:ln/>
        </p:spPr>
      </p:sp>
      <p:sp>
        <p:nvSpPr>
          <p:cNvPr id="11" name="Text 9"/>
          <p:cNvSpPr/>
          <p:nvPr/>
        </p:nvSpPr>
        <p:spPr>
          <a:xfrm>
            <a:off x="4059936" y="178308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5A3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059936" y="2075688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 &amp; Methods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632704" y="1691640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B2A45"/>
          </a:solidFill>
          <a:ln/>
        </p:spPr>
      </p:sp>
      <p:sp>
        <p:nvSpPr>
          <p:cNvPr id="14" name="Text 12"/>
          <p:cNvSpPr/>
          <p:nvPr/>
        </p:nvSpPr>
        <p:spPr>
          <a:xfrm>
            <a:off x="5724144" y="178308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5A3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724144" y="2075688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296912" y="1691640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B2A45"/>
          </a:solidFill>
          <a:ln/>
        </p:spPr>
      </p:sp>
      <p:sp>
        <p:nvSpPr>
          <p:cNvPr id="17" name="Text 15"/>
          <p:cNvSpPr/>
          <p:nvPr/>
        </p:nvSpPr>
        <p:spPr>
          <a:xfrm>
            <a:off x="7388352" y="178308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5A3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88352" y="2075688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961120" y="1691640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B2A45"/>
          </a:solidFill>
          <a:ln/>
        </p:spPr>
      </p:sp>
      <p:sp>
        <p:nvSpPr>
          <p:cNvPr id="20" name="Text 18"/>
          <p:cNvSpPr/>
          <p:nvPr/>
        </p:nvSpPr>
        <p:spPr>
          <a:xfrm>
            <a:off x="9052560" y="178308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5A3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052560" y="2075688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0625328" y="1691640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B2A45"/>
          </a:solidFill>
          <a:ln/>
        </p:spPr>
      </p:sp>
      <p:sp>
        <p:nvSpPr>
          <p:cNvPr id="23" name="Text 21"/>
          <p:cNvSpPr/>
          <p:nvPr/>
        </p:nvSpPr>
        <p:spPr>
          <a:xfrm>
            <a:off x="10716768" y="178308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5A3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716768" y="2075688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0080" y="2907792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B2A45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299923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5A3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31520" y="3291840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Midterm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304288" y="2907792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B2A45"/>
          </a:solidFill>
          <a:ln/>
        </p:spPr>
      </p:sp>
      <p:sp>
        <p:nvSpPr>
          <p:cNvPr id="29" name="Text 27"/>
          <p:cNvSpPr/>
          <p:nvPr/>
        </p:nvSpPr>
        <p:spPr>
          <a:xfrm>
            <a:off x="2395728" y="299923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5A3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W9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395728" y="3291840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968496" y="2907792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B2A45"/>
          </a:solidFill>
          <a:ln/>
        </p:spPr>
      </p:sp>
      <p:sp>
        <p:nvSpPr>
          <p:cNvPr id="32" name="Text 30"/>
          <p:cNvSpPr/>
          <p:nvPr/>
        </p:nvSpPr>
        <p:spPr>
          <a:xfrm>
            <a:off x="4059936" y="299923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5A3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W10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059936" y="3291840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632704" y="2907792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B2A45"/>
          </a:solidFill>
          <a:ln/>
        </p:spPr>
      </p:sp>
      <p:sp>
        <p:nvSpPr>
          <p:cNvPr id="35" name="Text 33"/>
          <p:cNvSpPr/>
          <p:nvPr/>
        </p:nvSpPr>
        <p:spPr>
          <a:xfrm>
            <a:off x="5724144" y="299923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5A3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W11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724144" y="3291840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Handling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296912" y="2907792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65A30D"/>
          </a:solidFill>
          <a:ln/>
        </p:spPr>
      </p:sp>
      <p:sp>
        <p:nvSpPr>
          <p:cNvPr id="38" name="Text 36"/>
          <p:cNvSpPr/>
          <p:nvPr/>
        </p:nvSpPr>
        <p:spPr>
          <a:xfrm>
            <a:off x="7388352" y="299923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W12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388352" y="3291840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&amp; Testing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961120" y="2907792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41F33"/>
          </a:solidFill>
          <a:ln/>
        </p:spPr>
      </p:sp>
      <p:sp>
        <p:nvSpPr>
          <p:cNvPr id="41" name="Text 39"/>
          <p:cNvSpPr/>
          <p:nvPr/>
        </p:nvSpPr>
        <p:spPr>
          <a:xfrm>
            <a:off x="9052560" y="299923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5A3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W13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052560" y="3291840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Dev.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10625328" y="2907792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141F33"/>
          </a:solidFill>
          <a:ln/>
        </p:spPr>
      </p:sp>
      <p:sp>
        <p:nvSpPr>
          <p:cNvPr id="44" name="Text 42"/>
          <p:cNvSpPr/>
          <p:nvPr/>
        </p:nvSpPr>
        <p:spPr>
          <a:xfrm>
            <a:off x="10716768" y="299923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5A3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W14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0716768" y="3291840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Presentations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12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today, you will be able to: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2A4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5A3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673352"/>
            <a:ext cx="102412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what a module is, and import one using several different styles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4079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2A4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407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5A3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2389632"/>
            <a:ext cx="102412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 related modules into a package using __init__.py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1242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2A4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124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5A3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3105912"/>
            <a:ext cx="102412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purpose of the if __name__ == "__main__": pattern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38404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2A45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5A3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3822192"/>
            <a:ext cx="102412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and run basic unit tests using pytest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5567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2A45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556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5A3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4538472"/>
            <a:ext cx="102412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pytest.raises to test that code correctly raises an exception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52730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2A45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527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5A3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80160" y="5254752"/>
            <a:ext cx="102412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small, reusable, tested utility package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Agenda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hours of theory, two hours of hands-on lab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65A30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88720" y="155448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and Imports (20 min)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223760" y="158191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Splitting code across files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37744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65A30D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377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233172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 (20 min)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223760" y="235915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Organizing modules into directories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15468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65A30D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88720" y="310896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__main__ Guard (10 min)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223760" y="313639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a file both importable and runnable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93192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65A30D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931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88720" y="388620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Test (10 min)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223760" y="391363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that code still works after changes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70916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65A30D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709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88720" y="466344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Tests With pytest (30 min)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223760" y="469087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assert, fixtures, and pytest.raises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48640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65A30D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5486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188720" y="544068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Lab: Build a Tested Utility Package (40 min)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223760" y="546811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practice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5A3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MODULES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Module?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08792" cy="1280160"/>
          </a:xfrm>
          <a:prstGeom prst="roundRect">
            <a:avLst>
              <a:gd name="adj" fmla="val 8571"/>
            </a:avLst>
          </a:prstGeom>
          <a:solidFill>
            <a:srgbClr val="1A2E08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7452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module is simply a .py file. Any function, class, or variable defined in it can be reused in another file by importing it — this is how Python code scales beyond a single file.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10972800" cy="3337560"/>
          </a:xfrm>
          <a:prstGeom prst="roundRect">
            <a:avLst>
              <a:gd name="adj" fmla="val 3288"/>
            </a:avLst>
          </a:prstGeom>
          <a:solidFill>
            <a:srgbClr val="141F3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3832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5A3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now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913632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3831336"/>
            <a:ext cx="1010412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class we've built (Student, BankAccount, Shape) could live in its own file, reusable across many programs</a:t>
            </a:r>
            <a:endParaRPr lang="en-US" sz="12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125212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5042916"/>
            <a:ext cx="1010412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Splitting code into modules keeps each file focused and easier to navigate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12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Minimal Module and Its Import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5303520" cy="3840480"/>
          </a:xfrm>
          <a:prstGeom prst="roundRect">
            <a:avLst>
              <a:gd name="adj" fmla="val 1905"/>
            </a:avLst>
          </a:prstGeom>
          <a:solidFill>
            <a:srgbClr val="0A0F1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01368"/>
            <a:ext cx="4937760" cy="3621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---- math_utils.py ----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add(a, b):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 + b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subtract(a, b):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 - b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 = 3.14159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108192" y="1691640"/>
            <a:ext cx="5440680" cy="3840480"/>
          </a:xfrm>
          <a:prstGeom prst="roundRect">
            <a:avLst>
              <a:gd name="adj" fmla="val 2857"/>
            </a:avLst>
          </a:prstGeom>
          <a:solidFill>
            <a:srgbClr val="141F33"/>
          </a:solidFill>
          <a:ln/>
        </p:spPr>
      </p:sp>
      <p:sp>
        <p:nvSpPr>
          <p:cNvPr id="6" name="Text 4"/>
          <p:cNvSpPr/>
          <p:nvPr/>
        </p:nvSpPr>
        <p:spPr>
          <a:xfrm>
            <a:off x="6382512" y="187452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5A3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another file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2512" y="2404872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702552" y="2322576"/>
            <a:ext cx="4572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math_utils</a:t>
            </a:r>
            <a:endParaRPr lang="en-US" sz="12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512" y="2990088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702552" y="2907792"/>
            <a:ext cx="4572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print(math_utils.add(2, 3))</a:t>
            </a:r>
            <a:endParaRPr lang="en-US" sz="12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3575304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702552" y="3493008"/>
            <a:ext cx="4572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print(math_utils.PI)</a:t>
            </a:r>
            <a:endParaRPr lang="en-US" sz="12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2512" y="4160520"/>
            <a:ext cx="201168" cy="20116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702552" y="4078224"/>
            <a:ext cx="4572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2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2512" y="4745736"/>
            <a:ext cx="201168" cy="20116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702552" y="4663440"/>
            <a:ext cx="4572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finds math_utils.py automatically as long as it's in the same folder (or on the import path)</a:t>
            </a:r>
            <a:endParaRPr lang="en-US" sz="1250" dirty="0"/>
          </a:p>
        </p:txBody>
      </p:sp>
      <p:sp>
        <p:nvSpPr>
          <p:cNvPr id="17" name="Text 1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12</a:t>
            </a:r>
            <a:endParaRPr lang="en-US" sz="1000" dirty="0"/>
          </a:p>
        </p:txBody>
      </p:sp>
      <p:sp>
        <p:nvSpPr>
          <p:cNvPr id="18" name="Text 1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Styles, Compared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11000232" cy="502920"/>
          </a:xfrm>
          <a:prstGeom prst="roundRect">
            <a:avLst>
              <a:gd name="adj" fmla="val 10909"/>
            </a:avLst>
          </a:prstGeom>
          <a:solidFill>
            <a:srgbClr val="65A30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916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931920" y="169164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321040" y="1691640"/>
            <a:ext cx="3227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as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258568"/>
            <a:ext cx="11000232" cy="731520"/>
          </a:xfrm>
          <a:prstGeom prst="roundRect">
            <a:avLst>
              <a:gd name="adj" fmla="val 7500"/>
            </a:avLst>
          </a:prstGeom>
          <a:solidFill>
            <a:srgbClr val="141F3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258568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5A3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module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931920" y="225856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math_utils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321040" y="2258568"/>
            <a:ext cx="32278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math_utils.add(2, 3)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054096"/>
            <a:ext cx="11000232" cy="731520"/>
          </a:xfrm>
          <a:prstGeom prst="roundRect">
            <a:avLst>
              <a:gd name="adj" fmla="val 7500"/>
            </a:avLst>
          </a:prstGeom>
          <a:solidFill>
            <a:srgbClr val="1B2A45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054096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5A3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names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931920" y="305409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math_utils import add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321040" y="3054096"/>
            <a:ext cx="32278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add(2, 3)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3849624"/>
            <a:ext cx="11000232" cy="731520"/>
          </a:xfrm>
          <a:prstGeom prst="roundRect">
            <a:avLst>
              <a:gd name="adj" fmla="val 7500"/>
            </a:avLst>
          </a:prstGeom>
          <a:solidFill>
            <a:srgbClr val="141F33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849624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5A3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Renamed module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931920" y="384962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math_utils as mu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321040" y="3849624"/>
            <a:ext cx="32278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mu.add(2, 3)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645152"/>
            <a:ext cx="11000232" cy="731520"/>
          </a:xfrm>
          <a:prstGeom prst="roundRect">
            <a:avLst>
              <a:gd name="adj" fmla="val 7500"/>
            </a:avLst>
          </a:prstGeom>
          <a:solidFill>
            <a:srgbClr val="1B2A45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645152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5A3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(avoid)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931920" y="464515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math_utils import *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321040" y="4645152"/>
            <a:ext cx="32278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add(2, 3) — unclear origin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from module import * Is Usually Avoided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11000232" cy="2926080"/>
          </a:xfrm>
          <a:prstGeom prst="roundRect">
            <a:avLst>
              <a:gd name="adj" fmla="val 2500"/>
            </a:avLst>
          </a:prstGeom>
          <a:solidFill>
            <a:srgbClr val="0A0F1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01368"/>
            <a:ext cx="10634472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math_utils import *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string_utils import *   # suppose it ALSO defines add()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print(add(2, 3))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Which add() actually ran? Impossible to tell just by reading this line --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 second import silently overwrote the first.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5A3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PACKAGES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Package?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08792" cy="1280160"/>
          </a:xfrm>
          <a:prstGeom prst="roundRect">
            <a:avLst>
              <a:gd name="adj" fmla="val 8571"/>
            </a:avLst>
          </a:prstGeom>
          <a:solidFill>
            <a:srgbClr val="1A2E08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7452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package is a directory containing multiple related modules, plus a special __init__.py file that marks the directory as importable as a package.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10972800" cy="3337560"/>
          </a:xfrm>
          <a:prstGeom prst="roundRect">
            <a:avLst>
              <a:gd name="adj" fmla="val 3288"/>
            </a:avLst>
          </a:prstGeom>
          <a:solidFill>
            <a:srgbClr val="141F3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3832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5A3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structure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913632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3831336"/>
            <a:ext cx="1010412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mypackage/__init__.py — can be empty, or can control what's exposed when the package is imported</a:t>
            </a:r>
            <a:endParaRPr lang="en-US" sz="12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125212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5042916"/>
            <a:ext cx="1010412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mypackage/math_utils.py, mypackage/string_utils.py — individual modules inside the package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12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Package on Disk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10908792" cy="777240"/>
          </a:xfrm>
          <a:prstGeom prst="roundRect">
            <a:avLst>
              <a:gd name="adj" fmla="val 11765"/>
            </a:avLst>
          </a:prstGeom>
          <a:solidFill>
            <a:srgbClr val="141F3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933956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169164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mypackage/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172200" y="169164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package directory itself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40080" y="2606040"/>
            <a:ext cx="10908792" cy="777240"/>
          </a:xfrm>
          <a:prstGeom prst="roundRect">
            <a:avLst>
              <a:gd name="adj" fmla="val 11765"/>
            </a:avLst>
          </a:prstGeom>
          <a:solidFill>
            <a:srgbClr val="141F33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848356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17320" y="260604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mypackage/__init__.py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6172200" y="260604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Marks this directory as a package; can re-export names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640080" y="3520440"/>
            <a:ext cx="10908792" cy="777240"/>
          </a:xfrm>
          <a:prstGeom prst="roundRect">
            <a:avLst>
              <a:gd name="adj" fmla="val 11765"/>
            </a:avLst>
          </a:prstGeom>
          <a:solidFill>
            <a:srgbClr val="141F33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762756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17320" y="352044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mypackage/math_utils.py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6172200" y="352044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 module inside the package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640080" y="4434840"/>
            <a:ext cx="10908792" cy="777240"/>
          </a:xfrm>
          <a:prstGeom prst="roundRect">
            <a:avLst>
              <a:gd name="adj" fmla="val 11765"/>
            </a:avLst>
          </a:prstGeom>
          <a:solidFill>
            <a:srgbClr val="141F33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677156"/>
            <a:ext cx="292608" cy="29260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17320" y="443484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mypackage/string_utils.py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6172200" y="443484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Another module inside the package</a:t>
            </a:r>
            <a:endParaRPr lang="en-US" sz="1150" dirty="0"/>
          </a:p>
        </p:txBody>
      </p:sp>
      <p:sp>
        <p:nvSpPr>
          <p:cNvPr id="19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12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Importing From a Package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11000232" cy="3657600"/>
          </a:xfrm>
          <a:prstGeom prst="roundRect">
            <a:avLst>
              <a:gd name="adj" fmla="val 2000"/>
            </a:avLst>
          </a:prstGeom>
          <a:solidFill>
            <a:srgbClr val="0A0F1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01368"/>
            <a:ext cx="10634472" cy="3438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---- mypackage/__init__.py ----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.math_utils import add, subtract   # re-export for convenience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---- elsewhere ----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mypackage import add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print(add(2, 3))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or, without re-exporting: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mypackage.math_utils import add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5A3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THE __MAIN__ GUARD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a File Both Importable and Runnable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08792" cy="1280160"/>
          </a:xfrm>
          <a:prstGeom prst="roundRect">
            <a:avLst>
              <a:gd name="adj" fmla="val 8571"/>
            </a:avLst>
          </a:prstGeom>
          <a:solidFill>
            <a:srgbClr val="1A2E08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7452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__name__ == "__main__": lets a file behave differently depending on whether it's being run directly, or imported as a module elsewhere.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10972800" cy="3337560"/>
          </a:xfrm>
          <a:prstGeom prst="roundRect">
            <a:avLst>
              <a:gd name="adj" fmla="val 3288"/>
            </a:avLst>
          </a:prstGeom>
          <a:solidFill>
            <a:srgbClr val="141F3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3832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5A3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913632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3831336"/>
            <a:ext cx="101041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it, test/demo code inside a module would run every time someone simply imports it, which is rarely what you want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12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__main__ Guard in Practice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11000232" cy="3291840"/>
          </a:xfrm>
          <a:prstGeom prst="roundRect">
            <a:avLst>
              <a:gd name="adj" fmla="val 2222"/>
            </a:avLst>
          </a:prstGeom>
          <a:solidFill>
            <a:srgbClr val="0A0F1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01368"/>
            <a:ext cx="10634472" cy="3072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---- math_utils.py ----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add(a, b):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 + b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__name__ == "__main__":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only runs when this file is executed directly,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e.g. `python math_utils.py` -- NOT when imported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print("Testing add():", add(2, 3))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Split a Project Into Modules?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10908792" cy="777240"/>
          </a:xfrm>
          <a:prstGeom prst="roundRect">
            <a:avLst>
              <a:gd name="adj" fmla="val 11765"/>
            </a:avLst>
          </a:prstGeom>
          <a:solidFill>
            <a:srgbClr val="141F3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933956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169164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5806440" y="1691640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file has one clear responsibility, easier to read and navigate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40080" y="2606040"/>
            <a:ext cx="10908792" cy="777240"/>
          </a:xfrm>
          <a:prstGeom prst="roundRect">
            <a:avLst>
              <a:gd name="adj" fmla="val 11765"/>
            </a:avLst>
          </a:prstGeom>
          <a:solidFill>
            <a:srgbClr val="141F33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848356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17320" y="260604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5806440" y="2606040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well-designed module can be imported into many different projects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40080" y="3520440"/>
            <a:ext cx="10908792" cy="777240"/>
          </a:xfrm>
          <a:prstGeom prst="roundRect">
            <a:avLst>
              <a:gd name="adj" fmla="val 11765"/>
            </a:avLst>
          </a:prstGeom>
          <a:solidFill>
            <a:srgbClr val="141F33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762756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17320" y="352044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5806440" y="3520440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people can work on different modules with less risk of conflicting changes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12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5A3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WHY WE TEST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Automated Testing?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08792" cy="1280160"/>
          </a:xfrm>
          <a:prstGeom prst="roundRect">
            <a:avLst>
              <a:gd name="adj" fmla="val 8571"/>
            </a:avLst>
          </a:prstGeom>
          <a:solidFill>
            <a:srgbClr val="1A2E08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7452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re-running a class and eyeballing the output, every time you change something, doesn't scale. Automated tests let you re-verify correctness in seconds, and catch regressions immediately.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10972800" cy="3337560"/>
          </a:xfrm>
          <a:prstGeom prst="roundRect">
            <a:avLst>
              <a:gd name="adj" fmla="val 3288"/>
            </a:avLst>
          </a:prstGeom>
          <a:solidFill>
            <a:srgbClr val="141F3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3832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5A3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payoff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913632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3831336"/>
            <a:ext cx="1010412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test written once can be re-run automatically, forever, after every future change</a:t>
            </a:r>
            <a:endParaRPr lang="en-US" sz="12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125212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5042916"/>
            <a:ext cx="1010412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document expected behavior — a well-named test tells you what the code is supposed to do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12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pytest Test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11000232" cy="3291840"/>
          </a:xfrm>
          <a:prstGeom prst="roundRect">
            <a:avLst>
              <a:gd name="adj" fmla="val 2222"/>
            </a:avLst>
          </a:prstGeom>
          <a:solidFill>
            <a:srgbClr val="0A0F1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01368"/>
            <a:ext cx="10634472" cy="3072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---- test_math_utils.py ----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math_utils import add, subtract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test_add():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add(2, 3) == 5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test_subtract():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subtract(5, 2) == 3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Run from the terminal with:  pytest test_math_utils.py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pytest's Output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5486400" cy="3108960"/>
          </a:xfrm>
          <a:prstGeom prst="roundRect">
            <a:avLst>
              <a:gd name="adj" fmla="val 2353"/>
            </a:avLst>
          </a:prstGeom>
          <a:solidFill>
            <a:srgbClr val="0A0F1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01368"/>
            <a:ext cx="5120640" cy="2889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pytest test_math_utils.py -v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test_math_utils.py::test_add PASSED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test_math_utils.py::test_subtract PASSED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========== 2 passed in 0.01s ==========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291072" y="1691640"/>
            <a:ext cx="5257800" cy="3108960"/>
          </a:xfrm>
          <a:prstGeom prst="roundRect">
            <a:avLst>
              <a:gd name="adj" fmla="val 3529"/>
            </a:avLst>
          </a:prstGeom>
          <a:solidFill>
            <a:srgbClr val="141F33"/>
          </a:solidFill>
          <a:ln/>
        </p:spPr>
      </p:sp>
      <p:sp>
        <p:nvSpPr>
          <p:cNvPr id="6" name="Text 4"/>
          <p:cNvSpPr/>
          <p:nvPr/>
        </p:nvSpPr>
        <p:spPr>
          <a:xfrm>
            <a:off x="6565392" y="187452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5A3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notice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5392" y="2404872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85432" y="2322576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function names must start with test_ — that's how pytest discovers them automatically</a:t>
            </a:r>
            <a:endParaRPr lang="en-US" sz="12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3502152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85432" y="3419856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 simply checks that a condition is True; if it's False, the test fails and pytest shows exactly what was expected vs. what happened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12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assert Patterns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11000232" cy="502920"/>
          </a:xfrm>
          <a:prstGeom prst="roundRect">
            <a:avLst>
              <a:gd name="adj" fmla="val 10909"/>
            </a:avLst>
          </a:prstGeom>
          <a:solidFill>
            <a:srgbClr val="65A30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916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212080" y="1691640"/>
            <a:ext cx="6336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that...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258568"/>
            <a:ext cx="11000232" cy="731520"/>
          </a:xfrm>
          <a:prstGeom prst="roundRect">
            <a:avLst>
              <a:gd name="adj" fmla="val 7500"/>
            </a:avLst>
          </a:prstGeom>
          <a:solidFill>
            <a:srgbClr val="141F33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25856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5A3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 result == expected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212080" y="2258568"/>
            <a:ext cx="6336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Two values are equal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054096"/>
            <a:ext cx="11000232" cy="731520"/>
          </a:xfrm>
          <a:prstGeom prst="roundRect">
            <a:avLst>
              <a:gd name="adj" fmla="val 7500"/>
            </a:avLst>
          </a:prstGeom>
          <a:solidFill>
            <a:srgbClr val="1B2A45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054096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5A3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 result is None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212080" y="3054096"/>
            <a:ext cx="6336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value is exactly None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849624"/>
            <a:ext cx="11000232" cy="731520"/>
          </a:xfrm>
          <a:prstGeom prst="roundRect">
            <a:avLst>
              <a:gd name="adj" fmla="val 7500"/>
            </a:avLst>
          </a:prstGeom>
          <a:solidFill>
            <a:srgbClr val="141F3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849624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5A3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 "x" in some_list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212080" y="3849624"/>
            <a:ext cx="6336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value is present in a collection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4645152"/>
            <a:ext cx="11000232" cy="731520"/>
          </a:xfrm>
          <a:prstGeom prst="roundRect">
            <a:avLst>
              <a:gd name="adj" fmla="val 7500"/>
            </a:avLst>
          </a:prstGeom>
          <a:solidFill>
            <a:srgbClr val="1B2A45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645152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5A3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 not condition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212080" y="4645152"/>
            <a:ext cx="6336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condition is False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That an Exception Is Raised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11000232" cy="3840480"/>
          </a:xfrm>
          <a:prstGeom prst="roundRect">
            <a:avLst>
              <a:gd name="adj" fmla="val 1905"/>
            </a:avLst>
          </a:prstGeom>
          <a:solidFill>
            <a:srgbClr val="0A0F1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01368"/>
            <a:ext cx="10634472" cy="3621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pytest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bank_account import BankAccount, InsufficientFundsError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test_withdraw_too_much_raises():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acc = BankAccount(100)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with pytest.raises(InsufficientFundsError):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acc.withdraw(500)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test_valid_withdraw_succeeds():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acc = BankAccount(100)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acc.withdraw(30)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acc.balance == 70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Testing Mistakes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10908792" cy="777240"/>
          </a:xfrm>
          <a:prstGeom prst="roundRect">
            <a:avLst>
              <a:gd name="adj" fmla="val 11765"/>
            </a:avLst>
          </a:prstGeom>
          <a:solidFill>
            <a:srgbClr val="141F3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933956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169164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only the happy path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5806440" y="1691640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test invalid input, boundary values (0, negative numbers), and error cases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40080" y="2606040"/>
            <a:ext cx="10908792" cy="777240"/>
          </a:xfrm>
          <a:prstGeom prst="roundRect">
            <a:avLst>
              <a:gd name="adj" fmla="val 11765"/>
            </a:avLst>
          </a:prstGeom>
          <a:solidFill>
            <a:srgbClr val="141F33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848356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17320" y="260604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that depend on each other's order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5806440" y="2606040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test should set up its own data and pass independently, in any order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40080" y="3520440"/>
            <a:ext cx="10908792" cy="777240"/>
          </a:xfrm>
          <a:prstGeom prst="roundRect">
            <a:avLst>
              <a:gd name="adj" fmla="val 11765"/>
            </a:avLst>
          </a:prstGeom>
          <a:solidFill>
            <a:srgbClr val="141F33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762756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17320" y="352044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test names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5806440" y="3520440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test_1() tells you nothing when it fails — test_withdraw_too_much_raises() tells you exactly what broke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12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5A3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CASE STUDY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A Reusable Utility Package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08792" cy="1280160"/>
          </a:xfrm>
          <a:prstGeom prst="roundRect">
            <a:avLst>
              <a:gd name="adj" fmla="val 8571"/>
            </a:avLst>
          </a:prstGeom>
          <a:solidFill>
            <a:srgbClr val="1A2E08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7452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small mathutils package with a handful of functions, each with its own pytest tests, following everything covered today.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10972800" cy="3337560"/>
          </a:xfrm>
          <a:prstGeom prst="roundRect">
            <a:avLst>
              <a:gd name="adj" fmla="val 3288"/>
            </a:avLst>
          </a:prstGeom>
          <a:solidFill>
            <a:srgbClr val="141F3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3832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5A3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913632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3831336"/>
            <a:ext cx="1010412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mathutils/__init__.py, mathutils/operations.py</a:t>
            </a:r>
            <a:endParaRPr lang="en-US" sz="12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125212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5042916"/>
            <a:ext cx="10104120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tests/test_operations.py, using pytest and pytest.raises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12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Package's Core Module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11000232" cy="4023360"/>
          </a:xfrm>
          <a:prstGeom prst="roundRect">
            <a:avLst>
              <a:gd name="adj" fmla="val 1818"/>
            </a:avLst>
          </a:prstGeom>
          <a:solidFill>
            <a:srgbClr val="0A0F1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01368"/>
            <a:ext cx="10634472" cy="3803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---- mathutils/operations.py ----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add(a, b):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 + b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divide(a, b):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b == 0: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raise ValueError("Cannot divide by zero.")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 / b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average(numbers):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numbers: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raise ValueError("Cannot average an empty list.")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sum(numbers) / len(numbers)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Test Suite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11000232" cy="4206240"/>
          </a:xfrm>
          <a:prstGeom prst="roundRect">
            <a:avLst>
              <a:gd name="adj" fmla="val 1739"/>
            </a:avLst>
          </a:prstGeom>
          <a:solidFill>
            <a:srgbClr val="0A0F1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01368"/>
            <a:ext cx="10634472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---- tests/test_operations.py ----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pytest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mathutils.operations import add, divide, average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test_add():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add(2, 3) == 5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test_divide_by_zero_raises():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with pytest.raises(ValueError):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divide(10, 0)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test_average_empty_raises():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with pytest.raises(ValueError):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average([])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Modules and Testing Matter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3544824" cy="3291840"/>
          </a:xfrm>
          <a:prstGeom prst="roundRect">
            <a:avLst>
              <a:gd name="adj" fmla="val 3333"/>
            </a:avLst>
          </a:prstGeom>
          <a:solidFill>
            <a:srgbClr val="1A2E08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965960"/>
            <a:ext cx="640080" cy="640080"/>
          </a:xfrm>
          <a:prstGeom prst="ellipse">
            <a:avLst/>
          </a:prstGeom>
          <a:solidFill>
            <a:srgbClr val="1B2A4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12140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788920"/>
            <a:ext cx="2996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14400" y="3383280"/>
            <a:ext cx="29961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projects stay navigable when split into focused modules and packages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367784" y="1691640"/>
            <a:ext cx="3544824" cy="3291840"/>
          </a:xfrm>
          <a:prstGeom prst="roundRect">
            <a:avLst>
              <a:gd name="adj" fmla="val 3333"/>
            </a:avLst>
          </a:prstGeom>
          <a:solidFill>
            <a:srgbClr val="141F33"/>
          </a:solidFill>
          <a:ln/>
        </p:spPr>
      </p:sp>
      <p:sp>
        <p:nvSpPr>
          <p:cNvPr id="9" name="Shape 6"/>
          <p:cNvSpPr/>
          <p:nvPr/>
        </p:nvSpPr>
        <p:spPr>
          <a:xfrm>
            <a:off x="4642104" y="1965960"/>
            <a:ext cx="640080" cy="640080"/>
          </a:xfrm>
          <a:prstGeom prst="ellipse">
            <a:avLst/>
          </a:prstGeom>
          <a:solidFill>
            <a:srgbClr val="1B2A45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7552" y="212140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42104" y="2788920"/>
            <a:ext cx="2996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642104" y="3383280"/>
            <a:ext cx="29961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catch regressions the moment they're introduced, not weeks later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8095488" y="1691640"/>
            <a:ext cx="3544824" cy="3291840"/>
          </a:xfrm>
          <a:prstGeom prst="roundRect">
            <a:avLst>
              <a:gd name="adj" fmla="val 3333"/>
            </a:avLst>
          </a:prstGeom>
          <a:solidFill>
            <a:srgbClr val="141F33"/>
          </a:solidFill>
          <a:ln/>
        </p:spPr>
      </p:sp>
      <p:sp>
        <p:nvSpPr>
          <p:cNvPr id="14" name="Shape 10"/>
          <p:cNvSpPr/>
          <p:nvPr/>
        </p:nvSpPr>
        <p:spPr>
          <a:xfrm>
            <a:off x="8369808" y="1965960"/>
            <a:ext cx="640080" cy="640080"/>
          </a:xfrm>
          <a:prstGeom prst="ellipse">
            <a:avLst/>
          </a:prstGeom>
          <a:solidFill>
            <a:srgbClr val="1B2A45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5256" y="2121408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369808" y="2788920"/>
            <a:ext cx="2996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Reusability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8369808" y="3383280"/>
            <a:ext cx="29961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well-tested module or package can be dropped into future projects with trust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12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E0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65836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5A3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Lab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40080" y="12801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Tested Utility Package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640080" y="2194560"/>
            <a:ext cx="10908792" cy="548640"/>
          </a:xfrm>
          <a:prstGeom prst="roundRect">
            <a:avLst>
              <a:gd name="adj" fmla="val 13333"/>
            </a:avLst>
          </a:prstGeom>
          <a:solidFill>
            <a:srgbClr val="141F33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340864"/>
            <a:ext cx="256032" cy="2560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80160" y="21945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mathutils package with __init__.py and operations.py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640080" y="2880360"/>
            <a:ext cx="10908792" cy="548640"/>
          </a:xfrm>
          <a:prstGeom prst="roundRect">
            <a:avLst>
              <a:gd name="adj" fmla="val 13333"/>
            </a:avLst>
          </a:prstGeom>
          <a:solidFill>
            <a:srgbClr val="141F33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026664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80160" y="28803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add(), divide(), and average(), each validating their input</a:t>
            </a:r>
            <a:endParaRPr lang="en-US" sz="1350" dirty="0"/>
          </a:p>
        </p:txBody>
      </p:sp>
      <p:sp>
        <p:nvSpPr>
          <p:cNvPr id="12" name="Shape 7"/>
          <p:cNvSpPr/>
          <p:nvPr/>
        </p:nvSpPr>
        <p:spPr>
          <a:xfrm>
            <a:off x="640080" y="3566160"/>
            <a:ext cx="10908792" cy="548640"/>
          </a:xfrm>
          <a:prstGeom prst="roundRect">
            <a:avLst>
              <a:gd name="adj" fmla="val 13333"/>
            </a:avLst>
          </a:prstGeom>
          <a:solidFill>
            <a:srgbClr val="141F33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712464"/>
            <a:ext cx="256032" cy="25603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80160" y="35661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pytest tests covering both normal cases and error cases</a:t>
            </a:r>
            <a:endParaRPr lang="en-US" sz="1350" dirty="0"/>
          </a:p>
        </p:txBody>
      </p:sp>
      <p:sp>
        <p:nvSpPr>
          <p:cNvPr id="15" name="Shape 9"/>
          <p:cNvSpPr/>
          <p:nvPr/>
        </p:nvSpPr>
        <p:spPr>
          <a:xfrm>
            <a:off x="640080" y="4251960"/>
            <a:ext cx="10908792" cy="548640"/>
          </a:xfrm>
          <a:prstGeom prst="roundRect">
            <a:avLst>
              <a:gd name="adj" fmla="val 13333"/>
            </a:avLst>
          </a:prstGeom>
          <a:solidFill>
            <a:srgbClr val="141F33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398264"/>
            <a:ext cx="256032" cy="25603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80160" y="42519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pytest.raises to test at least two different exception scenarios</a:t>
            </a:r>
            <a:endParaRPr lang="en-US" sz="1350" dirty="0"/>
          </a:p>
        </p:txBody>
      </p:sp>
      <p:sp>
        <p:nvSpPr>
          <p:cNvPr id="18" name="Shape 11"/>
          <p:cNvSpPr/>
          <p:nvPr/>
        </p:nvSpPr>
        <p:spPr>
          <a:xfrm>
            <a:off x="640080" y="4937760"/>
            <a:ext cx="10908792" cy="548640"/>
          </a:xfrm>
          <a:prstGeom prst="roundRect">
            <a:avLst>
              <a:gd name="adj" fmla="val 13333"/>
            </a:avLst>
          </a:prstGeom>
          <a:solidFill>
            <a:srgbClr val="141F33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5084064"/>
            <a:ext cx="256032" cy="256032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280160" y="4937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pytest and confirm every test passes</a:t>
            </a:r>
            <a:endParaRPr lang="en-US" sz="1350" dirty="0"/>
          </a:p>
        </p:txBody>
      </p:sp>
      <p:sp>
        <p:nvSpPr>
          <p:cNvPr id="21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12</a:t>
            </a:r>
            <a:endParaRPr lang="en-US" sz="1000" dirty="0"/>
          </a:p>
        </p:txBody>
      </p:sp>
      <p:sp>
        <p:nvSpPr>
          <p:cNvPr id="22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465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691640"/>
            <a:ext cx="1042416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module is just a .py file; a package is a directory of modules with an __init__.py</a:t>
            </a:r>
            <a:endParaRPr lang="en-US" sz="13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606040"/>
            <a:ext cx="274320" cy="2743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97280" y="2551176"/>
            <a:ext cx="1042416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explicit imports (import x, from x import y) over from x import * for clarity</a:t>
            </a:r>
            <a:endParaRPr lang="en-US" sz="13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465576"/>
            <a:ext cx="274320" cy="27432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97280" y="3410712"/>
            <a:ext cx="1042416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__name__ == "__main__": lets a file run standalone without side effects when imported</a:t>
            </a:r>
            <a:endParaRPr lang="en-US" sz="13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325112"/>
            <a:ext cx="274320" cy="27432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097280" y="4270248"/>
            <a:ext cx="1042416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discovers test_ functions automatically and reports pass/fail with clear diagnostics</a:t>
            </a:r>
            <a:endParaRPr lang="en-US" sz="135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5184648"/>
            <a:ext cx="274320" cy="27432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097280" y="5129784"/>
            <a:ext cx="1042416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pytest.raises confirms that code fails correctly, not just that it succeeds correctly</a:t>
            </a:r>
            <a:endParaRPr lang="en-US" sz="1350" dirty="0"/>
          </a:p>
        </p:txBody>
      </p:sp>
      <p:sp>
        <p:nvSpPr>
          <p:cNvPr id="13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12</a:t>
            </a:r>
            <a:endParaRPr lang="en-US" sz="1000" dirty="0"/>
          </a:p>
        </p:txBody>
      </p:sp>
      <p:sp>
        <p:nvSpPr>
          <p:cNvPr id="14" name="Text 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Week: Object-Oriented Project Development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10972800" cy="4206240"/>
          </a:xfrm>
          <a:prstGeom prst="roundRect">
            <a:avLst>
              <a:gd name="adj" fmla="val 2609"/>
            </a:avLst>
          </a:prstGeom>
          <a:solidFill>
            <a:srgbClr val="65A30D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1945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Object-Oriented Project Development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14400" y="2971800"/>
            <a:ext cx="10424160" cy="525780"/>
          </a:xfrm>
          <a:prstGeom prst="roundRect">
            <a:avLst>
              <a:gd name="adj" fmla="val 13913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971800"/>
            <a:ext cx="100584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architecture and planning a medium-scale project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3634740"/>
            <a:ext cx="10424160" cy="525780"/>
          </a:xfrm>
          <a:prstGeom prst="roundRect">
            <a:avLst>
              <a:gd name="adj" fmla="val 13913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3634740"/>
            <a:ext cx="100584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Sketching a design with UML class diagrams before writing code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" y="4297680"/>
            <a:ext cx="10424160" cy="525780"/>
          </a:xfrm>
          <a:prstGeom prst="roundRect">
            <a:avLst>
              <a:gd name="adj" fmla="val 13913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4297680"/>
            <a:ext cx="100584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and scoping your final project (Library, Hospital, Hotel, Inventory System, etc.)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" y="4960620"/>
            <a:ext cx="10424160" cy="525780"/>
          </a:xfrm>
          <a:prstGeom prst="roundRect">
            <a:avLst>
              <a:gd name="adj" fmla="val 13913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4960620"/>
            <a:ext cx="100584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practices for a project others can read and extend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2286000"/>
            <a:ext cx="6400800" cy="6400800"/>
          </a:xfrm>
          <a:prstGeom prst="ellipse">
            <a:avLst/>
          </a:prstGeom>
          <a:solidFill>
            <a:srgbClr val="1A2E08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6517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356616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next class: finish the Week 12 lab notebook — every test should pass, including the ones that expect an exception.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UYG203 · Object Oriented Programming · Week 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2026-08-26T06:55:34Z</dcterms:created>
  <dcterms:modified xsi:type="dcterms:W3CDTF">2026-08-26T06:55:34Z</dcterms:modified>
</cp:coreProperties>
</file>