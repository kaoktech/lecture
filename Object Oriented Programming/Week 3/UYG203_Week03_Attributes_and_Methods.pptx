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6400800" cy="6400800"/>
          </a:xfrm>
          <a:prstGeom prst="ellipse">
            <a:avLst/>
          </a:prstGeom>
          <a:solidFill>
            <a:srgbClr val="0F3B3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114800"/>
            <a:ext cx="3657600" cy="3657600"/>
          </a:xfrm>
          <a:prstGeom prst="ellipse">
            <a:avLst/>
          </a:prstGeom>
          <a:solidFill>
            <a:srgbClr val="0F3B30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and Methods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Attributes, Richer Methods — Python 3.x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2011680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 ·  Object Oriented Programming  ·  Software Development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Week, in Brief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0" cy="4297680"/>
          </a:xfrm>
          <a:prstGeom prst="roundRect">
            <a:avLst>
              <a:gd name="adj" fmla="val 2553"/>
            </a:avLst>
          </a:prstGeom>
          <a:solidFill>
            <a:srgbClr val="141F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9339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91109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is a blueprint; __init__() runs automatically to configure each new object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42082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85978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refers to the specific object a method operates on, and Python supplies it automatically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90772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80847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attributes belong to one object; class attributes are shared across every instance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39462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475716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go deeper: how objects interact with each other, and how methods do real work with instance data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3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14-Week 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today's session fits into the semester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OOP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04288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8" name="Text 6"/>
          <p:cNvSpPr/>
          <p:nvPr/>
        </p:nvSpPr>
        <p:spPr>
          <a:xfrm>
            <a:off x="2395728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95728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Objects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68496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059936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59936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&amp; Methods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32704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14" name="Text 12"/>
          <p:cNvSpPr/>
          <p:nvPr/>
        </p:nvSpPr>
        <p:spPr>
          <a:xfrm>
            <a:off x="5724144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24144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96912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17" name="Text 15"/>
          <p:cNvSpPr/>
          <p:nvPr/>
        </p:nvSpPr>
        <p:spPr>
          <a:xfrm>
            <a:off x="7388352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88352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61120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0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52560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625328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23" name="Text 21"/>
          <p:cNvSpPr/>
          <p:nvPr/>
        </p:nvSpPr>
        <p:spPr>
          <a:xfrm>
            <a:off x="10716768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716768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304288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29" name="Text 27"/>
          <p:cNvSpPr/>
          <p:nvPr/>
        </p:nvSpPr>
        <p:spPr>
          <a:xfrm>
            <a:off x="2395728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95728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968496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32" name="Text 30"/>
          <p:cNvSpPr/>
          <p:nvPr/>
        </p:nvSpPr>
        <p:spPr>
          <a:xfrm>
            <a:off x="4059936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059936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32704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35" name="Text 33"/>
          <p:cNvSpPr/>
          <p:nvPr/>
        </p:nvSpPr>
        <p:spPr>
          <a:xfrm>
            <a:off x="5724144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24144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296912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38" name="Text 36"/>
          <p:cNvSpPr/>
          <p:nvPr/>
        </p:nvSpPr>
        <p:spPr>
          <a:xfrm>
            <a:off x="7388352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88352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Testing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961120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41" name="Text 39"/>
          <p:cNvSpPr/>
          <p:nvPr/>
        </p:nvSpPr>
        <p:spPr>
          <a:xfrm>
            <a:off x="9052560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052560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Dev.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0625328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44" name="Text 42"/>
          <p:cNvSpPr/>
          <p:nvPr/>
        </p:nvSpPr>
        <p:spPr>
          <a:xfrm>
            <a:off x="10716768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716768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you will be able to: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673352"/>
            <a:ext cx="102412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instance variables from class variables with confidence, including when to choose each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55117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532888"/>
            <a:ext cx="102412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instance methods that read, validate, and update an object's own state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4107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392424"/>
            <a:ext cx="102412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one object as an argument into another object's method, enabling objects to interact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2702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251960"/>
            <a:ext cx="102412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multiple methods together to model a real workflow (deposits, withdrawals, raises, trips)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1297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29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5111496"/>
            <a:ext cx="102412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where validation is still missing — setting up next week's encapsulation topic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hours of theory, two hours of hands-on lab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vs. Class Variables, Revisited (15 min)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23760" y="15819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look with a shared-state example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3317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Methods That Do Real Work (25 min)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23760" y="235915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getters — methods that enforce rules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1089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Interacting With Objects (25 min)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23760" y="31363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one object into another object's method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38862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BankAccount (20 min)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23760" y="39136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with meaningful, stateful behavior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46634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Validation Still Falls Short (15 min)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469087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that Week 4's encapsulation will close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4864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486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88720" y="54406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BankAccount, Employee, Car (50 min)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23760" y="54681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three classes with interacting methods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VARIABLES, REVISITED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vs. Class Variables — One More Look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0F3B3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variables store state unique to one object; class variables store state shared by every object of that class. Choosing correctly affects whether a change is felt by one object or by all of them.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the value should differ between objects, it's an instance variable — set with self.x in __init__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72135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463905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value should be identical and shared across every object, it's a class variable — defined directly in the class body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52907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544677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them up is one of the most common bugs in early OOP code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3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IN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Counter, the Right Way and the Wrong Way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A0F1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01368"/>
            <a:ext cx="498348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passengers = []   # class attribute!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add_passenger(self, name):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self.passengers.append(name)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 = Car(); c2 = Car()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c1.add_passenger("Ada")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print(c2.passengers)  # ['Ada'] -- shared bug!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99632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A0F1C"/>
          </a:solidFill>
          <a:ln/>
        </p:spPr>
      </p:sp>
      <p:sp>
        <p:nvSpPr>
          <p:cNvPr id="7" name="Text 5"/>
          <p:cNvSpPr/>
          <p:nvPr/>
        </p:nvSpPr>
        <p:spPr>
          <a:xfrm>
            <a:off x="6382512" y="1801368"/>
            <a:ext cx="498348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self.passengers = []   # instance attribute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add_passenger(self, name):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self.passengers.append(name)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 = Car(); c2 = Car()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c1.add_passenger("Ada")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print(c2.passengers)  # [] -- correct, independent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Wrong: mutable class attribute misused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99632" y="14173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instance attribute per object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DESIGNING 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That Do More Than Store Data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0F3B3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method that only assigns a value (self.x = value) is barely more useful than accessing the attribute directly. The real power of methods is enforcing rules while state changes.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well-designed method does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input before accepting it (e.g. rejecting a negative deposit)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72135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463905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one or more attributes consistently, as a single unit of work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52907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544677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report back success, failure, or a computed result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3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BankAccount Class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1000232" cy="4480560"/>
          </a:xfrm>
          <a:prstGeom prst="roundRect">
            <a:avLst>
              <a:gd name="adj" fmla="val 1633"/>
            </a:avLst>
          </a:prstGeom>
          <a:solidFill>
            <a:srgbClr val="0A0F1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01368"/>
            <a:ext cx="10634472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BankAccount: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owner, balance=0):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self.owner = owner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self.balance = balance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deposit(self, amount):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amount &lt;= 0: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print("Deposit must be positive.")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False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self.balance += amount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True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withdraw(self, amount):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amount &gt; self.balance: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print("Insufficient funds.")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False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self.balance -= amount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True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BankAccount in Action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51206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 = BankAccount("Ada", 1000)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acc.deposit(500)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print(acc.balance)   # 1500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acc.withdraw(2000)   # Insufficient funds.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print(acc.balance)   # 1500, unchanged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acc.deposit(-50)     # Deposit must be positive.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91072" y="1691640"/>
            <a:ext cx="5257800" cy="3657600"/>
          </a:xfrm>
          <a:prstGeom prst="roundRect">
            <a:avLst>
              <a:gd name="adj" fmla="val 3000"/>
            </a:avLst>
          </a:prstGeom>
          <a:solidFill>
            <a:srgbClr val="141F33"/>
          </a:solidFill>
          <a:ln/>
        </p:spPr>
      </p:sp>
      <p:sp>
        <p:nvSpPr>
          <p:cNvPr id="6" name="Text 4"/>
          <p:cNvSpPr/>
          <p:nvPr/>
        </p:nvSpPr>
        <p:spPr>
          <a:xfrm>
            <a:off x="6565392" y="1874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2" y="240487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85432" y="2322576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methods protect balance from invalid changes — this is a first taste of encapsulation, formalized next week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331927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85432" y="3236976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values (True/False) let calling code react to success or failure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4233672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85432" y="4151376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is never touched directly from outside the class in this design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3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Categories of Instance Methods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methods you write this semester will fall into one of these buckets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0F3B3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1214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returns information without changing anything — e.g. get_balance(), total_value()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67784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141F33"/>
          </a:solidFill>
          <a:ln/>
        </p:spPr>
      </p:sp>
      <p:sp>
        <p:nvSpPr>
          <p:cNvPr id="10" name="Shape 7"/>
          <p:cNvSpPr/>
          <p:nvPr/>
        </p:nvSpPr>
        <p:spPr>
          <a:xfrm>
            <a:off x="4642104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552" y="21214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2104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Mutator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42104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an object's state, usually with validation — e.g. deposit(), give_raise()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95488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141F33"/>
          </a:solidFill>
          <a:ln/>
        </p:spPr>
      </p:sp>
      <p:sp>
        <p:nvSpPr>
          <p:cNvPr id="15" name="Shape 11"/>
          <p:cNvSpPr/>
          <p:nvPr/>
        </p:nvSpPr>
        <p:spPr>
          <a:xfrm>
            <a:off x="8369808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256" y="212140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9808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Behavior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69808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a broader action, often combining reads and writes — e.g. transfer_to(), drive()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 Methods vs. Direct Attribute Access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preview of a debate Week 4 will settle formally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141F3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access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04872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322576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print(acc.balance) — simple, works fine today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502152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3419856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stops later code from writing acc.balance = -500 directly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99432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4517136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opportunity to compute or format the value on the way out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6199632" y="169164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0F3B30"/>
          </a:solidFill>
          <a:ln/>
        </p:spPr>
      </p:sp>
      <p:sp>
        <p:nvSpPr>
          <p:cNvPr id="13" name="Text 8"/>
          <p:cNvSpPr/>
          <p:nvPr/>
        </p:nvSpPr>
        <p:spPr>
          <a:xfrm>
            <a:off x="6473952" y="1874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 method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404872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93992" y="2322576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get_balance(self): return self.balance</a:t>
            </a:r>
            <a:endParaRPr lang="en-US" sz="12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3502152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93992" y="3419856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single, controllable “door” for reading the value</a:t>
            </a:r>
            <a:endParaRPr lang="en-US" sz="12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4599432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793992" y="4517136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later add formatting, logging, or restrictions without breaking calling code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3</a:t>
            </a: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OBJECTS INTERACTING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One Object Into Another Object's Method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0F3B3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don't have to work in isolation. A method on one object can accept another object as a parameter, and use its attributes or methods.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systems are full of objects that need to talk to each other — a BankAccount transferring to another BankAccount, a Car carrying a Driver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foundation for the composition and aggregation relationships we cover in Week 9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3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Transferring Between Two Accounts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480560"/>
          </a:xfrm>
          <a:prstGeom prst="roundRect">
            <a:avLst>
              <a:gd name="adj" fmla="val 1633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BankAccount: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... __init__, deposit, withdraw as before ...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transfer_to(self, other_account, amount):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self.withdraw(amount):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other_account.deposit(amount)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print(f"Transferred {amount} to {other_account.owner}")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ada_acc = BankAccount("Ada", 1000)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mert_acc = BankAccount("Mert", 200)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ada_acc.transfer_to(mert_acc, 300)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print(ada_acc.balance, mert_acc.balance)  # 700 500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transfer_to() Carefully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502920"/>
          </a:xfrm>
          <a:prstGeom prst="roundRect">
            <a:avLst>
              <a:gd name="adj" fmla="val 10909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91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297680" y="1691640"/>
            <a:ext cx="7342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happening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58568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5856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self.withdraw(amount)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297680" y="2258568"/>
            <a:ext cx="7342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 here is ada_acc — money leaves ada_acc's own balance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54096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54096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other_account.deposit(amount)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297680" y="3054096"/>
            <a:ext cx="7342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other_account is mert_acc — money is added to a completely different object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49624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49624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self.withdraw(amount):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297680" y="3849624"/>
            <a:ext cx="7342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Reuses the validation already built into withdraw() — no duplicated logic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478231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how transfer_to() combines two existing methods instead of reimplementing balance-checking logic — a preview of good design habits we'll build on all semester.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CASE STUDY: EMPLOYEE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Example: Employee Raises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0F3B3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apply the same pattern — a method that validates before it changes state — to a different kind of entity.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Attributes: name, salary, department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72135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463905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give_raise(percent) increases salary, but only accepts a reasonable percentage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52907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544677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promote(new_department) changes department and logs the change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3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Class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480560"/>
          </a:xfrm>
          <a:prstGeom prst="roundRect">
            <a:avLst>
              <a:gd name="adj" fmla="val 1633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Employee: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salary, department):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self.salary = salary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self.department = department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give_raise(self, percent):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(0 &lt; percent &lt;= 50):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print("Raise percentage must be between 0 and 50.")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self.salary *= (1 + percent / 100)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promote(self, new_department):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print(f"{self.name}: {self.department} -&gt; {new_department}")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self.department = new_department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CASE STUDY: CAR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Example: Car and Fuel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0F3B3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entity, to reinforce the pattern before the lab: a Car that tracks fuel and refuses to drive when empty.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Attributes: brand, model, fuel_level (0 to 100)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72135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463905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drive(distance) consumes fuel proportionally, but refuses if fuel would go negative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52907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544677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refuel(amount) tops up fuel_level, capped at 100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3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 Class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480560"/>
          </a:xfrm>
          <a:prstGeom prst="roundRect">
            <a:avLst>
              <a:gd name="adj" fmla="val 1633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brand, model, fuel_level=100):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self.brand = brand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self.model = model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self.fuel_level = fuel_level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drive(self, distance):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fuel_needed = distance * 0.1  # simplified consumption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fuel_needed &gt; self.fuel_level: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print("Not enough fuel for this trip.")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self.fuel_level -= fuel_needed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print(f"Drove {distance}km. Fuel left: {self.fuel_level:.1f}")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refuel(self, amount):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self.fuel_level = min(100, self.fuel_level + amount)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 Three Case Studies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502920"/>
          </a:xfrm>
          <a:prstGeom prst="roundRect">
            <a:avLst>
              <a:gd name="adj" fmla="val 10909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91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383280" y="16916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1691640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when...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58568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585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BankAccount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83280" y="225856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deposit() / withdraw()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0" y="2258568"/>
            <a:ext cx="3867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≤ 0, or withdrawal exceeds balance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5409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83280" y="305409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give_raise()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0" y="3054096"/>
            <a:ext cx="3867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 is outside 0–50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49624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4962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383280" y="384962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drive()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0" y="3849624"/>
            <a:ext cx="3867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would need more fuel than available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478231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underlying pattern in all three: check first, change state only if the check passes, report the outcome.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Many Interacting Objects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list-of-objects pattern from Week 2, now with methods that change state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1000232" cy="4023360"/>
          </a:xfrm>
          <a:prstGeom prst="roundRect">
            <a:avLst>
              <a:gd name="adj" fmla="val 1818"/>
            </a:avLst>
          </a:prstGeom>
          <a:solidFill>
            <a:srgbClr val="0A0F1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01368"/>
            <a:ext cx="10634472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payroll = [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Employee("Ada", 45000, "Engineering"),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Employee("Mert", 38000, "Design"),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Employee("Elif", 52000, "Engineering"),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emp in payroll: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emp.department == "Engineering":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emp.give_raise(10)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total_payroll = sum(emp.salary for emp in payroll)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print(f"Total payroll: {total_payroll:.2f}")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Instance or Class Variable?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scenario, which would you choose?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1000232" cy="502920"/>
          </a:xfrm>
          <a:prstGeom prst="roundRect">
            <a:avLst>
              <a:gd name="adj" fmla="val 10909"/>
            </a:avLst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0" y="1691640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variable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50224" y="1691640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variable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258568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5856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student's current GPA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0" y="2258568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50224" y="2258568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054096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5409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university's name, same for every Student object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0" y="3054096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50224" y="3054096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49624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49624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count of how many Car objects have been created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9280" y="3849624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650224" y="3849624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645152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64515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specific car's current fuel level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0" y="4645152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650224" y="4645152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5.5 · DESIGN PATTERN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“Guard Clause” Pattern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0F3B3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method we wrote today starts by checking whether the requested change is valid, and exits early if it isn't. This early-exit style is called a guard clause, and it keeps methods easy to read.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guard clauses help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“happy path” (the normal, successful case) stays unindented and easy to follow at the bottom of the method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72135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463905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 is rejected as early as possible, before any state is changed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52907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5446776"/>
            <a:ext cx="1010412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see this exact pattern again in Week 10 when we cover exception handling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3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WHAT'S STILL MISSING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Validation Still Falls Short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3395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91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attribute access bypasses every rule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55080" y="16916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acc.balance = -9999 still works — nothing stops writing to the attribute directly, only calling deposit()/withdraw() enforces rules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6060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4835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606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logic is easy to forget to call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355080" y="26060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forces a developer using this class to go through the "safe" methods instead of touching attributes directly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5204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6275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5204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distinction between public and internal data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355080" y="35204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currently treats every attribute as equally accessible from outside the class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3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Mistakes to Watch For This Week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33956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916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in the wrong place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806440" y="16916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amount &gt; 0 in the caller's code instead of inside deposit() means every caller has to remember to repeat the check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483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6060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return a status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806440" y="26060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method that silently does nothing on invalid input, with no return value or message, is hard to debug later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5204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6275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5204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Mutating the wrong object's state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806440" y="35204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transfer_to(), calling self.deposit() instead of other_account.deposit() would credit the wrong account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3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Closes This Gap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 we make direct attribute access impossible to do carelessly — using private attributes, getters, setters, and @property.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B3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6583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Lab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1280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BankAccount, Employee, and Car — Build All Three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40864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194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BankAccount with deposit(), withdraw(), and transfer_to()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40080" y="28803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2666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2880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Employee with give_raise() and promote(), each with validation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640080" y="35661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1246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3566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Car with drive() and refuel(), respecting the fuel limits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640080" y="42519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398264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80160" y="4251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at least 2 objects per class and demonstrate methods interacting (e.g. two accounts transferring)</a:t>
            </a:r>
            <a:endParaRPr lang="en-US" sz="1350" dirty="0"/>
          </a:p>
        </p:txBody>
      </p:sp>
      <p:sp>
        <p:nvSpPr>
          <p:cNvPr id="18" name="Shape 11"/>
          <p:cNvSpPr/>
          <p:nvPr/>
        </p:nvSpPr>
        <p:spPr>
          <a:xfrm>
            <a:off x="640080" y="49377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084064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80160" y="4937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try to break each class's rules by calling a method with invalid input, and confirm it's rejected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3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46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91640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variables belong to one object; class variables are shared — pick deliberately, not by accident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0604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2551176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Well-designed methods validate before they change state, not just store values blindly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65576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97280" y="3410712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can interact by passing one object as an argument into another object's method</a:t>
            </a:r>
            <a:endParaRPr lang="en-US" sz="13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25112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97280" y="4270248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existing methods (like withdraw() inside transfer_to()) avoids duplicating validation logic</a:t>
            </a:r>
            <a:endParaRPr lang="en-US" sz="13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184648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97280" y="5129784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attribute access still bypasses every rule we've built — that's exactly what encapsulation fixes next week</a:t>
            </a:r>
            <a:endParaRPr lang="en-US" sz="1350" dirty="0"/>
          </a:p>
        </p:txBody>
      </p:sp>
      <p:sp>
        <p:nvSpPr>
          <p:cNvPr id="13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3</a:t>
            </a:r>
            <a:endParaRPr lang="en-US" sz="1000" dirty="0"/>
          </a:p>
        </p:txBody>
      </p:sp>
      <p:sp>
        <p:nvSpPr>
          <p:cNvPr id="14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Encapsulation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972800" cy="4206240"/>
          </a:xfrm>
          <a:prstGeom prst="roundRect">
            <a:avLst>
              <a:gd name="adj" fmla="val 2609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297180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7180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protected, and private attribute conventions in Python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63474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63474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Getters and setters, and the @property decorator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29768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29768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a Student Information System with properly encapsulated 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96062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96062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closing the validation gap identified today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6400800" cy="6400800"/>
          </a:xfrm>
          <a:prstGeom prst="ellipse">
            <a:avLst/>
          </a:prstGeom>
          <a:solidFill>
            <a:srgbClr val="0F3B3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651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class: finish the Week 3 lab notebook — all three classes should reject invalid input correctly.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2026-08-18T06:40:48Z</dcterms:created>
  <dcterms:modified xsi:type="dcterms:W3CDTF">2026-08-18T06:40:48Z</dcterms:modified>
</cp:coreProperties>
</file>