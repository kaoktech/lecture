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286000"/>
            <a:ext cx="6400800" cy="6400800"/>
          </a:xfrm>
          <a:prstGeom prst="ellipse">
            <a:avLst/>
          </a:prstGeom>
          <a:solidFill>
            <a:srgbClr val="2E2008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114800"/>
            <a:ext cx="3657600" cy="3657600"/>
          </a:xfrm>
          <a:prstGeom prst="ellipse">
            <a:avLst/>
          </a:prstGeom>
          <a:solidFill>
            <a:srgbClr val="2E2008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State Outlive the Program — Python 3.x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749040"/>
            <a:ext cx="2011680" cy="0"/>
          </a:xfrm>
          <a:prstGeom prst="line">
            <a:avLst/>
          </a:prstGeom>
          <a:noFill/>
          <a:ln w="31750">
            <a:solidFill>
              <a:srgbClr val="A1620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 ·  Object Oriented Programming  ·  Software Development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Week, in Brief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0" cy="4297680"/>
          </a:xfrm>
          <a:prstGeom prst="roundRect">
            <a:avLst>
              <a:gd name="adj" fmla="val 2553"/>
            </a:avLst>
          </a:prstGeom>
          <a:solidFill>
            <a:srgbClr val="141F3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93392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911096"/>
            <a:ext cx="101041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 lets a program respond to errors instead of crashing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42082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2859786"/>
            <a:ext cx="101041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exceptions make domain-specific failures catchable and self-documenting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890772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3808476"/>
            <a:ext cx="101041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object we've built so far disappears the moment the program ends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839462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34440" y="4757166"/>
            <a:ext cx="101041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reading and writing files, so an object's state can persist between runs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11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14-Week Roadmap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today's session fits into the semester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OOP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04288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8" name="Text 6"/>
          <p:cNvSpPr/>
          <p:nvPr/>
        </p:nvSpPr>
        <p:spPr>
          <a:xfrm>
            <a:off x="2395728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95728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Objects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68496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11" name="Text 9"/>
          <p:cNvSpPr/>
          <p:nvPr/>
        </p:nvSpPr>
        <p:spPr>
          <a:xfrm>
            <a:off x="4059936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59936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&amp; Methods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32704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14" name="Text 12"/>
          <p:cNvSpPr/>
          <p:nvPr/>
        </p:nvSpPr>
        <p:spPr>
          <a:xfrm>
            <a:off x="5724144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24144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296912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17" name="Text 15"/>
          <p:cNvSpPr/>
          <p:nvPr/>
        </p:nvSpPr>
        <p:spPr>
          <a:xfrm>
            <a:off x="7388352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88352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61120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20" name="Text 18"/>
          <p:cNvSpPr/>
          <p:nvPr/>
        </p:nvSpPr>
        <p:spPr>
          <a:xfrm>
            <a:off x="9052560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52560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625328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23" name="Text 21"/>
          <p:cNvSpPr/>
          <p:nvPr/>
        </p:nvSpPr>
        <p:spPr>
          <a:xfrm>
            <a:off x="10716768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716768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304288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29" name="Text 27"/>
          <p:cNvSpPr/>
          <p:nvPr/>
        </p:nvSpPr>
        <p:spPr>
          <a:xfrm>
            <a:off x="2395728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395728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968496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32" name="Text 30"/>
          <p:cNvSpPr/>
          <p:nvPr/>
        </p:nvSpPr>
        <p:spPr>
          <a:xfrm>
            <a:off x="4059936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059936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632704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A16207"/>
          </a:solidFill>
          <a:ln/>
        </p:spPr>
      </p:sp>
      <p:sp>
        <p:nvSpPr>
          <p:cNvPr id="35" name="Text 33"/>
          <p:cNvSpPr/>
          <p:nvPr/>
        </p:nvSpPr>
        <p:spPr>
          <a:xfrm>
            <a:off x="5724144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724144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296912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38" name="Text 36"/>
          <p:cNvSpPr/>
          <p:nvPr/>
        </p:nvSpPr>
        <p:spPr>
          <a:xfrm>
            <a:off x="7388352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88352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&amp; Testing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961120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41" name="Text 39"/>
          <p:cNvSpPr/>
          <p:nvPr/>
        </p:nvSpPr>
        <p:spPr>
          <a:xfrm>
            <a:off x="9052560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052560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Dev.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0625328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44" name="Text 42"/>
          <p:cNvSpPr/>
          <p:nvPr/>
        </p:nvSpPr>
        <p:spPr>
          <a:xfrm>
            <a:off x="10716768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716768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11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today, you will be able to: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673352"/>
            <a:ext cx="10241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from and write to text files using open() and the with statement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4079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07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389632"/>
            <a:ext cx="10241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difference between file modes: r, w, a, and r+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124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24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105912"/>
            <a:ext cx="10241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write structured data using the csv module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822192"/>
            <a:ext cx="10241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write structured data using the json module, including whole objects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556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556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538472"/>
            <a:ext cx="10241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file I/O with exception handling for robust, real-world code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2730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27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5254752"/>
            <a:ext cx="10241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Student Grade Management System with persistent storage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hours of theory, two hours of hands-on lab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A1620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5544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Persistence Matters (10 min)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223760" y="15819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vanish when the program ends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A1620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3317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Writing Text Files (25 min)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223760" y="235915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open(), with, and file modes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A1620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31089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Data: CSV (20 min)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23760" y="313639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writing tabular data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A1620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38862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Data: JSON (20 min)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23760" y="391363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Serializing whole objects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7091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A16207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709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88720" y="46634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File I/O (15 min)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23760" y="469087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file handling with exceptions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4864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A16207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486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88720" y="54406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Student Grade Management System (40 min)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23760" y="54681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practice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Persistence Matters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2E200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BankAccount, Student, and Shape we've created this semester existed only in memory — the moment the Python program ends, that data is gone. Real applications need state to survive between runs.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data to a file lets it persist after the program exits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2521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504291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that file back in on the next run restores the state — this is the basis of persistence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11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TEXT FILES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and Writing a File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2E200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open(filename, mode) returns a file object you can write to or read from. Always close a file when you're done with it, to make sure everything is properly saved.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 pattern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open("data.txt", "w") opens (or creates) a file for writing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72135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4639056"/>
            <a:ext cx="1010412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file.write(text) writes a string to it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529072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5446776"/>
            <a:ext cx="1010412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file.close() releases the file — easy to forget, which is exactly what with fixes next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11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with Statement: Files That Close Themselves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4023360"/>
          </a:xfrm>
          <a:prstGeom prst="roundRect">
            <a:avLst>
              <a:gd name="adj" fmla="val 1818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open("students.txt", "w") as file: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file.write("Ada,92\n")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file.write("Mert,84\n")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file is automatically closed here, even if an error occurred above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Equivalent, but error-prone, manual version: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file = open("students.txt", "w")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file.write("Ada,92\n")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file.close()   # easy to forget, especially if an exception happens first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File Back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3840480"/>
          </a:xfrm>
          <a:prstGeom prst="roundRect">
            <a:avLst>
              <a:gd name="adj" fmla="val 1905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open("students.txt", "r") as file: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 = file.read()          # entire file as one string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print(content)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open("students.txt", "r") as file: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line in file:              # iterate line by line -- memory efficient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print(line.strip())        # .strip() removes the trailing newline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Modes Reference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502920"/>
          </a:xfrm>
          <a:prstGeom prst="roundRect">
            <a:avLst>
              <a:gd name="adj" fmla="val 10909"/>
            </a:avLst>
          </a:prstGeom>
          <a:solidFill>
            <a:srgbClr val="A1620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91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926080" y="1691640"/>
            <a:ext cx="8622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258568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5856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"r"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926080" y="2258568"/>
            <a:ext cx="8622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(default) — fails with FileNotFoundError if the file doesn't exist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054096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B2A4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5409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"w"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926080" y="3054096"/>
            <a:ext cx="8622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— creates the file if missing, and overwrites it completely if it exists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849624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41F3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4962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"a"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26080" y="3849624"/>
            <a:ext cx="8622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 — creates the file if missing, adds to the end if it exists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645152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B2A4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64515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"r+"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926080" y="4645152"/>
            <a:ext cx="8622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and write, without truncating the existing content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Appending Without Overwriting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2926080"/>
          </a:xfrm>
          <a:prstGeom prst="roundRect">
            <a:avLst>
              <a:gd name="adj" fmla="val 2500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open("log.txt", "a") as file: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file.write("Program started.\n")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the program again -- "w" would erase the previous line,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but "a" adds to the end, preserving history across runs.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STRUCTURED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Plain Text: CSV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2E200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Comma-Separated Values (CSV) is a simple, spreadsheet-friendly format for tabular data. Python's built-in csv module handles quoting and edge cases you'd otherwise get wrong by hand.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split(",")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 containing a comma ("Smith, Jr.") breaks naive splitting — the csv module handles this correctly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2521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504291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csv.DictReader lets you access columns by name instead of position, echoing Week 3's lesson about fragile position-based data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11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CSV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3840480"/>
          </a:xfrm>
          <a:prstGeom prst="roundRect">
            <a:avLst>
              <a:gd name="adj" fmla="val 1905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csv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 = [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{"name": "Ada", "grade": 92},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{"name": "Mert", "grade": 84},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open("grades.csv", "w", newline="") as file: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writer = csv.DictWriter(file, fieldnames=["name", "grade"])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writer.writeheader()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writer.writerows(students)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CSV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3840480"/>
          </a:xfrm>
          <a:prstGeom prst="roundRect">
            <a:avLst>
              <a:gd name="adj" fmla="val 1905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csv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open("grades.csv", "r", newline="") as file: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reader = csv.DictReader(file)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row in reader: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print(row["name"], row["grade"])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row is a dict, e.g. {'name': 'Ada', 'grade': '92'}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note: values are read as STRINGS -- convert grade with int(row['grade'])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JSON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JSON: Serializing Whole Objects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2E200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(JavaScript Object Notation) maps naturally onto Python dictionaries and lists, making it a natural fit for saving structured, nested data — including the state of our objects.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JSON over CSV here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is great for flat, tabular data — one row per record, few columns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2521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504291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handles nested structures naturally, like a Student with a list of grades attached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11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and Reading JSON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4023360"/>
          </a:xfrm>
          <a:prstGeom prst="roundRect">
            <a:avLst>
              <a:gd name="adj" fmla="val 1818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{"name": "Ada", "grades": [92, 85, 78]}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open("ada.json", "w") as file: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json.dump(data, file, indent=2)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open("ada.json", "r") as file: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loaded = json.load(file)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print(loaded["name"], loaded["grades"])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Serializing a Class Instance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51206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name, grades):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self.grades = grades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to_dict(self):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{"name": self.name, "grades": self.grades}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@classmethod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from_dict(cls, data):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cls(data["name"], data["grades"])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91072" y="1691640"/>
            <a:ext cx="5257800" cy="3657600"/>
          </a:xfrm>
          <a:prstGeom prst="roundRect">
            <a:avLst>
              <a:gd name="adj" fmla="val 3000"/>
            </a:avLst>
          </a:prstGeom>
          <a:solidFill>
            <a:srgbClr val="141F33"/>
          </a:solidFill>
          <a:ln/>
        </p:spPr>
      </p:sp>
      <p:sp>
        <p:nvSpPr>
          <p:cNvPr id="6" name="Text 4"/>
          <p:cNvSpPr/>
          <p:nvPr/>
        </p:nvSpPr>
        <p:spPr>
          <a:xfrm>
            <a:off x="6565392" y="18745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2" y="2404872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85432" y="2322576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json.dump() can't serialize a Student object directly — it only understands dicts, lists, and simple types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331927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85432" y="3236976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to_dict() and from_dict() bridge that gap, converting between your object and JSON-friendly data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4233672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85432" y="4151376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@classmethod is new here — it's a method that receives the class itself (cls) instead of an instance, useful for alternate constructors like this one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11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and Reloading a Student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4023360"/>
          </a:xfrm>
          <a:prstGeom prst="roundRect">
            <a:avLst>
              <a:gd name="adj" fmla="val 1818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 = Student("Ada", [92, 85, 78])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open("ada.json", "w") as file: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json.dump(ada.to_dict(), file)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open("ada.json", "r") as file: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restored = Student.from_dict(json.load(file))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print(restored.name, restored.grades)   # 'Ada', [92, 85, 78]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brand-new object, rebuilt entirely from the file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ROBUSTNESS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File I/O With Exception Handling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2E200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file that doesn't exist yet is a completely normal situation — the first time a program runs, there's no saved data. Handle it gracefully instead of crashing.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file reads in try/except FileNotFoundError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2521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504291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first run, fall back to a sensible default (like an empty list) instead of failing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11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Loading, With a Sensible Default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4023360"/>
          </a:xfrm>
          <a:prstGeom prst="roundRect">
            <a:avLst>
              <a:gd name="adj" fmla="val 1818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load_students(filename="students.json"):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 open(filename, "r") as file: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data = json.load(file)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FileNotFoundError: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print("No saved data found -- starting fresh.")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 = []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[Student.from_dict(d) for d in data]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 = load_students()   # works whether or not the file exists yet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File-Handling Mistakes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33956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6916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the with statement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806440" y="16916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calling open()/close() risks leaving a file open if an exception occurs in between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84835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6060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handling FileNotFoundError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806440" y="26060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program's very first run should never crash just because no save file exists yet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35204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6275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5204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newline="" with csv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5806440" y="35204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some systems, omitting this produces extra blank lines between CSV rows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40080" y="44348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677156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44348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CSV values keep their type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5806440" y="44348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read from a CSV file is a string — convert numbers explicitly with int() or float()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11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CASE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 Student Grade Management System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2E200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registrar wants a system that saves every student's grades to disk, so the data survives between runs of the program.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GradeManager class holds a list of Student objects in memory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2521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504291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save() writes all students to a JSON file; load() rebuilds them from that file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11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GradeManager Class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4480560"/>
          </a:xfrm>
          <a:prstGeom prst="roundRect">
            <a:avLst>
              <a:gd name="adj" fmla="val 1633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426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GradeManager: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filename="grades.json"):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self.filename = filename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self.students = []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add_student(self, student):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self.students.append(student)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save(self):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 open(self.filename, "w") as file: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json.dump([s.to_dict() for s in self.students], file, indent=2)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load(self):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with open(self.filename, "r") as file: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data = json.load(file)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self.students = [Student.from_dict(d) for d in data]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except FileNotFoundError: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self.students = []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File Handling Matters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3544824" cy="3291840"/>
          </a:xfrm>
          <a:prstGeom prst="roundRect">
            <a:avLst>
              <a:gd name="adj" fmla="val 3333"/>
            </a:avLst>
          </a:prstGeom>
          <a:solidFill>
            <a:srgbClr val="2E2008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965960"/>
            <a:ext cx="640080" cy="64008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12140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78892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3383280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survives after the program exits, and is restored on the next run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67784" y="1691640"/>
            <a:ext cx="3544824" cy="3291840"/>
          </a:xfrm>
          <a:prstGeom prst="roundRect">
            <a:avLst>
              <a:gd name="adj" fmla="val 3333"/>
            </a:avLst>
          </a:prstGeom>
          <a:solidFill>
            <a:srgbClr val="141F33"/>
          </a:solidFill>
          <a:ln/>
        </p:spPr>
      </p:sp>
      <p:sp>
        <p:nvSpPr>
          <p:cNvPr id="9" name="Shape 6"/>
          <p:cNvSpPr/>
          <p:nvPr/>
        </p:nvSpPr>
        <p:spPr>
          <a:xfrm>
            <a:off x="4642104" y="1965960"/>
            <a:ext cx="640080" cy="64008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552" y="212140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42104" y="278892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642104" y="3383280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and JSON are read by spreadsheets, other programs, and other languages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095488" y="1691640"/>
            <a:ext cx="3544824" cy="3291840"/>
          </a:xfrm>
          <a:prstGeom prst="roundRect">
            <a:avLst>
              <a:gd name="adj" fmla="val 3333"/>
            </a:avLst>
          </a:prstGeom>
          <a:solidFill>
            <a:srgbClr val="141F33"/>
          </a:solidFill>
          <a:ln/>
        </p:spPr>
      </p:sp>
      <p:sp>
        <p:nvSpPr>
          <p:cNvPr id="14" name="Shape 10"/>
          <p:cNvSpPr/>
          <p:nvPr/>
        </p:nvSpPr>
        <p:spPr>
          <a:xfrm>
            <a:off x="8369808" y="1965960"/>
            <a:ext cx="640080" cy="64008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256" y="212140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69808" y="278892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369808" y="3383280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with exception handling, file operations degrade gracefully instead of crashing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11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E200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6583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Lab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12801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Student Grade Management System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21945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40864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2194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Student a to_dict() and from_dict() classmethod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640080" y="28803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02666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2880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GradeManager with add_student(), save(), and load()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640080" y="35661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1246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0160" y="3566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save() then a fresh load() in a new GradeManager restores the same data</a:t>
            </a:r>
            <a:endParaRPr lang="en-US" sz="1350" dirty="0"/>
          </a:p>
        </p:txBody>
      </p:sp>
      <p:sp>
        <p:nvSpPr>
          <p:cNvPr id="15" name="Shape 9"/>
          <p:cNvSpPr/>
          <p:nvPr/>
        </p:nvSpPr>
        <p:spPr>
          <a:xfrm>
            <a:off x="640080" y="42519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398264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80160" y="4251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load() handles a missing file gracefully on first run</a:t>
            </a:r>
            <a:endParaRPr lang="en-US" sz="1350" dirty="0"/>
          </a:p>
        </p:txBody>
      </p:sp>
      <p:sp>
        <p:nvSpPr>
          <p:cNvPr id="18" name="Shape 11"/>
          <p:cNvSpPr/>
          <p:nvPr/>
        </p:nvSpPr>
        <p:spPr>
          <a:xfrm>
            <a:off x="640080" y="49377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084064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80160" y="4937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export_csv() method that writes a flat name,grade,average CSV summary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11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465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91640"/>
            <a:ext cx="10424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with statement ensures files are closed properly, even if an error occurs while working with them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0604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7280" y="2551176"/>
            <a:ext cx="10424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modes (r, w, a, r+) control whether you're reading, overwriting, or appending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65576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97280" y="3410712"/>
            <a:ext cx="10424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suits flat, tabular data; json suits nested, object-like data — pick based on shape, not habit</a:t>
            </a:r>
            <a:endParaRPr lang="en-US" sz="13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325112"/>
            <a:ext cx="274320" cy="2743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97280" y="4270248"/>
            <a:ext cx="10424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to_dict() / from_dict() bridge the gap between your classes and JSON-serializable data</a:t>
            </a:r>
            <a:endParaRPr lang="en-US" sz="13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184648"/>
            <a:ext cx="274320" cy="27432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97280" y="5129784"/>
            <a:ext cx="10424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pair file reads with exception handling for the very normal case where the file doesn't exist yet</a:t>
            </a:r>
            <a:endParaRPr lang="en-US" sz="1350" dirty="0"/>
          </a:p>
        </p:txBody>
      </p:sp>
      <p:sp>
        <p:nvSpPr>
          <p:cNvPr id="13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11</a:t>
            </a:r>
            <a:endParaRPr lang="en-US" sz="1000" dirty="0"/>
          </a:p>
        </p:txBody>
      </p:sp>
      <p:sp>
        <p:nvSpPr>
          <p:cNvPr id="14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Modules, Packages, and Testing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10972800" cy="4206240"/>
          </a:xfrm>
          <a:prstGeom prst="roundRect">
            <a:avLst>
              <a:gd name="adj" fmla="val 2609"/>
            </a:avLst>
          </a:prstGeom>
          <a:solidFill>
            <a:srgbClr val="A1620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Modules, Packages, and Testing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2971800"/>
            <a:ext cx="10424160" cy="525780"/>
          </a:xfrm>
          <a:prstGeom prst="roundRect">
            <a:avLst>
              <a:gd name="adj" fmla="val 1391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71800"/>
            <a:ext cx="10058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code across multiple files with modules and packages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634740"/>
            <a:ext cx="10424160" cy="525780"/>
          </a:xfrm>
          <a:prstGeom prst="roundRect">
            <a:avLst>
              <a:gd name="adj" fmla="val 1391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634740"/>
            <a:ext cx="10058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styles, and structuring a reusable utility package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4297680"/>
            <a:ext cx="10424160" cy="525780"/>
          </a:xfrm>
          <a:prstGeom prst="roundRect">
            <a:avLst>
              <a:gd name="adj" fmla="val 1391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297680"/>
            <a:ext cx="10058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introduction to unit testing with pytest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4960620"/>
            <a:ext cx="10424160" cy="525780"/>
          </a:xfrm>
          <a:prstGeom prst="roundRect">
            <a:avLst>
              <a:gd name="adj" fmla="val 1391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960620"/>
            <a:ext cx="10058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build a small reusable package and its first tests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286000"/>
            <a:ext cx="6400800" cy="6400800"/>
          </a:xfrm>
          <a:prstGeom prst="ellipse">
            <a:avLst/>
          </a:prstGeom>
          <a:solidFill>
            <a:srgbClr val="2E2008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6517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class: finish the Week 11 lab notebook — data saved in one run should be fully restored in the next.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2026-08-25T10:18:46Z</dcterms:created>
  <dcterms:modified xsi:type="dcterms:W3CDTF">2026-08-25T10:18:46Z</dcterms:modified>
</cp:coreProperties>
</file>