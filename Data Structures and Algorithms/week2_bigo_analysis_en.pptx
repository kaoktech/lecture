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Shape 1"/>
          <p:cNvSpPr/>
          <p:nvPr/>
        </p:nvSpPr>
        <p:spPr>
          <a:xfrm>
            <a:off x="9082735" y="-1645920"/>
            <a:ext cx="5029200" cy="5029200"/>
          </a:xfrm>
          <a:prstGeom prst="ellipse">
            <a:avLst/>
          </a:prstGeom>
          <a:solidFill>
            <a:srgbClr val="16335C"/>
          </a:solidFill>
          <a:ln/>
        </p:spPr>
      </p:sp>
      <p:sp>
        <p:nvSpPr>
          <p:cNvPr id="4" name="Shape 2"/>
          <p:cNvSpPr/>
          <p:nvPr/>
        </p:nvSpPr>
        <p:spPr>
          <a:xfrm>
            <a:off x="-2011680" y="4480560"/>
            <a:ext cx="4389120" cy="4389120"/>
          </a:xfrm>
          <a:prstGeom prst="ellipse">
            <a:avLst/>
          </a:prstGeom>
          <a:solidFill>
            <a:srgbClr val="122A4E"/>
          </a:solidFill>
          <a:ln/>
        </p:spPr>
      </p:sp>
      <p:sp>
        <p:nvSpPr>
          <p:cNvPr id="5" name="Text 3"/>
          <p:cNvSpPr txBox="1"/>
          <p:nvPr/>
        </p:nvSpPr>
        <p:spPr>
          <a:xfrm>
            <a:off x="822960" y="1417320"/>
            <a:ext cx="10058400" cy="457200"/>
          </a:xfrm>
          <a:prstGeom prst="rect">
            <a:avLst/>
          </a:prstGeom>
          <a:noFill/>
          <a:ln/>
        </p:spPr>
        <p:txBody>
          <a:bodyPr wrap="square" lIns="0" tIns="0" rIns="0" bIns="0"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WEEK 2</a:t>
            </a:r>
            <a:endParaRPr lang="en-US" sz="1600" dirty="0"/>
          </a:p>
        </p:txBody>
      </p:sp>
      <p:sp>
        <p:nvSpPr>
          <p:cNvPr id="6" name="Text 4"/>
          <p:cNvSpPr txBox="1"/>
          <p:nvPr/>
        </p:nvSpPr>
        <p:spPr>
          <a:xfrm>
            <a:off x="822960" y="1874520"/>
            <a:ext cx="10241280" cy="192024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Algorithm Analysis and Big-O Notation</a:t>
            </a:r>
            <a:endParaRPr lang="en-US" sz="4000" dirty="0"/>
          </a:p>
        </p:txBody>
      </p:sp>
      <p:sp>
        <p:nvSpPr>
          <p:cNvPr id="7" name="Text 5"/>
          <p:cNvSpPr txBox="1"/>
          <p:nvPr/>
        </p:nvSpPr>
        <p:spPr>
          <a:xfrm>
            <a:off x="822960" y="3611880"/>
            <a:ext cx="9692640" cy="1005840"/>
          </a:xfrm>
          <a:prstGeom prst="rect">
            <a:avLst/>
          </a:prstGeom>
          <a:noFill/>
          <a:ln/>
        </p:spPr>
        <p:txBody>
          <a:bodyPr wrap="square" lIns="0" tIns="0" rIns="0" bIns="0" rtlCol="0" anchor="ctr"/>
          <a:lstStyle/>
          <a:p>
            <a:pPr indent="0" marL="0">
              <a:buNone/>
            </a:pPr>
            <a:r>
              <a:rPr lang="en-US" sz="1800" dirty="0">
                <a:solidFill>
                  <a:srgbClr val="C7D2E0"/>
                </a:solidFill>
                <a:latin typeface="Calibri" pitchFamily="34" charset="0"/>
                <a:ea typeface="Calibri" pitchFamily="34" charset="-122"/>
                <a:cs typeface="Calibri" pitchFamily="34" charset="-120"/>
              </a:rPr>
              <a:t>Moving from "this feels fast" to a precise, mathematical way of comparing how algorithms scale.</a:t>
            </a:r>
            <a:endParaRPr lang="en-US" sz="1800" dirty="0"/>
          </a:p>
        </p:txBody>
      </p:sp>
      <p:sp>
        <p:nvSpPr>
          <p:cNvPr id="8" name="Shape 6"/>
          <p:cNvSpPr/>
          <p:nvPr/>
        </p:nvSpPr>
        <p:spPr>
          <a:xfrm>
            <a:off x="822960" y="4892040"/>
            <a:ext cx="2011680" cy="0"/>
          </a:xfrm>
          <a:prstGeom prst="line">
            <a:avLst/>
          </a:prstGeom>
          <a:noFill/>
          <a:ln w="31750">
            <a:solidFill>
              <a:srgbClr val="E8A33D"/>
            </a:solidFill>
            <a:prstDash val="solid"/>
          </a:ln>
        </p:spPr>
      </p:sp>
      <p:sp>
        <p:nvSpPr>
          <p:cNvPr id="9" name="Text 7"/>
          <p:cNvSpPr txBox="1"/>
          <p:nvPr/>
        </p:nvSpPr>
        <p:spPr>
          <a:xfrm>
            <a:off x="822960" y="6035040"/>
            <a:ext cx="9144000" cy="457200"/>
          </a:xfrm>
          <a:prstGeom prst="rect">
            <a:avLst/>
          </a:prstGeom>
          <a:noFill/>
          <a:ln/>
        </p:spPr>
        <p:txBody>
          <a:bodyPr wrap="square" lIns="0" tIns="0" rIns="0" bIns="0" rtlCol="0" anchor="ctr"/>
          <a:lstStyle/>
          <a:p>
            <a:pPr indent="0" marL="0">
              <a:buNone/>
            </a:pPr>
            <a:r>
              <a:rPr lang="en-US" sz="1300" dirty="0">
                <a:solidFill>
                  <a:srgbClr val="8A97A5"/>
                </a:solidFill>
                <a:latin typeface="Calibri" pitchFamily="34" charset="0"/>
                <a:ea typeface="Calibri" pitchFamily="34" charset="-122"/>
                <a:cs typeface="Calibri" pitchFamily="34" charset="-120"/>
              </a:rPr>
              <a:t>Management Information Systems · Data Structures and Algorithms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457200"/>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What We'll Cover Today</a:t>
            </a:r>
            <a:endParaRPr lang="en-US" sz="2600" dirty="0"/>
          </a:p>
        </p:txBody>
      </p:sp>
      <p:sp>
        <p:nvSpPr>
          <p:cNvPr id="3" name="Shape 1"/>
          <p:cNvSpPr/>
          <p:nvPr/>
        </p:nvSpPr>
        <p:spPr>
          <a:xfrm>
            <a:off x="822960" y="1298448"/>
            <a:ext cx="10545775" cy="0"/>
          </a:xfrm>
          <a:prstGeom prst="line">
            <a:avLst/>
          </a:prstGeom>
          <a:noFill/>
          <a:ln w="12700">
            <a:solidFill>
              <a:srgbClr val="D9DFE6"/>
            </a:solidFill>
            <a:prstDash val="solid"/>
          </a:ln>
        </p:spPr>
      </p:sp>
      <p:sp>
        <p:nvSpPr>
          <p:cNvPr id="4" name="Shape 2"/>
          <p:cNvSpPr/>
          <p:nvPr/>
        </p:nvSpPr>
        <p:spPr>
          <a:xfrm>
            <a:off x="822960" y="1542985"/>
            <a:ext cx="502920" cy="502920"/>
          </a:xfrm>
          <a:prstGeom prst="roundRect">
            <a:avLst>
              <a:gd name="adj" fmla="val 18182"/>
            </a:avLst>
          </a:prstGeom>
          <a:solidFill>
            <a:srgbClr val="0B1F3A"/>
          </a:solidFill>
          <a:ln/>
        </p:spPr>
      </p:sp>
      <p:sp>
        <p:nvSpPr>
          <p:cNvPr id="5" name="Text 3"/>
          <p:cNvSpPr txBox="1"/>
          <p:nvPr/>
        </p:nvSpPr>
        <p:spPr>
          <a:xfrm>
            <a:off x="822960" y="1542985"/>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54480" y="1463040"/>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Why we analyze algorithms at all</a:t>
            </a:r>
            <a:endParaRPr lang="en-US" sz="1600" dirty="0"/>
          </a:p>
        </p:txBody>
      </p:sp>
      <p:sp>
        <p:nvSpPr>
          <p:cNvPr id="7" name="Text 5"/>
          <p:cNvSpPr txBox="1"/>
          <p:nvPr/>
        </p:nvSpPr>
        <p:spPr>
          <a:xfrm>
            <a:off x="1554480" y="1829453"/>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Scalability, cost, and user experience</a:t>
            </a:r>
            <a:endParaRPr lang="en-US" sz="1250" dirty="0"/>
          </a:p>
        </p:txBody>
      </p:sp>
      <p:sp>
        <p:nvSpPr>
          <p:cNvPr id="8" name="Shape 6"/>
          <p:cNvSpPr/>
          <p:nvPr/>
        </p:nvSpPr>
        <p:spPr>
          <a:xfrm>
            <a:off x="822960" y="2129246"/>
            <a:ext cx="10424160" cy="0"/>
          </a:xfrm>
          <a:prstGeom prst="line">
            <a:avLst/>
          </a:prstGeom>
          <a:noFill/>
          <a:ln w="9525">
            <a:solidFill>
              <a:srgbClr val="D9DFE6"/>
            </a:solidFill>
            <a:prstDash val="solid"/>
          </a:ln>
        </p:spPr>
      </p:sp>
      <p:sp>
        <p:nvSpPr>
          <p:cNvPr id="9" name="Shape 7"/>
          <p:cNvSpPr/>
          <p:nvPr/>
        </p:nvSpPr>
        <p:spPr>
          <a:xfrm>
            <a:off x="822960" y="2209190"/>
            <a:ext cx="502920" cy="502920"/>
          </a:xfrm>
          <a:prstGeom prst="roundRect">
            <a:avLst>
              <a:gd name="adj" fmla="val 18182"/>
            </a:avLst>
          </a:prstGeom>
          <a:solidFill>
            <a:srgbClr val="0B1F3A"/>
          </a:solidFill>
          <a:ln/>
        </p:spPr>
      </p:sp>
      <p:sp>
        <p:nvSpPr>
          <p:cNvPr id="10" name="Text 8"/>
          <p:cNvSpPr txBox="1"/>
          <p:nvPr/>
        </p:nvSpPr>
        <p:spPr>
          <a:xfrm>
            <a:off x="822960" y="2209190"/>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554480" y="2129246"/>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Time complexity vs. space complexity</a:t>
            </a:r>
            <a:endParaRPr lang="en-US" sz="1600" dirty="0"/>
          </a:p>
        </p:txBody>
      </p:sp>
      <p:sp>
        <p:nvSpPr>
          <p:cNvPr id="12" name="Text 10"/>
          <p:cNvSpPr txBox="1"/>
          <p:nvPr/>
        </p:nvSpPr>
        <p:spPr>
          <a:xfrm>
            <a:off x="1554480" y="2495659"/>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What we're actually measuring</a:t>
            </a:r>
            <a:endParaRPr lang="en-US" sz="1250" dirty="0"/>
          </a:p>
        </p:txBody>
      </p:sp>
      <p:sp>
        <p:nvSpPr>
          <p:cNvPr id="13" name="Shape 11"/>
          <p:cNvSpPr/>
          <p:nvPr/>
        </p:nvSpPr>
        <p:spPr>
          <a:xfrm>
            <a:off x="822960" y="2795451"/>
            <a:ext cx="10424160" cy="0"/>
          </a:xfrm>
          <a:prstGeom prst="line">
            <a:avLst/>
          </a:prstGeom>
          <a:noFill/>
          <a:ln w="9525">
            <a:solidFill>
              <a:srgbClr val="D9DFE6"/>
            </a:solidFill>
            <a:prstDash val="solid"/>
          </a:ln>
        </p:spPr>
      </p:sp>
      <p:sp>
        <p:nvSpPr>
          <p:cNvPr id="14" name="Shape 12"/>
          <p:cNvSpPr/>
          <p:nvPr/>
        </p:nvSpPr>
        <p:spPr>
          <a:xfrm>
            <a:off x="822960" y="2875396"/>
            <a:ext cx="502920" cy="502920"/>
          </a:xfrm>
          <a:prstGeom prst="roundRect">
            <a:avLst>
              <a:gd name="adj" fmla="val 18182"/>
            </a:avLst>
          </a:prstGeom>
          <a:solidFill>
            <a:srgbClr val="0B1F3A"/>
          </a:solidFill>
          <a:ln/>
        </p:spPr>
      </p:sp>
      <p:sp>
        <p:nvSpPr>
          <p:cNvPr id="15" name="Text 13"/>
          <p:cNvSpPr txBox="1"/>
          <p:nvPr/>
        </p:nvSpPr>
        <p:spPr>
          <a:xfrm>
            <a:off x="822960" y="2875396"/>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554480" y="2795451"/>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Big-O notation and its rules</a:t>
            </a:r>
            <a:endParaRPr lang="en-US" sz="1600" dirty="0"/>
          </a:p>
        </p:txBody>
      </p:sp>
      <p:sp>
        <p:nvSpPr>
          <p:cNvPr id="17" name="Text 15"/>
          <p:cNvSpPr txBox="1"/>
          <p:nvPr/>
        </p:nvSpPr>
        <p:spPr>
          <a:xfrm>
            <a:off x="1554480" y="3161865"/>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A common language for describing growth</a:t>
            </a:r>
            <a:endParaRPr lang="en-US" sz="1250" dirty="0"/>
          </a:p>
        </p:txBody>
      </p:sp>
      <p:sp>
        <p:nvSpPr>
          <p:cNvPr id="18" name="Shape 16"/>
          <p:cNvSpPr/>
          <p:nvPr/>
        </p:nvSpPr>
        <p:spPr>
          <a:xfrm>
            <a:off x="822960" y="3461657"/>
            <a:ext cx="10424160" cy="0"/>
          </a:xfrm>
          <a:prstGeom prst="line">
            <a:avLst/>
          </a:prstGeom>
          <a:noFill/>
          <a:ln w="9525">
            <a:solidFill>
              <a:srgbClr val="D9DFE6"/>
            </a:solidFill>
            <a:prstDash val="solid"/>
          </a:ln>
        </p:spPr>
      </p:sp>
      <p:sp>
        <p:nvSpPr>
          <p:cNvPr id="19" name="Shape 17"/>
          <p:cNvSpPr/>
          <p:nvPr/>
        </p:nvSpPr>
        <p:spPr>
          <a:xfrm>
            <a:off x="822960" y="3541602"/>
            <a:ext cx="502920" cy="502920"/>
          </a:xfrm>
          <a:prstGeom prst="roundRect">
            <a:avLst>
              <a:gd name="adj" fmla="val 18182"/>
            </a:avLst>
          </a:prstGeom>
          <a:solidFill>
            <a:srgbClr val="0B1F3A"/>
          </a:solidFill>
          <a:ln/>
        </p:spPr>
      </p:sp>
      <p:sp>
        <p:nvSpPr>
          <p:cNvPr id="20" name="Text 18"/>
          <p:cNvSpPr txBox="1"/>
          <p:nvPr/>
        </p:nvSpPr>
        <p:spPr>
          <a:xfrm>
            <a:off x="822960" y="3541602"/>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554480" y="3461657"/>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The common complexity classes</a:t>
            </a:r>
            <a:endParaRPr lang="en-US" sz="1600" dirty="0"/>
          </a:p>
        </p:txBody>
      </p:sp>
      <p:sp>
        <p:nvSpPr>
          <p:cNvPr id="22" name="Text 20"/>
          <p:cNvSpPr txBox="1"/>
          <p:nvPr/>
        </p:nvSpPr>
        <p:spPr>
          <a:xfrm>
            <a:off x="1554480" y="3828070"/>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O(1) through O(2^n), and what they mean in practice</a:t>
            </a:r>
            <a:endParaRPr lang="en-US" sz="1250" dirty="0"/>
          </a:p>
        </p:txBody>
      </p:sp>
      <p:sp>
        <p:nvSpPr>
          <p:cNvPr id="23" name="Shape 21"/>
          <p:cNvSpPr/>
          <p:nvPr/>
        </p:nvSpPr>
        <p:spPr>
          <a:xfrm>
            <a:off x="822960" y="4127863"/>
            <a:ext cx="10424160" cy="0"/>
          </a:xfrm>
          <a:prstGeom prst="line">
            <a:avLst/>
          </a:prstGeom>
          <a:noFill/>
          <a:ln w="9525">
            <a:solidFill>
              <a:srgbClr val="D9DFE6"/>
            </a:solidFill>
            <a:prstDash val="solid"/>
          </a:ln>
        </p:spPr>
      </p:sp>
      <p:sp>
        <p:nvSpPr>
          <p:cNvPr id="24" name="Shape 22"/>
          <p:cNvSpPr/>
          <p:nvPr/>
        </p:nvSpPr>
        <p:spPr>
          <a:xfrm>
            <a:off x="822960" y="4207808"/>
            <a:ext cx="502920" cy="502920"/>
          </a:xfrm>
          <a:prstGeom prst="roundRect">
            <a:avLst>
              <a:gd name="adj" fmla="val 18182"/>
            </a:avLst>
          </a:prstGeom>
          <a:solidFill>
            <a:srgbClr val="0B1F3A"/>
          </a:solidFill>
          <a:ln/>
        </p:spPr>
      </p:sp>
      <p:sp>
        <p:nvSpPr>
          <p:cNvPr id="25" name="Text 23"/>
          <p:cNvSpPr txBox="1"/>
          <p:nvPr/>
        </p:nvSpPr>
        <p:spPr>
          <a:xfrm>
            <a:off x="822960" y="4207808"/>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554480" y="4127863"/>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Analyzing real code for its Big-O</a:t>
            </a:r>
            <a:endParaRPr lang="en-US" sz="1600" dirty="0"/>
          </a:p>
        </p:txBody>
      </p:sp>
      <p:sp>
        <p:nvSpPr>
          <p:cNvPr id="27" name="Text 25"/>
          <p:cNvSpPr txBox="1"/>
          <p:nvPr/>
        </p:nvSpPr>
        <p:spPr>
          <a:xfrm>
            <a:off x="1554480" y="4494276"/>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Spotting loops, nested loops, and their impact</a:t>
            </a:r>
            <a:endParaRPr lang="en-US" sz="1250" dirty="0"/>
          </a:p>
        </p:txBody>
      </p:sp>
      <p:sp>
        <p:nvSpPr>
          <p:cNvPr id="28" name="Shape 26"/>
          <p:cNvSpPr/>
          <p:nvPr/>
        </p:nvSpPr>
        <p:spPr>
          <a:xfrm>
            <a:off x="822960" y="4794069"/>
            <a:ext cx="10424160" cy="0"/>
          </a:xfrm>
          <a:prstGeom prst="line">
            <a:avLst/>
          </a:prstGeom>
          <a:noFill/>
          <a:ln w="9525">
            <a:solidFill>
              <a:srgbClr val="D9DFE6"/>
            </a:solidFill>
            <a:prstDash val="solid"/>
          </a:ln>
        </p:spPr>
      </p:sp>
      <p:sp>
        <p:nvSpPr>
          <p:cNvPr id="29" name="Shape 27"/>
          <p:cNvSpPr/>
          <p:nvPr/>
        </p:nvSpPr>
        <p:spPr>
          <a:xfrm>
            <a:off x="822960" y="4874013"/>
            <a:ext cx="502920" cy="502920"/>
          </a:xfrm>
          <a:prstGeom prst="roundRect">
            <a:avLst>
              <a:gd name="adj" fmla="val 18182"/>
            </a:avLst>
          </a:prstGeom>
          <a:solidFill>
            <a:srgbClr val="0B1F3A"/>
          </a:solidFill>
          <a:ln/>
        </p:spPr>
      </p:sp>
      <p:sp>
        <p:nvSpPr>
          <p:cNvPr id="30" name="Text 28"/>
          <p:cNvSpPr txBox="1"/>
          <p:nvPr/>
        </p:nvSpPr>
        <p:spPr>
          <a:xfrm>
            <a:off x="822960" y="4874013"/>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1554480" y="4794069"/>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Best, average, and worst case</a:t>
            </a:r>
            <a:endParaRPr lang="en-US" sz="1600" dirty="0"/>
          </a:p>
        </p:txBody>
      </p:sp>
      <p:sp>
        <p:nvSpPr>
          <p:cNvPr id="32" name="Text 30"/>
          <p:cNvSpPr txBox="1"/>
          <p:nvPr/>
        </p:nvSpPr>
        <p:spPr>
          <a:xfrm>
            <a:off x="1554480" y="5160482"/>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Why the same algorithm can have different complexities</a:t>
            </a:r>
            <a:endParaRPr lang="en-US" sz="1250" dirty="0"/>
          </a:p>
        </p:txBody>
      </p:sp>
      <p:sp>
        <p:nvSpPr>
          <p:cNvPr id="33" name="Shape 31"/>
          <p:cNvSpPr/>
          <p:nvPr/>
        </p:nvSpPr>
        <p:spPr>
          <a:xfrm>
            <a:off x="822960" y="5460274"/>
            <a:ext cx="10424160" cy="0"/>
          </a:xfrm>
          <a:prstGeom prst="line">
            <a:avLst/>
          </a:prstGeom>
          <a:noFill/>
          <a:ln w="9525">
            <a:solidFill>
              <a:srgbClr val="D9DFE6"/>
            </a:solidFill>
            <a:prstDash val="solid"/>
          </a:ln>
        </p:spPr>
      </p:sp>
      <p:sp>
        <p:nvSpPr>
          <p:cNvPr id="34" name="Shape 32"/>
          <p:cNvSpPr/>
          <p:nvPr/>
        </p:nvSpPr>
        <p:spPr>
          <a:xfrm>
            <a:off x="822960" y="5540219"/>
            <a:ext cx="502920" cy="502920"/>
          </a:xfrm>
          <a:prstGeom prst="roundRect">
            <a:avLst>
              <a:gd name="adj" fmla="val 18182"/>
            </a:avLst>
          </a:prstGeom>
          <a:solidFill>
            <a:srgbClr val="0B1F3A"/>
          </a:solidFill>
          <a:ln/>
        </p:spPr>
      </p:sp>
      <p:sp>
        <p:nvSpPr>
          <p:cNvPr id="35" name="Text 33"/>
          <p:cNvSpPr txBox="1"/>
          <p:nvPr/>
        </p:nvSpPr>
        <p:spPr>
          <a:xfrm>
            <a:off x="822960" y="5540219"/>
            <a:ext cx="502920" cy="502920"/>
          </a:xfrm>
          <a:prstGeom prst="rect">
            <a:avLst/>
          </a:prstGeom>
          <a:noFill/>
          <a:ln/>
        </p:spPr>
        <p:txBody>
          <a:bodyPr wrap="square" lIns="0" tIns="0" rIns="0" bIns="0" rtlCol="0" anchor="ctr"/>
          <a:lstStyle/>
          <a:p>
            <a:pPr algn="ctr" indent="0" marL="0">
              <a:buNone/>
            </a:pPr>
            <a:r>
              <a:rPr lang="en-US" sz="1600" b="1" dirty="0">
                <a:solidFill>
                  <a:srgbClr val="E8A33D"/>
                </a:solidFill>
                <a:latin typeface="Calibri" pitchFamily="34" charset="0"/>
                <a:ea typeface="Calibri" pitchFamily="34" charset="-122"/>
                <a:cs typeface="Calibri" pitchFamily="34" charset="-120"/>
              </a:rPr>
              <a:t>7</a:t>
            </a:r>
            <a:endParaRPr lang="en-US" sz="1600" dirty="0"/>
          </a:p>
        </p:txBody>
      </p:sp>
      <p:sp>
        <p:nvSpPr>
          <p:cNvPr id="36" name="Text 34"/>
          <p:cNvSpPr txBox="1"/>
          <p:nvPr/>
        </p:nvSpPr>
        <p:spPr>
          <a:xfrm>
            <a:off x="1554480" y="5460274"/>
            <a:ext cx="9692640" cy="41304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The time–space trade-off</a:t>
            </a:r>
            <a:endParaRPr lang="en-US" sz="1600" dirty="0"/>
          </a:p>
        </p:txBody>
      </p:sp>
      <p:sp>
        <p:nvSpPr>
          <p:cNvPr id="37" name="Text 35"/>
          <p:cNvSpPr txBox="1"/>
          <p:nvPr/>
        </p:nvSpPr>
        <p:spPr>
          <a:xfrm>
            <a:off x="1554480" y="5826687"/>
            <a:ext cx="9692640" cy="266482"/>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Faster often costs more memory, and vice versa</a:t>
            </a:r>
            <a:endParaRPr lang="en-US" sz="1250" dirty="0"/>
          </a:p>
        </p:txBody>
      </p:sp>
      <p:sp>
        <p:nvSpPr>
          <p:cNvPr id="38" name="Text 36"/>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39" name="Text 3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01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Why Analyze Algorithms?</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Why We Measure Algorithm Efficiency</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Two algorithms can be equally correct but wildly different in how they scale as data grows</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 report that runs in 2 seconds on test data might take hours on a real, full-size database</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Efficiency directly affects infrastructure cost, server load, and how many users a system can serve at once</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"It works on my machine with 100 rows" is not evidence it will work in production with 10 million rows</a:t>
            </a:r>
            <a:endParaRPr lang="en-US" sz="1700" dirty="0"/>
          </a:p>
        </p:txBody>
      </p:sp>
      <p:sp>
        <p:nvSpPr>
          <p:cNvPr id="6" name="Shape 4"/>
          <p:cNvSpPr/>
          <p:nvPr/>
        </p:nvSpPr>
        <p:spPr>
          <a:xfrm>
            <a:off x="7589520" y="1600200"/>
            <a:ext cx="3703320" cy="4480560"/>
          </a:xfrm>
          <a:prstGeom prst="roundRect">
            <a:avLst>
              <a:gd name="adj" fmla="val 1975"/>
            </a:avLst>
          </a:prstGeom>
          <a:solidFill>
            <a:srgbClr val="F3F5F8"/>
          </a:solidFill>
          <a:ln w="12700">
            <a:solidFill>
              <a:srgbClr val="D9DFE6"/>
            </a:solidFill>
            <a:prstDash val="solid"/>
          </a:ln>
        </p:spPr>
      </p:sp>
      <p:sp>
        <p:nvSpPr>
          <p:cNvPr id="7" name="Text 5"/>
          <p:cNvSpPr txBox="1"/>
          <p:nvPr/>
        </p:nvSpPr>
        <p:spPr>
          <a:xfrm>
            <a:off x="7863840" y="1783080"/>
            <a:ext cx="3200400" cy="365760"/>
          </a:xfrm>
          <a:prstGeom prst="rect">
            <a:avLst/>
          </a:prstGeom>
          <a:noFill/>
          <a:ln/>
        </p:spPr>
        <p:txBody>
          <a:bodyPr wrap="square" lIns="0" tIns="0" rIns="0" bIns="0" rtlCol="0" anchor="ctr"/>
          <a:lstStyle/>
          <a:p>
            <a:pPr indent="0" marL="0">
              <a:buNone/>
            </a:pPr>
            <a:r>
              <a:rPr lang="en-US" sz="1300" b="1" dirty="0">
                <a:solidFill>
                  <a:srgbClr val="C1791F"/>
                </a:solidFill>
                <a:latin typeface="Calibri" pitchFamily="34" charset="0"/>
                <a:ea typeface="Calibri" pitchFamily="34" charset="-122"/>
                <a:cs typeface="Calibri" pitchFamily="34" charset="-120"/>
              </a:rPr>
              <a:t>MIS Reality</a:t>
            </a:r>
            <a:endParaRPr lang="en-US" sz="1300" dirty="0"/>
          </a:p>
        </p:txBody>
      </p:sp>
      <p:sp>
        <p:nvSpPr>
          <p:cNvPr id="8" name="Text 6"/>
          <p:cNvSpPr txBox="1"/>
          <p:nvPr/>
        </p:nvSpPr>
        <p:spPr>
          <a:xfrm>
            <a:off x="7863840" y="2148840"/>
            <a:ext cx="3200400" cy="3749040"/>
          </a:xfrm>
          <a:prstGeom prst="rect">
            <a:avLst/>
          </a:prstGeom>
          <a:noFill/>
          <a:ln/>
        </p:spPr>
        <p:txBody>
          <a:bodyPr wrap="square" lIns="0" tIns="0" rIns="0" bIns="0" rtlCol="0" anchor="t"/>
          <a:lstStyle/>
          <a:p>
            <a:pPr indent="0" marL="0">
              <a:buNone/>
            </a:pPr>
            <a:r>
              <a:rPr lang="en-US" sz="1300" dirty="0">
                <a:solidFill>
                  <a:srgbClr val="5B6B7C"/>
                </a:solidFill>
                <a:latin typeface="Calibri" pitchFamily="34" charset="0"/>
                <a:ea typeface="Calibri" pitchFamily="34" charset="-122"/>
                <a:cs typeface="Calibri" pitchFamily="34" charset="-120"/>
              </a:rPr>
              <a:t>Business data grows. A system designed without efficiency in mind often needs an expensive rewrite exactly when the company can least afford the downtime.</a:t>
            </a:r>
            <a:endParaRPr lang="en-US" sz="130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BUSINESS SCENARIO</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Two Ways to Generate a Monthly Sales Report</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6" name="Text 4"/>
          <p:cNvSpPr txBox="1"/>
          <p:nvPr/>
        </p:nvSpPr>
        <p:spPr>
          <a:xfrm>
            <a:off x="1051560" y="1719072"/>
            <a:ext cx="36576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BUSINESS SCENARIO</a:t>
            </a:r>
            <a:endParaRPr lang="en-US" sz="1100" dirty="0"/>
          </a:p>
        </p:txBody>
      </p:sp>
      <p:sp>
        <p:nvSpPr>
          <p:cNvPr id="7" name="Text 5"/>
          <p:cNvSpPr txBox="1"/>
          <p:nvPr/>
        </p:nvSpPr>
        <p:spPr>
          <a:xfrm>
            <a:off x="1051560" y="1965960"/>
            <a:ext cx="100584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 finance team needs the total sales per product across a growing transactions table. Two developers wrote two different, both-correct solutions.</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Developer A: for each product, scan the entire transaction list to sum its sales — simple, but repeats work</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Developer B: scan the transaction list once, accumulating totals into a dictionary keyed by product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With 1,000 transactions both feel instant; with 10 million, one finishes in seconds and the other may not finish overnight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This is exactly the kind of difference Big-O lets us predict before we ever run the code</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Time Complexity vs. Space Complexity</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Time Complexity / Space Complexity</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Time complexity describes how the number of basic operations an algorithm performs grows as input size (n) grows. Space complexity describes how the amount of extra memory it needs grows with n. Both are expressed independent of any specific computer's speed.</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indent="0" marL="0">
              <a:buNone/>
            </a:pPr>
            <a:r>
              <a:rPr lang="en-US" sz="1100" b="1" spc="150" kern="0" dirty="0">
                <a:solidFill>
                  <a:srgbClr val="C1791F"/>
                </a:solidFill>
                <a:latin typeface="Calibri" pitchFamily="34" charset="0"/>
                <a:ea typeface="Calibri" pitchFamily="34" charset="-122"/>
                <a:cs typeface="Calibri" pitchFamily="34" charset="-120"/>
              </a:rPr>
              <a:t>EXAMPLE</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indent="0" marL="0">
              <a:buNone/>
            </a:pPr>
            <a:r>
              <a:rPr lang="en-US" sz="1500" dirty="0">
                <a:solidFill>
                  <a:srgbClr val="5B6B7C"/>
                </a:solidFill>
                <a:latin typeface="Calibri" pitchFamily="34" charset="0"/>
                <a:ea typeface="Calibri" pitchFamily="34" charset="-122"/>
                <a:cs typeface="Calibri" pitchFamily="34" charset="-120"/>
              </a:rPr>
              <a:t>We don't measure in seconds (that depends on the machine); we measure in terms of how the operation count grows relative to n.</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What We Actually Count</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 "basic operation" is one whose cost doesn't depend on input size: a comparison, an assignment, one arithmetic operation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We count how many times such operations run, as a function of n (the input size)</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We care about growth rate, not the exact count — 3n and 3n + 7 both "grow like 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This lets us compare algorithms independent of hardware, programming language, or how busy the server is</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02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Big-O Notation</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Big-O Notation</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Big-O, O(f(n))</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A mathematical notation describing the upper bound on an algorithm's growth rate as input size n grows large — in plain terms, the worst-case shape of how work increases with more data.</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indent="0" marL="0">
              <a:buNone/>
            </a:pPr>
            <a:r>
              <a:rPr lang="en-US" sz="1100" b="1" spc="150" kern="0" dirty="0">
                <a:solidFill>
                  <a:srgbClr val="C1791F"/>
                </a:solidFill>
                <a:latin typeface="Calibri" pitchFamily="34" charset="0"/>
                <a:ea typeface="Calibri" pitchFamily="34" charset="-122"/>
                <a:cs typeface="Calibri" pitchFamily="34" charset="-120"/>
              </a:rPr>
              <a:t>EXAMPLE</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indent="0" marL="0">
              <a:buNone/>
            </a:pPr>
            <a:r>
              <a:rPr lang="en-US" sz="1500" dirty="0">
                <a:solidFill>
                  <a:srgbClr val="5B6B7C"/>
                </a:solidFill>
                <a:latin typeface="Calibri" pitchFamily="34" charset="0"/>
                <a:ea typeface="Calibri" pitchFamily="34" charset="-122"/>
                <a:cs typeface="Calibri" pitchFamily="34" charset="-120"/>
              </a:rPr>
              <a:t>An algorithm that always does exactly 3n + 7 basic operations is described as O(n): as n grows, that's what dominates the behavior.</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Simplification Rules for Big-O</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6492240" cy="4572000"/>
          </a:xfrm>
          <a:prstGeom prst="rect">
            <a:avLst/>
          </a:prstGeom>
          <a:noFill/>
          <a:ln/>
        </p:spPr>
        <p:txBody>
          <a:bodyPr wrap="square" lIns="0" tIns="0" rIns="0" bIns="0" rtlCol="0" anchor="t"/>
          <a:lstStyle/>
          <a:p>
            <a:pPr marL="228600" indent="-228600">
              <a:spcAft>
                <a:spcPts val="1400"/>
              </a:spcAft>
              <a:buSzPct val="100000"/>
              <a:buChar char="•"/>
            </a:pPr>
            <a:r>
              <a:rPr lang="en-US" sz="1700" b="1" dirty="0">
                <a:solidFill>
                  <a:srgbClr val="1B2430"/>
                </a:solidFill>
                <a:latin typeface="Calibri" pitchFamily="34" charset="0"/>
                <a:ea typeface="Calibri" pitchFamily="34" charset="-122"/>
                <a:cs typeface="Calibri" pitchFamily="34" charset="-120"/>
              </a:rPr>
              <a:t>Drop constants:  O(3n)  becomes  O(n)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Drop lower-order terms:  O(n² + n)  becomes  O(n²)</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Keep only the term that dominates as n grows very large</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Big-O describes the worst case unless stated otherwise — the guaranteed upper bound</a:t>
            </a:r>
            <a:endParaRPr lang="en-US" sz="1700" dirty="0"/>
          </a:p>
        </p:txBody>
      </p:sp>
      <p:sp>
        <p:nvSpPr>
          <p:cNvPr id="6" name="Shape 4"/>
          <p:cNvSpPr/>
          <p:nvPr/>
        </p:nvSpPr>
        <p:spPr>
          <a:xfrm>
            <a:off x="7589520" y="1600200"/>
            <a:ext cx="3703320" cy="4480560"/>
          </a:xfrm>
          <a:prstGeom prst="roundRect">
            <a:avLst>
              <a:gd name="adj" fmla="val 1975"/>
            </a:avLst>
          </a:prstGeom>
          <a:solidFill>
            <a:srgbClr val="F3F5F8"/>
          </a:solidFill>
          <a:ln w="12700">
            <a:solidFill>
              <a:srgbClr val="D9DFE6"/>
            </a:solidFill>
            <a:prstDash val="solid"/>
          </a:ln>
        </p:spPr>
      </p:sp>
      <p:sp>
        <p:nvSpPr>
          <p:cNvPr id="7" name="Text 5"/>
          <p:cNvSpPr txBox="1"/>
          <p:nvPr/>
        </p:nvSpPr>
        <p:spPr>
          <a:xfrm>
            <a:off x="7863840" y="1783080"/>
            <a:ext cx="3200400" cy="365760"/>
          </a:xfrm>
          <a:prstGeom prst="rect">
            <a:avLst/>
          </a:prstGeom>
          <a:noFill/>
          <a:ln/>
        </p:spPr>
        <p:txBody>
          <a:bodyPr wrap="square" lIns="0" tIns="0" rIns="0" bIns="0" rtlCol="0" anchor="ctr"/>
          <a:lstStyle/>
          <a:p>
            <a:pPr indent="0" marL="0">
              <a:buNone/>
            </a:pPr>
            <a:r>
              <a:rPr lang="en-US" sz="1300" b="1" dirty="0">
                <a:solidFill>
                  <a:srgbClr val="C1791F"/>
                </a:solidFill>
                <a:latin typeface="Calibri" pitchFamily="34" charset="0"/>
                <a:ea typeface="Calibri" pitchFamily="34" charset="-122"/>
                <a:cs typeface="Calibri" pitchFamily="34" charset="-120"/>
              </a:rPr>
              <a:t>Why Simplify</a:t>
            </a:r>
            <a:endParaRPr lang="en-US" sz="1300" dirty="0"/>
          </a:p>
        </p:txBody>
      </p:sp>
      <p:sp>
        <p:nvSpPr>
          <p:cNvPr id="8" name="Text 6"/>
          <p:cNvSpPr txBox="1"/>
          <p:nvPr/>
        </p:nvSpPr>
        <p:spPr>
          <a:xfrm>
            <a:off x="7863840" y="2148840"/>
            <a:ext cx="3200400" cy="3749040"/>
          </a:xfrm>
          <a:prstGeom prst="rect">
            <a:avLst/>
          </a:prstGeom>
          <a:noFill/>
          <a:ln/>
        </p:spPr>
        <p:txBody>
          <a:bodyPr wrap="square" lIns="0" tIns="0" rIns="0" bIns="0" rtlCol="0" anchor="t"/>
          <a:lstStyle/>
          <a:p>
            <a:pPr indent="0" marL="0">
              <a:buNone/>
            </a:pPr>
            <a:r>
              <a:rPr lang="en-US" sz="1300" dirty="0">
                <a:solidFill>
                  <a:srgbClr val="5B6B7C"/>
                </a:solidFill>
                <a:latin typeface="Calibri" pitchFamily="34" charset="0"/>
                <a:ea typeface="Calibri" pitchFamily="34" charset="-122"/>
                <a:cs typeface="Calibri" pitchFamily="34" charset="-120"/>
              </a:rPr>
              <a:t>For large enough n, constants and smaller terms become irrelevant next to the dominant term — Big-O captures exactly that long-run behavior.</a:t>
            </a:r>
            <a:endParaRPr lang="en-US" sz="130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Combining Complexities: Sum and Product Rules</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b="1" dirty="0">
                <a:solidFill>
                  <a:srgbClr val="1B2430"/>
                </a:solidFill>
                <a:latin typeface="Calibri" pitchFamily="34" charset="0"/>
                <a:ea typeface="Calibri" pitchFamily="34" charset="-122"/>
                <a:cs typeface="Calibri" pitchFamily="34" charset="-120"/>
              </a:rPr>
              <a:t>Sum rule — two steps that run one after another: add their complexities</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O(n) followed by O(n) → O(n + n) = O(2n) → simplified to O(n)</a:t>
            </a:r>
            <a:endParaRPr lang="en-US" sz="1700" dirty="0"/>
          </a:p>
          <a:p>
            <a:pPr marL="228600" indent="-228600">
              <a:spcAft>
                <a:spcPts val="1400"/>
              </a:spcAft>
              <a:buSzPct val="100000"/>
              <a:buChar char="•"/>
            </a:pPr>
            <a:r>
              <a:rPr lang="en-US" sz="1700" b="1" dirty="0">
                <a:solidFill>
                  <a:srgbClr val="1B2430"/>
                </a:solidFill>
                <a:latin typeface="Calibri" pitchFamily="34" charset="0"/>
                <a:ea typeface="Calibri" pitchFamily="34" charset="-122"/>
                <a:cs typeface="Calibri" pitchFamily="34" charset="-120"/>
              </a:rPr>
              <a:t>Product rule — a step that runs inside another, repeated step: multiply their complexities</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An O(n) loop containing an O(n) loop → O(n) × O(n) = O(n²)</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Recognizing which rule applies is often the fastest path to an algorithm's overall Big-O</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REFERENCE</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Common Complexity Classes</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4480560"/>
        </p:xfrm>
        <a:graphic>
          <a:graphicData uri="http://schemas.openxmlformats.org/drawingml/2006/table">
            <a:tbl>
              <a:tblPr/>
              <a:tblGrid>
                <a:gridCol w="3505200"/>
                <a:gridCol w="3505200"/>
                <a:gridCol w="3505200"/>
              </a:tblGrid>
              <a:tr h="64008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Notation</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Name</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Example</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r>
              <a:tr h="64008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O(1)</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Constant</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Accessing a list item by index</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O(log 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Logarithmic</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Binary search on a sorted list</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r h="64008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Linear</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Scanning every item once</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O(n log 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Linearithmic</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Efficient sorting (merge sort, quicksort)</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r h="64008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O(n²)</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Quadratic</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Comparing every pair of items (nested loop)</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64008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O(2^n)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Exponential</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Trying every subset of a set</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bl>
          </a:graphicData>
        </a:graphic>
      </p:graphicFrame>
      <p:sp>
        <p:nvSpPr>
          <p:cNvPr id="6" name="Text 3"/>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4"/>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REFERENCE</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How Fast Each Class Actually Grows</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4480560"/>
        </p:xfrm>
        <a:graphic>
          <a:graphicData uri="http://schemas.openxmlformats.org/drawingml/2006/table">
            <a:tbl>
              <a:tblPr/>
              <a:tblGrid>
                <a:gridCol w="2103120"/>
                <a:gridCol w="2103120"/>
                <a:gridCol w="2103120"/>
                <a:gridCol w="2103120"/>
                <a:gridCol w="2103120"/>
              </a:tblGrid>
              <a:tr h="896112">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n</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O(log n)</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O(n)</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O(n log n)</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O(n²)</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r>
              <a:tr h="896112">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896112">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~664</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r h="896112">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~9,966</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896112">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~132,877</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100,000,000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bl>
          </a:graphicData>
        </a:graphic>
      </p:graphicFrame>
      <p:sp>
        <p:nvSpPr>
          <p:cNvPr id="6" name="Text 3"/>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4"/>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03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Analyzing Real Code</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O(1): Constant Time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4160520"/>
          </a:xfrm>
          <a:prstGeom prst="roundRect">
            <a:avLst>
              <a:gd name="adj" fmla="val 1319"/>
            </a:avLst>
          </a:prstGeom>
          <a:solidFill>
            <a:srgbClr val="0B1F3A"/>
          </a:solidFill>
          <a:ln/>
        </p:spPr>
      </p:sp>
      <p:sp>
        <p:nvSpPr>
          <p:cNvPr id="6" name="Text 4"/>
          <p:cNvSpPr txBox="1"/>
          <p:nvPr/>
        </p:nvSpPr>
        <p:spPr>
          <a:xfrm>
            <a:off x="1097280" y="1737360"/>
            <a:ext cx="9966960" cy="3794760"/>
          </a:xfrm>
          <a:prstGeom prst="rect">
            <a:avLst/>
          </a:prstGeom>
          <a:noFill/>
          <a:ln/>
        </p:spPr>
        <p:txBody>
          <a:bodyPr wrap="square" lIns="0" tIns="0" rIns="0" bIns="0" rtlCol="0" anchor="t"/>
          <a:lstStyle/>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def get_first_customer(customers):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customers[0]   # always exactly one step,</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 no matter how big the list is</a:t>
            </a:r>
            <a:endParaRPr lang="en-US" sz="1350" dirty="0"/>
          </a:p>
        </p:txBody>
      </p:sp>
      <p:sp>
        <p:nvSpPr>
          <p:cNvPr id="7" name="Text 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The cost doesn't depend on the size of the input — that's the signature of O(1).</a:t>
            </a:r>
            <a:endParaRPr lang="en-US" sz="1250" dirty="0"/>
          </a:p>
        </p:txBody>
      </p:sp>
      <p:sp>
        <p:nvSpPr>
          <p:cNvPr id="8" name="Text 6"/>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9" name="Text 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O(n): Linear Time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4160520"/>
          </a:xfrm>
          <a:prstGeom prst="roundRect">
            <a:avLst>
              <a:gd name="adj" fmla="val 1319"/>
            </a:avLst>
          </a:prstGeom>
          <a:solidFill>
            <a:srgbClr val="0B1F3A"/>
          </a:solidFill>
          <a:ln/>
        </p:spPr>
      </p:sp>
      <p:sp>
        <p:nvSpPr>
          <p:cNvPr id="6" name="Text 4"/>
          <p:cNvSpPr txBox="1"/>
          <p:nvPr/>
        </p:nvSpPr>
        <p:spPr>
          <a:xfrm>
            <a:off x="1097280" y="1737360"/>
            <a:ext cx="9966960" cy="3794760"/>
          </a:xfrm>
          <a:prstGeom prst="rect">
            <a:avLst/>
          </a:prstGeom>
          <a:noFill/>
          <a:ln/>
        </p:spPr>
        <p:txBody>
          <a:bodyPr wrap="square" lIns="0" tIns="0" rIns="0" bIns="0" rtlCol="0" anchor="t"/>
          <a:lstStyle/>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def find_customer(customers, target_id):</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for c in customers:          # runs up to n times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if c["id"] == target_id:</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c</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None</a:t>
            </a:r>
            <a:endParaRPr lang="en-US" sz="1350" dirty="0"/>
          </a:p>
        </p:txBody>
      </p:sp>
      <p:sp>
        <p:nvSpPr>
          <p:cNvPr id="7" name="Text 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One loop over n items → work grows in direct proportion to the input size.</a:t>
            </a:r>
            <a:endParaRPr lang="en-US" sz="1250" dirty="0"/>
          </a:p>
        </p:txBody>
      </p:sp>
      <p:sp>
        <p:nvSpPr>
          <p:cNvPr id="8" name="Text 6"/>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9" name="Text 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O(n²): Quadratic Time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4160520"/>
          </a:xfrm>
          <a:prstGeom prst="roundRect">
            <a:avLst>
              <a:gd name="adj" fmla="val 1319"/>
            </a:avLst>
          </a:prstGeom>
          <a:solidFill>
            <a:srgbClr val="0B1F3A"/>
          </a:solidFill>
          <a:ln/>
        </p:spPr>
      </p:sp>
      <p:sp>
        <p:nvSpPr>
          <p:cNvPr id="6" name="Text 4"/>
          <p:cNvSpPr txBox="1"/>
          <p:nvPr/>
        </p:nvSpPr>
        <p:spPr>
          <a:xfrm>
            <a:off x="1097280" y="1737360"/>
            <a:ext cx="9966960" cy="3794760"/>
          </a:xfrm>
          <a:prstGeom prst="rect">
            <a:avLst/>
          </a:prstGeom>
          <a:noFill/>
          <a:ln/>
        </p:spPr>
        <p:txBody>
          <a:bodyPr wrap="square" lIns="0" tIns="0" rIns="0" bIns="0" rtlCol="0" anchor="t"/>
          <a:lstStyle/>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def find_duplicate_orders(orders):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duplicates = []</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for i in range(len(orders)):        # outer loop: n times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for j in range(i + 1, len(orders)):  # inner loop: up to n times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if orders[i] == orders[j]:</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duplicates.append(orders[i])</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duplicates</a:t>
            </a:r>
            <a:endParaRPr lang="en-US" sz="1350" dirty="0"/>
          </a:p>
        </p:txBody>
      </p:sp>
      <p:sp>
        <p:nvSpPr>
          <p:cNvPr id="7" name="Text 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A loop nested inside another loop over the same data is the classic signature of O(n²).</a:t>
            </a:r>
            <a:endParaRPr lang="en-US" sz="1250" dirty="0"/>
          </a:p>
        </p:txBody>
      </p:sp>
      <p:sp>
        <p:nvSpPr>
          <p:cNvPr id="8" name="Text 6"/>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9" name="Text 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O(log n): Logarithmic Time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4160520"/>
          </a:xfrm>
          <a:prstGeom prst="roundRect">
            <a:avLst>
              <a:gd name="adj" fmla="val 1319"/>
            </a:avLst>
          </a:prstGeom>
          <a:solidFill>
            <a:srgbClr val="0B1F3A"/>
          </a:solidFill>
          <a:ln/>
        </p:spPr>
      </p:sp>
      <p:sp>
        <p:nvSpPr>
          <p:cNvPr id="6" name="Text 4"/>
          <p:cNvSpPr txBox="1"/>
          <p:nvPr/>
        </p:nvSpPr>
        <p:spPr>
          <a:xfrm>
            <a:off x="1097280" y="1737360"/>
            <a:ext cx="9966960" cy="3794760"/>
          </a:xfrm>
          <a:prstGeom prst="rect">
            <a:avLst/>
          </a:prstGeom>
          <a:noFill/>
          <a:ln/>
        </p:spPr>
        <p:txBody>
          <a:bodyPr wrap="square" lIns="0" tIns="0" rIns="0" bIns="0" rtlCol="0" anchor="t"/>
          <a:lstStyle/>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def binary_search(sorted_ids, target):</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low, high = 0, len(sorted_ids) - 1</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while low &lt;= high:</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mid = (low + high) // 2</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if sorted_ids[mid] == target:</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mid</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elif sorted_ids[mid] &lt; target:</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low = mid + 1</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else:</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high = mid - 1</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-1  # not found</a:t>
            </a:r>
            <a:endParaRPr lang="en-US" sz="1350" dirty="0"/>
          </a:p>
        </p:txBody>
      </p:sp>
      <p:sp>
        <p:nvSpPr>
          <p:cNvPr id="7" name="Text 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Each step eliminates half the remaining data — doubling the input only adds one more step, the signature of O(log n).</a:t>
            </a:r>
            <a:endParaRPr lang="en-US" sz="1250" dirty="0"/>
          </a:p>
        </p:txBody>
      </p:sp>
      <p:sp>
        <p:nvSpPr>
          <p:cNvPr id="8" name="Text 6"/>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9" name="Text 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TECHNIQUE</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How to Spot Complexity While Reading Code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 single loop over n items, with O(1) work inside → O(n)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 loop inside another loop, both over roughly n items → O(n²)</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 loop that repeatedly cuts the problem in half (like binary search) → O(log 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Calling a sort function inside your code adds at least O(n log n) to that section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Function calls, list slicing, and built-ins have their own costs — don't assume every line is O(1)</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BUSINESS SCENARIO</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Analyzing the Two Sales Report Algorithms</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6" name="Text 4"/>
          <p:cNvSpPr txBox="1"/>
          <p:nvPr/>
        </p:nvSpPr>
        <p:spPr>
          <a:xfrm>
            <a:off x="1051560" y="1719072"/>
            <a:ext cx="36576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BUSINESS SCENARIO</a:t>
            </a:r>
            <a:endParaRPr lang="en-US" sz="1100" dirty="0"/>
          </a:p>
        </p:txBody>
      </p:sp>
      <p:sp>
        <p:nvSpPr>
          <p:cNvPr id="7" name="Text 5"/>
          <p:cNvSpPr txBox="1"/>
          <p:nvPr/>
        </p:nvSpPr>
        <p:spPr>
          <a:xfrm>
            <a:off x="1051560" y="1965960"/>
            <a:ext cx="100584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Back to Developer A and B from earlier — now we can name their complexity precisely.</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Developer A: for each of p products, scans all n transactions → O(p × n), which behaves like O(n²) when p grows with n</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Developer B: one pass over n transactions, dictionary updates are O(1) each → O(n) overall</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This is not a minor difference — it's the gap between a report that scales and one that eventually can't run at all</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DIAGRAM</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A Process for Finding an Algorithm's Big-O</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2377440"/>
            <a:ext cx="2251710" cy="1554480"/>
          </a:xfrm>
          <a:prstGeom prst="roundRect">
            <a:avLst>
              <a:gd name="adj" fmla="val 4706"/>
            </a:avLst>
          </a:prstGeom>
          <a:solidFill>
            <a:srgbClr val="0B1F3A"/>
          </a:solidFill>
          <a:ln/>
        </p:spPr>
      </p:sp>
      <p:sp>
        <p:nvSpPr>
          <p:cNvPr id="6" name="Text 4"/>
          <p:cNvSpPr txBox="1"/>
          <p:nvPr/>
        </p:nvSpPr>
        <p:spPr>
          <a:xfrm>
            <a:off x="960120" y="2514600"/>
            <a:ext cx="1977390" cy="5029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1. Find the Basic Operation</a:t>
            </a:r>
            <a:endParaRPr lang="en-US" sz="1350" dirty="0"/>
          </a:p>
        </p:txBody>
      </p:sp>
      <p:sp>
        <p:nvSpPr>
          <p:cNvPr id="7" name="Text 5"/>
          <p:cNvSpPr txBox="1"/>
          <p:nvPr/>
        </p:nvSpPr>
        <p:spPr>
          <a:xfrm>
            <a:off x="960120" y="3017520"/>
            <a:ext cx="1977390" cy="822960"/>
          </a:xfrm>
          <a:prstGeom prst="rect">
            <a:avLst/>
          </a:prstGeom>
          <a:noFill/>
          <a:ln/>
        </p:spPr>
        <p:txBody>
          <a:bodyPr wrap="square" lIns="0" tIns="0" rIns="0" bIns="0" rtlCol="0" anchor="t"/>
          <a:lstStyle/>
          <a:p>
            <a:pPr algn="ctr" indent="0" marL="0">
              <a:buNone/>
            </a:pPr>
            <a:r>
              <a:rPr lang="en-US" sz="1100" dirty="0">
                <a:solidFill>
                  <a:srgbClr val="D7E3F4"/>
                </a:solidFill>
                <a:latin typeface="Calibri" pitchFamily="34" charset="0"/>
                <a:ea typeface="Calibri" pitchFamily="34" charset="-122"/>
                <a:cs typeface="Calibri" pitchFamily="34" charset="-120"/>
              </a:rPr>
              <a:t>The line that runs most often</a:t>
            </a:r>
            <a:endParaRPr lang="en-US" sz="1100" dirty="0"/>
          </a:p>
        </p:txBody>
      </p:sp>
      <p:sp>
        <p:nvSpPr>
          <p:cNvPr id="8" name="Shape 6"/>
          <p:cNvSpPr/>
          <p:nvPr/>
        </p:nvSpPr>
        <p:spPr>
          <a:xfrm>
            <a:off x="3074670" y="3154680"/>
            <a:ext cx="502920" cy="0"/>
          </a:xfrm>
          <a:prstGeom prst="line">
            <a:avLst/>
          </a:prstGeom>
          <a:noFill/>
          <a:ln w="28575">
            <a:solidFill>
              <a:srgbClr val="8A97A5"/>
            </a:solidFill>
            <a:prstDash val="solid"/>
            <a:tailEnd type="triangle"/>
          </a:ln>
        </p:spPr>
      </p:sp>
      <p:sp>
        <p:nvSpPr>
          <p:cNvPr id="9" name="Shape 7"/>
          <p:cNvSpPr/>
          <p:nvPr/>
        </p:nvSpPr>
        <p:spPr>
          <a:xfrm>
            <a:off x="3577590" y="2377440"/>
            <a:ext cx="2251710" cy="1554480"/>
          </a:xfrm>
          <a:prstGeom prst="roundRect">
            <a:avLst>
              <a:gd name="adj" fmla="val 4706"/>
            </a:avLst>
          </a:prstGeom>
          <a:solidFill>
            <a:srgbClr val="0B1F3A"/>
          </a:solidFill>
          <a:ln/>
        </p:spPr>
      </p:sp>
      <p:sp>
        <p:nvSpPr>
          <p:cNvPr id="10" name="Text 8"/>
          <p:cNvSpPr txBox="1"/>
          <p:nvPr/>
        </p:nvSpPr>
        <p:spPr>
          <a:xfrm>
            <a:off x="3714750" y="2514600"/>
            <a:ext cx="1977390" cy="5029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2. Count as a Function of n</a:t>
            </a:r>
            <a:endParaRPr lang="en-US" sz="1350" dirty="0"/>
          </a:p>
        </p:txBody>
      </p:sp>
      <p:sp>
        <p:nvSpPr>
          <p:cNvPr id="11" name="Text 9"/>
          <p:cNvSpPr txBox="1"/>
          <p:nvPr/>
        </p:nvSpPr>
        <p:spPr>
          <a:xfrm>
            <a:off x="3714750" y="3017520"/>
            <a:ext cx="1977390" cy="822960"/>
          </a:xfrm>
          <a:prstGeom prst="rect">
            <a:avLst/>
          </a:prstGeom>
          <a:noFill/>
          <a:ln/>
        </p:spPr>
        <p:txBody>
          <a:bodyPr wrap="square" lIns="0" tIns="0" rIns="0" bIns="0" rtlCol="0" anchor="t"/>
          <a:lstStyle/>
          <a:p>
            <a:pPr algn="ctr" indent="0" marL="0">
              <a:buNone/>
            </a:pPr>
            <a:r>
              <a:rPr lang="en-US" sz="1100" dirty="0">
                <a:solidFill>
                  <a:srgbClr val="D7E3F4"/>
                </a:solidFill>
                <a:latin typeface="Calibri" pitchFamily="34" charset="0"/>
                <a:ea typeface="Calibri" pitchFamily="34" charset="-122"/>
                <a:cs typeface="Calibri" pitchFamily="34" charset="-120"/>
              </a:rPr>
              <a:t>How many times does it run?</a:t>
            </a:r>
            <a:endParaRPr lang="en-US" sz="1100" dirty="0"/>
          </a:p>
        </p:txBody>
      </p:sp>
      <p:sp>
        <p:nvSpPr>
          <p:cNvPr id="12" name="Shape 10"/>
          <p:cNvSpPr/>
          <p:nvPr/>
        </p:nvSpPr>
        <p:spPr>
          <a:xfrm>
            <a:off x="5829300" y="3154680"/>
            <a:ext cx="502920" cy="0"/>
          </a:xfrm>
          <a:prstGeom prst="line">
            <a:avLst/>
          </a:prstGeom>
          <a:noFill/>
          <a:ln w="28575">
            <a:solidFill>
              <a:srgbClr val="8A97A5"/>
            </a:solidFill>
            <a:prstDash val="solid"/>
            <a:tailEnd type="triangle"/>
          </a:ln>
        </p:spPr>
      </p:sp>
      <p:sp>
        <p:nvSpPr>
          <p:cNvPr id="13" name="Shape 11"/>
          <p:cNvSpPr/>
          <p:nvPr/>
        </p:nvSpPr>
        <p:spPr>
          <a:xfrm>
            <a:off x="6332220" y="2377440"/>
            <a:ext cx="2251710" cy="1554480"/>
          </a:xfrm>
          <a:prstGeom prst="roundRect">
            <a:avLst>
              <a:gd name="adj" fmla="val 4706"/>
            </a:avLst>
          </a:prstGeom>
          <a:solidFill>
            <a:srgbClr val="0B1F3A"/>
          </a:solidFill>
          <a:ln/>
        </p:spPr>
      </p:sp>
      <p:sp>
        <p:nvSpPr>
          <p:cNvPr id="14" name="Text 12"/>
          <p:cNvSpPr txBox="1"/>
          <p:nvPr/>
        </p:nvSpPr>
        <p:spPr>
          <a:xfrm>
            <a:off x="6469380" y="2514600"/>
            <a:ext cx="1977390" cy="5029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3. Identify Loop Structure</a:t>
            </a:r>
            <a:endParaRPr lang="en-US" sz="1350" dirty="0"/>
          </a:p>
        </p:txBody>
      </p:sp>
      <p:sp>
        <p:nvSpPr>
          <p:cNvPr id="15" name="Text 13"/>
          <p:cNvSpPr txBox="1"/>
          <p:nvPr/>
        </p:nvSpPr>
        <p:spPr>
          <a:xfrm>
            <a:off x="6469380" y="3017520"/>
            <a:ext cx="1977390" cy="822960"/>
          </a:xfrm>
          <a:prstGeom prst="rect">
            <a:avLst/>
          </a:prstGeom>
          <a:noFill/>
          <a:ln/>
        </p:spPr>
        <p:txBody>
          <a:bodyPr wrap="square" lIns="0" tIns="0" rIns="0" bIns="0" rtlCol="0" anchor="t"/>
          <a:lstStyle/>
          <a:p>
            <a:pPr algn="ctr" indent="0" marL="0">
              <a:buNone/>
            </a:pPr>
            <a:r>
              <a:rPr lang="en-US" sz="1100" dirty="0">
                <a:solidFill>
                  <a:srgbClr val="D7E3F4"/>
                </a:solidFill>
                <a:latin typeface="Calibri" pitchFamily="34" charset="0"/>
                <a:ea typeface="Calibri" pitchFamily="34" charset="-122"/>
                <a:cs typeface="Calibri" pitchFamily="34" charset="-120"/>
              </a:rPr>
              <a:t>Single, nested, or halving?</a:t>
            </a:r>
            <a:endParaRPr lang="en-US" sz="1100" dirty="0"/>
          </a:p>
        </p:txBody>
      </p:sp>
      <p:sp>
        <p:nvSpPr>
          <p:cNvPr id="16" name="Shape 14"/>
          <p:cNvSpPr/>
          <p:nvPr/>
        </p:nvSpPr>
        <p:spPr>
          <a:xfrm>
            <a:off x="8583930" y="3154680"/>
            <a:ext cx="502920" cy="0"/>
          </a:xfrm>
          <a:prstGeom prst="line">
            <a:avLst/>
          </a:prstGeom>
          <a:noFill/>
          <a:ln w="28575">
            <a:solidFill>
              <a:srgbClr val="8A97A5"/>
            </a:solidFill>
            <a:prstDash val="solid"/>
            <a:tailEnd type="triangle"/>
          </a:ln>
        </p:spPr>
      </p:sp>
      <p:sp>
        <p:nvSpPr>
          <p:cNvPr id="17" name="Shape 15"/>
          <p:cNvSpPr/>
          <p:nvPr/>
        </p:nvSpPr>
        <p:spPr>
          <a:xfrm>
            <a:off x="9086850" y="2377440"/>
            <a:ext cx="2251710" cy="1554480"/>
          </a:xfrm>
          <a:prstGeom prst="roundRect">
            <a:avLst>
              <a:gd name="adj" fmla="val 4706"/>
            </a:avLst>
          </a:prstGeom>
          <a:solidFill>
            <a:srgbClr val="C1791F"/>
          </a:solidFill>
          <a:ln/>
        </p:spPr>
      </p:sp>
      <p:sp>
        <p:nvSpPr>
          <p:cNvPr id="18" name="Text 16"/>
          <p:cNvSpPr txBox="1"/>
          <p:nvPr/>
        </p:nvSpPr>
        <p:spPr>
          <a:xfrm>
            <a:off x="9224010" y="2514600"/>
            <a:ext cx="1977390" cy="5029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4. Keep the Dominant Term</a:t>
            </a:r>
            <a:endParaRPr lang="en-US" sz="1350" dirty="0"/>
          </a:p>
        </p:txBody>
      </p:sp>
      <p:sp>
        <p:nvSpPr>
          <p:cNvPr id="19" name="Text 17"/>
          <p:cNvSpPr txBox="1"/>
          <p:nvPr/>
        </p:nvSpPr>
        <p:spPr>
          <a:xfrm>
            <a:off x="9224010" y="3017520"/>
            <a:ext cx="1977390" cy="822960"/>
          </a:xfrm>
          <a:prstGeom prst="rect">
            <a:avLst/>
          </a:prstGeom>
          <a:noFill/>
          <a:ln/>
        </p:spPr>
        <p:txBody>
          <a:bodyPr wrap="square" lIns="0" tIns="0" rIns="0" bIns="0" rtlCol="0" anchor="t"/>
          <a:lstStyle/>
          <a:p>
            <a:pPr algn="ctr" indent="0" marL="0">
              <a:buNone/>
            </a:pPr>
            <a:r>
              <a:rPr lang="en-US" sz="1100" dirty="0">
                <a:solidFill>
                  <a:srgbClr val="D7E3F4"/>
                </a:solidFill>
                <a:latin typeface="Calibri" pitchFamily="34" charset="0"/>
                <a:ea typeface="Calibri" pitchFamily="34" charset="-122"/>
                <a:cs typeface="Calibri" pitchFamily="34" charset="-120"/>
              </a:rPr>
              <a:t>Apply the simplification rules</a:t>
            </a:r>
            <a:endParaRPr lang="en-US" sz="1100" dirty="0"/>
          </a:p>
        </p:txBody>
      </p:sp>
      <p:sp>
        <p:nvSpPr>
          <p:cNvPr id="20" name="Text 1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21" name="Text 1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Best, Average, and Worst Case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737360"/>
            <a:ext cx="10515600" cy="1463040"/>
          </a:xfrm>
          <a:prstGeom prst="roundRect">
            <a:avLst>
              <a:gd name="adj" fmla="val 5000"/>
            </a:avLst>
          </a:prstGeom>
          <a:solidFill>
            <a:srgbClr val="F3F5F8"/>
          </a:solidFill>
          <a:ln w="12700">
            <a:solidFill>
              <a:srgbClr val="D9DFE6"/>
            </a:solidFill>
            <a:prstDash val="solid"/>
          </a:ln>
        </p:spPr>
      </p:sp>
      <p:sp>
        <p:nvSpPr>
          <p:cNvPr id="6" name="Text 4"/>
          <p:cNvSpPr txBox="1"/>
          <p:nvPr/>
        </p:nvSpPr>
        <p:spPr>
          <a:xfrm>
            <a:off x="1097280" y="1874520"/>
            <a:ext cx="1005840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Best / Average / Worst Case</a:t>
            </a:r>
            <a:endParaRPr lang="en-US" sz="2000" dirty="0"/>
          </a:p>
        </p:txBody>
      </p:sp>
      <p:sp>
        <p:nvSpPr>
          <p:cNvPr id="7" name="Text 5"/>
          <p:cNvSpPr txBox="1"/>
          <p:nvPr/>
        </p:nvSpPr>
        <p:spPr>
          <a:xfrm>
            <a:off x="1097280" y="2331720"/>
            <a:ext cx="9966960" cy="777240"/>
          </a:xfrm>
          <a:prstGeom prst="rect">
            <a:avLst/>
          </a:prstGeom>
          <a:noFill/>
          <a:ln/>
        </p:spPr>
        <p:txBody>
          <a:bodyPr wrap="square" lIns="0" tIns="0" rIns="0" bIns="0" rtlCol="0" anchor="t"/>
          <a:lstStyle/>
          <a:p>
            <a:pPr indent="0" marL="0">
              <a:buNone/>
            </a:pPr>
            <a:r>
              <a:rPr lang="en-US" sz="1500" dirty="0">
                <a:solidFill>
                  <a:srgbClr val="1B2430"/>
                </a:solidFill>
                <a:latin typeface="Calibri" pitchFamily="34" charset="0"/>
                <a:ea typeface="Calibri" pitchFamily="34" charset="-122"/>
                <a:cs typeface="Calibri" pitchFamily="34" charset="-120"/>
              </a:rPr>
              <a:t>The same algorithm can perform differently depending on the specific input — not just its size. We describe this with three cases; Big-O most often refers to the worst case, the guaranteed upper bound.</a:t>
            </a:r>
            <a:endParaRPr lang="en-US" sz="1500" dirty="0"/>
          </a:p>
        </p:txBody>
      </p:sp>
      <p:sp>
        <p:nvSpPr>
          <p:cNvPr id="8" name="Text 6"/>
          <p:cNvSpPr txBox="1"/>
          <p:nvPr/>
        </p:nvSpPr>
        <p:spPr>
          <a:xfrm>
            <a:off x="822960" y="3429000"/>
            <a:ext cx="2743200" cy="320040"/>
          </a:xfrm>
          <a:prstGeom prst="rect">
            <a:avLst/>
          </a:prstGeom>
          <a:noFill/>
          <a:ln/>
        </p:spPr>
        <p:txBody>
          <a:bodyPr wrap="square" lIns="0" tIns="0" rIns="0" bIns="0" rtlCol="0" anchor="ctr"/>
          <a:lstStyle/>
          <a:p>
            <a:pPr indent="0" marL="0">
              <a:buNone/>
            </a:pPr>
            <a:r>
              <a:rPr lang="en-US" sz="1100" b="1" spc="150" kern="0" dirty="0">
                <a:solidFill>
                  <a:srgbClr val="C1791F"/>
                </a:solidFill>
                <a:latin typeface="Calibri" pitchFamily="34" charset="0"/>
                <a:ea typeface="Calibri" pitchFamily="34" charset="-122"/>
                <a:cs typeface="Calibri" pitchFamily="34" charset="-120"/>
              </a:rPr>
              <a:t>EXAMPLE</a:t>
            </a:r>
            <a:endParaRPr lang="en-US" sz="1100" dirty="0"/>
          </a:p>
        </p:txBody>
      </p:sp>
      <p:sp>
        <p:nvSpPr>
          <p:cNvPr id="9" name="Text 7"/>
          <p:cNvSpPr txBox="1"/>
          <p:nvPr/>
        </p:nvSpPr>
        <p:spPr>
          <a:xfrm>
            <a:off x="822960" y="3794760"/>
            <a:ext cx="10515600" cy="2194560"/>
          </a:xfrm>
          <a:prstGeom prst="rect">
            <a:avLst/>
          </a:prstGeom>
          <a:noFill/>
          <a:ln/>
        </p:spPr>
        <p:txBody>
          <a:bodyPr wrap="square" lIns="0" tIns="0" rIns="0" bIns="0" rtlCol="0" anchor="t"/>
          <a:lstStyle/>
          <a:p>
            <a:pPr indent="0" marL="0">
              <a:buNone/>
            </a:pPr>
            <a:r>
              <a:rPr lang="en-US" sz="1500" dirty="0">
                <a:solidFill>
                  <a:srgbClr val="5B6B7C"/>
                </a:solidFill>
                <a:latin typeface="Calibri" pitchFamily="34" charset="0"/>
                <a:ea typeface="Calibri" pitchFamily="34" charset="-122"/>
                <a:cs typeface="Calibri" pitchFamily="34" charset="-120"/>
              </a:rPr>
              <a:t>Searching for a value that happens to be first (best case) vs. a value that isn't in the list at all (worst case) — same algorithm, very different amounts of work.</a:t>
            </a:r>
            <a:endParaRPr lang="en-US" sz="15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BUSINESS SCENARIO</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Linear Search: Best vs. Worst Case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6" name="Text 4"/>
          <p:cNvSpPr txBox="1"/>
          <p:nvPr/>
        </p:nvSpPr>
        <p:spPr>
          <a:xfrm>
            <a:off x="1051560" y="1719072"/>
            <a:ext cx="36576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BUSINESS SCENARIO</a:t>
            </a:r>
            <a:endParaRPr lang="en-US" sz="1100" dirty="0"/>
          </a:p>
        </p:txBody>
      </p:sp>
      <p:sp>
        <p:nvSpPr>
          <p:cNvPr id="7" name="Text 5"/>
          <p:cNvSpPr txBox="1"/>
          <p:nvPr/>
        </p:nvSpPr>
        <p:spPr>
          <a:xfrm>
            <a:off x="1051560" y="1965960"/>
            <a:ext cx="100584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 customer-support tool searches a support-ticket list for a specific ticket ID.</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Best case, O(1): the ticket happens to be the very first one checked</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Worst case, O(n): the ticket is last, or doesn't exist, so every item must be checked</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Average case, O(n): on random data, expect to check about half the list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For guarantees to customers about response time, systems are designed around the worst case</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Space Complexity Matters Too</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Some algorithms trade memory for speed: storing extra lookup data to avoid recomputation</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Others are memory-efficient but slower, doing more repeated work instead of storing intermediate results</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O(1) space: uses a fixed, small amount of extra memory regardless of input size</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O(n) space: uses extra memory proportional to the input, e.g. building a new list or dictionary</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Time–Space Trade-off in Practice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554480"/>
            <a:ext cx="10515600" cy="4160520"/>
          </a:xfrm>
          <a:prstGeom prst="roundRect">
            <a:avLst>
              <a:gd name="adj" fmla="val 1319"/>
            </a:avLst>
          </a:prstGeom>
          <a:solidFill>
            <a:srgbClr val="0B1F3A"/>
          </a:solidFill>
          <a:ln/>
        </p:spPr>
      </p:sp>
      <p:sp>
        <p:nvSpPr>
          <p:cNvPr id="6" name="Text 4"/>
          <p:cNvSpPr txBox="1"/>
          <p:nvPr/>
        </p:nvSpPr>
        <p:spPr>
          <a:xfrm>
            <a:off x="1097280" y="1737360"/>
            <a:ext cx="9966960" cy="3794760"/>
          </a:xfrm>
          <a:prstGeom prst="rect">
            <a:avLst/>
          </a:prstGeom>
          <a:noFill/>
          <a:ln/>
        </p:spPr>
        <p:txBody>
          <a:bodyPr wrap="square" lIns="0" tIns="0" rIns="0" bIns="0" rtlCol="0" anchor="t"/>
          <a:lstStyle/>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O(n) time, O(1) extra space: recomputes each time it's called</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def total_sales_recompute(transactions, product):</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sum(t["amount"] for t in transactions if t["product"] == product)</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O(n) time to build, then O(1) time per lookup, O(n) extra space</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def build_sales_index(transactions):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index = {}</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for t in transactions:</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index[t["product"]] = index.get(t["product"], 0) + t["amount"]</a:t>
            </a:r>
            <a:endParaRPr lang="en-US" sz="1350" dirty="0"/>
          </a:p>
          <a:p>
            <a:pPr indent="0" marL="0">
              <a:lnSpc>
                <a:spcPct val="115000"/>
              </a:lnSpc>
              <a:buNone/>
            </a:pPr>
            <a:r>
              <a:rPr lang="en-US" sz="1350" dirty="0">
                <a:solidFill>
                  <a:srgbClr val="D7E3F4"/>
                </a:solidFill>
                <a:latin typeface="Consolas" pitchFamily="34" charset="0"/>
                <a:ea typeface="Consolas" pitchFamily="34" charset="-122"/>
                <a:cs typeface="Consolas" pitchFamily="34" charset="-120"/>
              </a:rPr>
              <a:t>    return index</a:t>
            </a:r>
            <a:endParaRPr lang="en-US" sz="1350" dirty="0"/>
          </a:p>
        </p:txBody>
      </p:sp>
      <p:sp>
        <p:nvSpPr>
          <p:cNvPr id="7" name="Text 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The indexed version costs memory up front so that every later lookup is instant — a classic time–space trade-off.</a:t>
            </a:r>
            <a:endParaRPr lang="en-US" sz="1250" dirty="0"/>
          </a:p>
        </p:txBody>
      </p:sp>
      <p:sp>
        <p:nvSpPr>
          <p:cNvPr id="8" name="Text 6"/>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9" name="Text 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DECISION GUIDE</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Choosing Based on Time vs. Space</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5074920" cy="4526280"/>
          </a:xfrm>
          <a:prstGeom prst="roundRect">
            <a:avLst>
              <a:gd name="adj" fmla="val 1616"/>
            </a:avLst>
          </a:prstGeom>
          <a:solidFill>
            <a:srgbClr val="F3F5F8"/>
          </a:solidFill>
          <a:ln/>
        </p:spPr>
      </p:sp>
      <p:sp>
        <p:nvSpPr>
          <p:cNvPr id="6" name="Shape 4"/>
          <p:cNvSpPr/>
          <p:nvPr/>
        </p:nvSpPr>
        <p:spPr>
          <a:xfrm>
            <a:off x="822960" y="1600200"/>
            <a:ext cx="5074920" cy="548640"/>
          </a:xfrm>
          <a:prstGeom prst="roundRect">
            <a:avLst>
              <a:gd name="adj" fmla="val 13333"/>
            </a:avLst>
          </a:prstGeom>
          <a:solidFill>
            <a:srgbClr val="0B1F3A"/>
          </a:solidFill>
          <a:ln/>
        </p:spPr>
      </p:sp>
      <p:sp>
        <p:nvSpPr>
          <p:cNvPr id="7" name="Shape 5"/>
          <p:cNvSpPr/>
          <p:nvPr/>
        </p:nvSpPr>
        <p:spPr>
          <a:xfrm>
            <a:off x="822960" y="1874520"/>
            <a:ext cx="5074920" cy="274320"/>
          </a:xfrm>
          <a:prstGeom prst="rect">
            <a:avLst/>
          </a:prstGeom>
          <a:solidFill>
            <a:srgbClr val="0B1F3A"/>
          </a:solidFill>
          <a:ln/>
        </p:spPr>
      </p:sp>
      <p:sp>
        <p:nvSpPr>
          <p:cNvPr id="8" name="Text 6"/>
          <p:cNvSpPr txBox="1"/>
          <p:nvPr/>
        </p:nvSpPr>
        <p:spPr>
          <a:xfrm>
            <a:off x="1097280" y="1600200"/>
            <a:ext cx="452628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Favor Speed (more memory)</a:t>
            </a:r>
            <a:endParaRPr lang="en-US" sz="1600" dirty="0"/>
          </a:p>
        </p:txBody>
      </p:sp>
      <p:sp>
        <p:nvSpPr>
          <p:cNvPr id="9" name="Text 7"/>
          <p:cNvSpPr txBox="1"/>
          <p:nvPr/>
        </p:nvSpPr>
        <p:spPr>
          <a:xfrm>
            <a:off x="1143000" y="2377440"/>
            <a:ext cx="4434840" cy="3520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Lookups happen very frequently</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Memory is cheap relative to response-time needs</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e.g. a live dashboard queried constantly</a:t>
            </a:r>
            <a:endParaRPr lang="en-US" sz="1450" dirty="0"/>
          </a:p>
        </p:txBody>
      </p:sp>
      <p:sp>
        <p:nvSpPr>
          <p:cNvPr id="10" name="Shape 8"/>
          <p:cNvSpPr/>
          <p:nvPr/>
        </p:nvSpPr>
        <p:spPr>
          <a:xfrm>
            <a:off x="6263640" y="1600200"/>
            <a:ext cx="5074920" cy="4526280"/>
          </a:xfrm>
          <a:prstGeom prst="roundRect">
            <a:avLst>
              <a:gd name="adj" fmla="val 1616"/>
            </a:avLst>
          </a:prstGeom>
          <a:solidFill>
            <a:srgbClr val="F3F5F8"/>
          </a:solidFill>
          <a:ln/>
        </p:spPr>
      </p:sp>
      <p:sp>
        <p:nvSpPr>
          <p:cNvPr id="11" name="Shape 9"/>
          <p:cNvSpPr/>
          <p:nvPr/>
        </p:nvSpPr>
        <p:spPr>
          <a:xfrm>
            <a:off x="6263640" y="1600200"/>
            <a:ext cx="5074920" cy="548640"/>
          </a:xfrm>
          <a:prstGeom prst="roundRect">
            <a:avLst>
              <a:gd name="adj" fmla="val 13333"/>
            </a:avLst>
          </a:prstGeom>
          <a:solidFill>
            <a:srgbClr val="C1791F"/>
          </a:solidFill>
          <a:ln/>
        </p:spPr>
      </p:sp>
      <p:sp>
        <p:nvSpPr>
          <p:cNvPr id="12" name="Shape 10"/>
          <p:cNvSpPr/>
          <p:nvPr/>
        </p:nvSpPr>
        <p:spPr>
          <a:xfrm>
            <a:off x="6263640" y="1874520"/>
            <a:ext cx="5074920" cy="274320"/>
          </a:xfrm>
          <a:prstGeom prst="rect">
            <a:avLst/>
          </a:prstGeom>
          <a:solidFill>
            <a:srgbClr val="C1791F"/>
          </a:solidFill>
          <a:ln/>
        </p:spPr>
      </p:sp>
      <p:sp>
        <p:nvSpPr>
          <p:cNvPr id="13" name="Text 11"/>
          <p:cNvSpPr txBox="1"/>
          <p:nvPr/>
        </p:nvSpPr>
        <p:spPr>
          <a:xfrm>
            <a:off x="6537960" y="1600200"/>
            <a:ext cx="452628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Favor Memory (less speed)</a:t>
            </a:r>
            <a:endParaRPr lang="en-US" sz="1600" dirty="0"/>
          </a:p>
        </p:txBody>
      </p:sp>
      <p:sp>
        <p:nvSpPr>
          <p:cNvPr id="14" name="Text 12"/>
          <p:cNvSpPr txBox="1"/>
          <p:nvPr/>
        </p:nvSpPr>
        <p:spPr>
          <a:xfrm>
            <a:off x="6583680" y="2377440"/>
            <a:ext cx="4434840" cy="3520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Data is huge and memory is constrained</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The operation happens rarely</a:t>
            </a:r>
            <a:endParaRPr lang="en-US" sz="1450" dirty="0"/>
          </a:p>
          <a:p>
            <a:pPr marL="342900" indent="-342900">
              <a:spcAft>
                <a:spcPts val="1000"/>
              </a:spcAft>
              <a:buSzPct val="100000"/>
              <a:buChar char="•"/>
            </a:pPr>
            <a:r>
              <a:rPr lang="en-US" sz="1450" dirty="0">
                <a:solidFill>
                  <a:srgbClr val="1B2430"/>
                </a:solidFill>
                <a:latin typeface="Calibri" pitchFamily="34" charset="0"/>
                <a:ea typeface="Calibri" pitchFamily="34" charset="-122"/>
                <a:cs typeface="Calibri" pitchFamily="34" charset="-120"/>
              </a:rPr>
              <a:t>e.g. a monthly batch report run once</a:t>
            </a:r>
            <a:endParaRPr lang="en-US" sz="1450" dirty="0"/>
          </a:p>
        </p:txBody>
      </p:sp>
      <p:sp>
        <p:nvSpPr>
          <p:cNvPr id="15" name="Text 13"/>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6" name="Text 14"/>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A"/>
          </a:solidFill>
          <a:ln/>
        </p:spPr>
      </p:sp>
      <p:sp>
        <p:nvSpPr>
          <p:cNvPr id="3" name="Text 1"/>
          <p:cNvSpPr txBox="1"/>
          <p:nvPr/>
        </p:nvSpPr>
        <p:spPr>
          <a:xfrm>
            <a:off x="822960" y="2331720"/>
            <a:ext cx="3657600" cy="41148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04 / 05</a:t>
            </a:r>
            <a:endParaRPr lang="en-US" sz="1600" dirty="0"/>
          </a:p>
        </p:txBody>
      </p:sp>
      <p:sp>
        <p:nvSpPr>
          <p:cNvPr id="4" name="Shape 2"/>
          <p:cNvSpPr/>
          <p:nvPr/>
        </p:nvSpPr>
        <p:spPr>
          <a:xfrm>
            <a:off x="822960" y="2880360"/>
            <a:ext cx="1463040" cy="0"/>
          </a:xfrm>
          <a:prstGeom prst="line">
            <a:avLst/>
          </a:prstGeom>
          <a:noFill/>
          <a:ln w="25400">
            <a:solidFill>
              <a:srgbClr val="E8A33D"/>
            </a:solidFill>
            <a:prstDash val="solid"/>
          </a:ln>
        </p:spPr>
      </p:sp>
      <p:sp>
        <p:nvSpPr>
          <p:cNvPr id="5" name="Text 3"/>
          <p:cNvSpPr txBox="1"/>
          <p:nvPr/>
        </p:nvSpPr>
        <p:spPr>
          <a:xfrm>
            <a:off x="822960" y="3108960"/>
            <a:ext cx="1024128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Common Mistakes &amp; Practice</a:t>
            </a:r>
            <a:endParaRPr lang="en-US" sz="34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BEST PRACTICES</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Common Big-O Mistakes</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45720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Assuming Big-O is exact runtime in seconds — it describes growth rate, not actual speed</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Forgetting that a function call inside a loop can hide its own complexity (e.g. calling sort() inside a loop)</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Confusing best case with the guaranteed (worst-case) behavior a system should be designed around</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Ignoring space complexity entirely when memory is actually the bottleneck</a:t>
            </a:r>
            <a:endParaRPr lang="en-US" sz="1700" dirty="0"/>
          </a:p>
          <a:p>
            <a:pPr marL="228600" indent="-228600">
              <a:spcAft>
                <a:spcPts val="1400"/>
              </a:spcAft>
              <a:buSzPct val="100000"/>
              <a:buChar char="•"/>
            </a:pPr>
            <a:r>
              <a:rPr lang="en-US" sz="1700" dirty="0">
                <a:solidFill>
                  <a:srgbClr val="1B2430"/>
                </a:solidFill>
                <a:latin typeface="Calibri" pitchFamily="34" charset="0"/>
                <a:ea typeface="Calibri" pitchFamily="34" charset="-122"/>
                <a:cs typeface="Calibri" pitchFamily="34" charset="-120"/>
              </a:rPr>
              <a:t>Over-optimizing an algorithm that's called rarely, while ignoring one called constantly</a:t>
            </a:r>
            <a:endParaRPr lang="en-US" sz="1700" dirty="0"/>
          </a:p>
        </p:txBody>
      </p:sp>
      <p:sp>
        <p:nvSpPr>
          <p:cNvPr id="6" name="Text 4"/>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Complexity Preview: Common List Operations</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4480560"/>
        </p:xfrm>
        <a:graphic>
          <a:graphicData uri="http://schemas.openxmlformats.org/drawingml/2006/table">
            <a:tbl>
              <a:tblPr/>
              <a:tblGrid>
                <a:gridCol w="3505200"/>
                <a:gridCol w="3505200"/>
                <a:gridCol w="3505200"/>
              </a:tblGrid>
              <a:tr h="74676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Operation</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Typical Complexity</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0B1F3A"/>
                    </a:solidFill>
                  </a:tcPr>
                </a:tc>
              </a:tr>
              <a:tr h="746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Access by index</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O(1)</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Direct memory offset calculation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746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Search (unsorted)</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May need to check every item</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r h="746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Append to end</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O(1) (amortized)</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Usually just adds to the end</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r h="746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Insert at front</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O(n)</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Every existing item must shift</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3F5F8"/>
                    </a:solidFill>
                  </a:tcPr>
                </a:tc>
              </a:tr>
              <a:tr h="746760">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Dictionary lookup by key</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O(1) average</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latin typeface="Calibri" pitchFamily="34" charset="0"/>
                          <a:ea typeface="Calibri" pitchFamily="34" charset="-122"/>
                          <a:cs typeface="Calibri" pitchFamily="34" charset="-120"/>
                        </a:rPr>
                        <a:t>Covered in depth in Week 10</a:t>
                      </a:r>
                      <a:endParaRPr lang="en-US" sz="1300" dirty="0">
                        <a:latin typeface="Calibri" charset="0"/>
                        <a:ea typeface="Calibri" charset="0"/>
                        <a:cs typeface="Calibri" charset="0"/>
                      </a:endParaRPr>
                    </a:p>
                  </a:txBody>
                  <a:tcPr marL="91440" marR="91440" marT="45720" marB="45720"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7" name="Text 4"/>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 EXERCISE</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Practice: Identify the Big-O</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822960"/>
          </a:xfrm>
          <a:prstGeom prst="rect">
            <a:avLst/>
          </a:prstGeom>
          <a:noFill/>
          <a:ln/>
        </p:spPr>
        <p:txBody>
          <a:bodyPr wrap="square" lIns="0" tIns="0" rIns="0" bIns="0" rtlCol="0" anchor="ctr"/>
          <a:lstStyle/>
          <a:p>
            <a:pPr indent="0" marL="0">
              <a:buNone/>
            </a:pPr>
            <a:r>
              <a:rPr lang="en-US" sz="1650" b="1" dirty="0">
                <a:solidFill>
                  <a:srgbClr val="0B1F3A"/>
                </a:solidFill>
                <a:latin typeface="Calibri" pitchFamily="34" charset="0"/>
                <a:ea typeface="Calibri" pitchFamily="34" charset="-122"/>
                <a:cs typeface="Calibri" pitchFamily="34" charset="-120"/>
              </a:rPr>
              <a:t>For each function in your Week 2 notebook, determine and write down its Big-O:</a:t>
            </a:r>
            <a:endParaRPr lang="en-US" sz="1650" dirty="0"/>
          </a:p>
        </p:txBody>
      </p:sp>
      <p:sp>
        <p:nvSpPr>
          <p:cNvPr id="6" name="Text 4"/>
          <p:cNvSpPr txBox="1"/>
          <p:nvPr/>
        </p:nvSpPr>
        <p:spPr>
          <a:xfrm>
            <a:off x="822960" y="2514600"/>
            <a:ext cx="6400800" cy="338328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 function that returns the last element of a list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 function with one loop that prints every element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 function with two nested loops over the same list</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 function that calls a built-in sort() once, then loops through the result</a:t>
            </a:r>
            <a:endParaRPr lang="en-US" sz="1550" dirty="0"/>
          </a:p>
        </p:txBody>
      </p:sp>
      <p:sp>
        <p:nvSpPr>
          <p:cNvPr id="7" name="Shape 5"/>
          <p:cNvSpPr/>
          <p:nvPr/>
        </p:nvSpPr>
        <p:spPr>
          <a:xfrm>
            <a:off x="7498080" y="2514600"/>
            <a:ext cx="3794760" cy="3383280"/>
          </a:xfrm>
          <a:prstGeom prst="roundRect">
            <a:avLst>
              <a:gd name="adj" fmla="val 2162"/>
            </a:avLst>
          </a:prstGeom>
          <a:solidFill>
            <a:srgbClr val="FFF6E8"/>
          </a:solidFill>
          <a:ln w="12700">
            <a:solidFill>
              <a:srgbClr val="E8A33D"/>
            </a:solidFill>
            <a:prstDash val="solid"/>
          </a:ln>
        </p:spPr>
      </p:sp>
      <p:sp>
        <p:nvSpPr>
          <p:cNvPr id="8" name="Text 6"/>
          <p:cNvSpPr txBox="1"/>
          <p:nvPr/>
        </p:nvSpPr>
        <p:spPr>
          <a:xfrm>
            <a:off x="7726680" y="2697480"/>
            <a:ext cx="3200400" cy="274320"/>
          </a:xfrm>
          <a:prstGeom prst="rect">
            <a:avLst/>
          </a:prstGeom>
          <a:noFill/>
          <a:ln/>
        </p:spPr>
        <p:txBody>
          <a:bodyPr wrap="square" lIns="0" tIns="0" rIns="0" bIns="0" rtlCol="0" anchor="ctr"/>
          <a:lstStyle/>
          <a:p>
            <a:pPr indent="0" marL="0">
              <a:buNone/>
            </a:pPr>
            <a:r>
              <a:rPr lang="en-US" sz="1100" b="1" spc="150" kern="0" dirty="0">
                <a:solidFill>
                  <a:srgbClr val="C1791F"/>
                </a:solidFill>
                <a:latin typeface="Calibri" pitchFamily="34" charset="0"/>
                <a:ea typeface="Calibri" pitchFamily="34" charset="-122"/>
                <a:cs typeface="Calibri" pitchFamily="34" charset="-120"/>
              </a:rPr>
              <a:t>HINT</a:t>
            </a:r>
            <a:endParaRPr lang="en-US" sz="1100" dirty="0"/>
          </a:p>
        </p:txBody>
      </p:sp>
      <p:sp>
        <p:nvSpPr>
          <p:cNvPr id="9" name="Text 7"/>
          <p:cNvSpPr txBox="1"/>
          <p:nvPr/>
        </p:nvSpPr>
        <p:spPr>
          <a:xfrm>
            <a:off x="7726680" y="3017520"/>
            <a:ext cx="3337560" cy="2743200"/>
          </a:xfrm>
          <a:prstGeom prst="rect">
            <a:avLst/>
          </a:prstGeom>
          <a:noFill/>
          <a:ln/>
        </p:spPr>
        <p:txBody>
          <a:bodyPr wrap="square" lIns="0" tIns="0" rIns="0" bIns="0" rtlCol="0" anchor="t"/>
          <a:lstStyle/>
          <a:p>
            <a:pPr indent="0" marL="0">
              <a:buNone/>
            </a:pPr>
            <a:r>
              <a:rPr lang="en-US" sz="1300" dirty="0">
                <a:solidFill>
                  <a:srgbClr val="5B6B7C"/>
                </a:solidFill>
                <a:latin typeface="Calibri" pitchFamily="34" charset="0"/>
                <a:ea typeface="Calibri" pitchFamily="34" charset="-122"/>
                <a:cs typeface="Calibri" pitchFamily="34" charset="-120"/>
              </a:rPr>
              <a:t>Ask: does the number of operations depend on n? If so, how — once through, or once for every pair?</a:t>
            </a:r>
            <a:endParaRPr lang="en-US" sz="13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KNOWLEDGE CHECK</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Quick Check 1/2</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45920"/>
            <a:ext cx="10424160" cy="8229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What is the Big-O of a function with two independent (not nested) loops, each running n times?</a:t>
            </a:r>
            <a:endParaRPr lang="en-US" sz="1800" dirty="0"/>
          </a:p>
        </p:txBody>
      </p:sp>
      <p:sp>
        <p:nvSpPr>
          <p:cNvPr id="6" name="Shape 4"/>
          <p:cNvSpPr/>
          <p:nvPr/>
        </p:nvSpPr>
        <p:spPr>
          <a:xfrm>
            <a:off x="822960" y="2606040"/>
            <a:ext cx="10424160" cy="658368"/>
          </a:xfrm>
          <a:prstGeom prst="roundRect">
            <a:avLst>
              <a:gd name="adj" fmla="val 9722"/>
            </a:avLst>
          </a:prstGeom>
          <a:solidFill>
            <a:srgbClr val="F3F5F8"/>
          </a:solidFill>
          <a:ln w="12700">
            <a:solidFill>
              <a:srgbClr val="D9DFE6"/>
            </a:solidFill>
            <a:prstDash val="solid"/>
          </a:ln>
        </p:spPr>
      </p:sp>
      <p:sp>
        <p:nvSpPr>
          <p:cNvPr id="7" name="Text 5"/>
          <p:cNvSpPr txBox="1"/>
          <p:nvPr/>
        </p:nvSpPr>
        <p:spPr>
          <a:xfrm>
            <a:off x="1005840" y="2606040"/>
            <a:ext cx="457200" cy="65836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a:t>
            </a:r>
            <a:endParaRPr lang="en-US" sz="1500" dirty="0"/>
          </a:p>
        </p:txBody>
      </p:sp>
      <p:sp>
        <p:nvSpPr>
          <p:cNvPr id="8" name="Text 6"/>
          <p:cNvSpPr txBox="1"/>
          <p:nvPr/>
        </p:nvSpPr>
        <p:spPr>
          <a:xfrm>
            <a:off x="1554480" y="2606040"/>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O(n²)</a:t>
            </a:r>
            <a:endParaRPr lang="en-US" sz="1450" dirty="0"/>
          </a:p>
        </p:txBody>
      </p:sp>
      <p:sp>
        <p:nvSpPr>
          <p:cNvPr id="9" name="Shape 7"/>
          <p:cNvSpPr/>
          <p:nvPr/>
        </p:nvSpPr>
        <p:spPr>
          <a:xfrm>
            <a:off x="822960" y="3401568"/>
            <a:ext cx="10424160" cy="658368"/>
          </a:xfrm>
          <a:prstGeom prst="roundRect">
            <a:avLst>
              <a:gd name="adj" fmla="val 9722"/>
            </a:avLst>
          </a:prstGeom>
          <a:solidFill>
            <a:srgbClr val="E9F3ED"/>
          </a:solidFill>
          <a:ln w="19050">
            <a:solidFill>
              <a:srgbClr val="3E8E5A"/>
            </a:solidFill>
            <a:prstDash val="solid"/>
          </a:ln>
        </p:spPr>
      </p:sp>
      <p:sp>
        <p:nvSpPr>
          <p:cNvPr id="10" name="Text 8"/>
          <p:cNvSpPr txBox="1"/>
          <p:nvPr/>
        </p:nvSpPr>
        <p:spPr>
          <a:xfrm>
            <a:off x="1005840" y="3401568"/>
            <a:ext cx="457200" cy="658368"/>
          </a:xfrm>
          <a:prstGeom prst="rect">
            <a:avLst/>
          </a:prstGeom>
          <a:noFill/>
          <a:ln/>
        </p:spPr>
        <p:txBody>
          <a:bodyPr wrap="square" lIns="0" tIns="0" rIns="0" bIns="0" rtlCol="0" anchor="ctr"/>
          <a:lstStyle/>
          <a:p>
            <a:pPr indent="0" marL="0">
              <a:buNone/>
            </a:pPr>
            <a:r>
              <a:rPr lang="en-US" sz="1500" b="1" dirty="0">
                <a:solidFill>
                  <a:srgbClr val="3E8E5A"/>
                </a:solidFill>
                <a:latin typeface="Calibri" pitchFamily="34" charset="0"/>
                <a:ea typeface="Calibri" pitchFamily="34" charset="-122"/>
                <a:cs typeface="Calibri" pitchFamily="34" charset="-120"/>
              </a:rPr>
              <a:t>B</a:t>
            </a:r>
            <a:endParaRPr lang="en-US" sz="1500" dirty="0"/>
          </a:p>
        </p:txBody>
      </p:sp>
      <p:sp>
        <p:nvSpPr>
          <p:cNvPr id="11" name="Text 9"/>
          <p:cNvSpPr txBox="1"/>
          <p:nvPr/>
        </p:nvSpPr>
        <p:spPr>
          <a:xfrm>
            <a:off x="1554480" y="3401568"/>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O(2n), simplified to O(n)</a:t>
            </a:r>
            <a:endParaRPr lang="en-US" sz="1450" dirty="0"/>
          </a:p>
        </p:txBody>
      </p:sp>
      <p:sp>
        <p:nvSpPr>
          <p:cNvPr id="12" name="Shape 10"/>
          <p:cNvSpPr/>
          <p:nvPr/>
        </p:nvSpPr>
        <p:spPr>
          <a:xfrm>
            <a:off x="822960" y="4197096"/>
            <a:ext cx="10424160" cy="658368"/>
          </a:xfrm>
          <a:prstGeom prst="roundRect">
            <a:avLst>
              <a:gd name="adj" fmla="val 9722"/>
            </a:avLst>
          </a:prstGeom>
          <a:solidFill>
            <a:srgbClr val="F3F5F8"/>
          </a:solidFill>
          <a:ln w="12700">
            <a:solidFill>
              <a:srgbClr val="D9DFE6"/>
            </a:solidFill>
            <a:prstDash val="solid"/>
          </a:ln>
        </p:spPr>
      </p:sp>
      <p:sp>
        <p:nvSpPr>
          <p:cNvPr id="13" name="Text 11"/>
          <p:cNvSpPr txBox="1"/>
          <p:nvPr/>
        </p:nvSpPr>
        <p:spPr>
          <a:xfrm>
            <a:off x="1005840" y="4197096"/>
            <a:ext cx="457200" cy="65836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C</a:t>
            </a:r>
            <a:endParaRPr lang="en-US" sz="1500" dirty="0"/>
          </a:p>
        </p:txBody>
      </p:sp>
      <p:sp>
        <p:nvSpPr>
          <p:cNvPr id="14" name="Text 12"/>
          <p:cNvSpPr txBox="1"/>
          <p:nvPr/>
        </p:nvSpPr>
        <p:spPr>
          <a:xfrm>
            <a:off x="1554480" y="4197096"/>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O(log n)</a:t>
            </a:r>
            <a:endParaRPr lang="en-US" sz="1450" dirty="0"/>
          </a:p>
        </p:txBody>
      </p:sp>
      <p:sp>
        <p:nvSpPr>
          <p:cNvPr id="15" name="Shape 13"/>
          <p:cNvSpPr/>
          <p:nvPr/>
        </p:nvSpPr>
        <p:spPr>
          <a:xfrm>
            <a:off x="822960" y="4992624"/>
            <a:ext cx="10424160" cy="658368"/>
          </a:xfrm>
          <a:prstGeom prst="roundRect">
            <a:avLst>
              <a:gd name="adj" fmla="val 9722"/>
            </a:avLst>
          </a:prstGeom>
          <a:solidFill>
            <a:srgbClr val="F3F5F8"/>
          </a:solidFill>
          <a:ln w="12700">
            <a:solidFill>
              <a:srgbClr val="D9DFE6"/>
            </a:solidFill>
            <a:prstDash val="solid"/>
          </a:ln>
        </p:spPr>
      </p:sp>
      <p:sp>
        <p:nvSpPr>
          <p:cNvPr id="16" name="Text 14"/>
          <p:cNvSpPr txBox="1"/>
          <p:nvPr/>
        </p:nvSpPr>
        <p:spPr>
          <a:xfrm>
            <a:off x="1005840" y="4992624"/>
            <a:ext cx="457200" cy="65836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D</a:t>
            </a:r>
            <a:endParaRPr lang="en-US" sz="1500" dirty="0"/>
          </a:p>
        </p:txBody>
      </p:sp>
      <p:sp>
        <p:nvSpPr>
          <p:cNvPr id="17" name="Text 15"/>
          <p:cNvSpPr txBox="1"/>
          <p:nvPr/>
        </p:nvSpPr>
        <p:spPr>
          <a:xfrm>
            <a:off x="1554480" y="4992624"/>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O(1)</a:t>
            </a:r>
            <a:endParaRPr lang="en-US" sz="1450" dirty="0"/>
          </a:p>
        </p:txBody>
      </p:sp>
      <p:sp>
        <p:nvSpPr>
          <p:cNvPr id="18" name="Text 16"/>
          <p:cNvSpPr txBox="1"/>
          <p:nvPr/>
        </p:nvSpPr>
        <p:spPr>
          <a:xfrm>
            <a:off x="822960" y="5879592"/>
            <a:ext cx="10424160" cy="640080"/>
          </a:xfrm>
          <a:prstGeom prst="rect">
            <a:avLst/>
          </a:prstGeom>
          <a:noFill/>
          <a:ln/>
        </p:spPr>
        <p:txBody>
          <a:bodyPr wrap="square" lIns="0" tIns="0" rIns="0" bIns="0" rtlCol="0" anchor="ctr"/>
          <a:lstStyle/>
          <a:p>
            <a:pPr indent="0" marL="0">
              <a:buNone/>
            </a:pPr>
            <a:r>
              <a:rPr lang="en-US" sz="1250" b="1" dirty="0">
                <a:solidFill>
                  <a:srgbClr val="C1791F"/>
                </a:solidFill>
                <a:latin typeface="Calibri" pitchFamily="34" charset="0"/>
                <a:ea typeface="Calibri" pitchFamily="34" charset="-122"/>
                <a:cs typeface="Calibri" pitchFamily="34" charset="-120"/>
              </a:rPr>
              <a:t>Why: </a:t>
            </a:r>
            <a:pPr indent="0" marL="0">
              <a:buNone/>
            </a:pPr>
            <a:r>
              <a:rPr lang="en-US" sz="1250" dirty="0">
                <a:solidFill>
                  <a:srgbClr val="5B6B7C"/>
                </a:solidFill>
                <a:latin typeface="Calibri" pitchFamily="34" charset="0"/>
                <a:ea typeface="Calibri" pitchFamily="34" charset="-122"/>
                <a:cs typeface="Calibri" pitchFamily="34" charset="-120"/>
              </a:rPr>
              <a:t>Two separate loops over n items add up to 2n operations, and Big-O drops the constant, giving O(n).</a:t>
            </a:r>
            <a:endParaRPr lang="en-US" sz="1250" dirty="0"/>
          </a:p>
        </p:txBody>
      </p:sp>
      <p:sp>
        <p:nvSpPr>
          <p:cNvPr id="19" name="Text 1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20" name="Text 1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KNOWLEDGE CHECK</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Quick Check 2/2</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45920"/>
            <a:ext cx="10424160" cy="8229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A search algorithm checks every item in the worst case but might find the target on the first try. Which case does Big-O notation typically describe?</a:t>
            </a:r>
            <a:endParaRPr lang="en-US" sz="1800" dirty="0"/>
          </a:p>
        </p:txBody>
      </p:sp>
      <p:sp>
        <p:nvSpPr>
          <p:cNvPr id="6" name="Shape 4"/>
          <p:cNvSpPr/>
          <p:nvPr/>
        </p:nvSpPr>
        <p:spPr>
          <a:xfrm>
            <a:off x="822960" y="2606040"/>
            <a:ext cx="10424160" cy="658368"/>
          </a:xfrm>
          <a:prstGeom prst="roundRect">
            <a:avLst>
              <a:gd name="adj" fmla="val 9722"/>
            </a:avLst>
          </a:prstGeom>
          <a:solidFill>
            <a:srgbClr val="F3F5F8"/>
          </a:solidFill>
          <a:ln w="12700">
            <a:solidFill>
              <a:srgbClr val="D9DFE6"/>
            </a:solidFill>
            <a:prstDash val="solid"/>
          </a:ln>
        </p:spPr>
      </p:sp>
      <p:sp>
        <p:nvSpPr>
          <p:cNvPr id="7" name="Text 5"/>
          <p:cNvSpPr txBox="1"/>
          <p:nvPr/>
        </p:nvSpPr>
        <p:spPr>
          <a:xfrm>
            <a:off x="1005840" y="2606040"/>
            <a:ext cx="457200" cy="65836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a:t>
            </a:r>
            <a:endParaRPr lang="en-US" sz="1500" dirty="0"/>
          </a:p>
        </p:txBody>
      </p:sp>
      <p:sp>
        <p:nvSpPr>
          <p:cNvPr id="8" name="Text 6"/>
          <p:cNvSpPr txBox="1"/>
          <p:nvPr/>
        </p:nvSpPr>
        <p:spPr>
          <a:xfrm>
            <a:off x="1554480" y="2606040"/>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Best case</a:t>
            </a:r>
            <a:endParaRPr lang="en-US" sz="1450" dirty="0"/>
          </a:p>
        </p:txBody>
      </p:sp>
      <p:sp>
        <p:nvSpPr>
          <p:cNvPr id="9" name="Shape 7"/>
          <p:cNvSpPr/>
          <p:nvPr/>
        </p:nvSpPr>
        <p:spPr>
          <a:xfrm>
            <a:off x="822960" y="3401568"/>
            <a:ext cx="10424160" cy="658368"/>
          </a:xfrm>
          <a:prstGeom prst="roundRect">
            <a:avLst>
              <a:gd name="adj" fmla="val 9722"/>
            </a:avLst>
          </a:prstGeom>
          <a:solidFill>
            <a:srgbClr val="F3F5F8"/>
          </a:solidFill>
          <a:ln w="12700">
            <a:solidFill>
              <a:srgbClr val="D9DFE6"/>
            </a:solidFill>
            <a:prstDash val="solid"/>
          </a:ln>
        </p:spPr>
      </p:sp>
      <p:sp>
        <p:nvSpPr>
          <p:cNvPr id="10" name="Text 8"/>
          <p:cNvSpPr txBox="1"/>
          <p:nvPr/>
        </p:nvSpPr>
        <p:spPr>
          <a:xfrm>
            <a:off x="1005840" y="3401568"/>
            <a:ext cx="457200" cy="65836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B</a:t>
            </a:r>
            <a:endParaRPr lang="en-US" sz="1500" dirty="0"/>
          </a:p>
        </p:txBody>
      </p:sp>
      <p:sp>
        <p:nvSpPr>
          <p:cNvPr id="11" name="Text 9"/>
          <p:cNvSpPr txBox="1"/>
          <p:nvPr/>
        </p:nvSpPr>
        <p:spPr>
          <a:xfrm>
            <a:off x="1554480" y="3401568"/>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Average case</a:t>
            </a:r>
            <a:endParaRPr lang="en-US" sz="1450" dirty="0"/>
          </a:p>
        </p:txBody>
      </p:sp>
      <p:sp>
        <p:nvSpPr>
          <p:cNvPr id="12" name="Shape 10"/>
          <p:cNvSpPr/>
          <p:nvPr/>
        </p:nvSpPr>
        <p:spPr>
          <a:xfrm>
            <a:off x="822960" y="4197096"/>
            <a:ext cx="10424160" cy="658368"/>
          </a:xfrm>
          <a:prstGeom prst="roundRect">
            <a:avLst>
              <a:gd name="adj" fmla="val 9722"/>
            </a:avLst>
          </a:prstGeom>
          <a:solidFill>
            <a:srgbClr val="E9F3ED"/>
          </a:solidFill>
          <a:ln w="19050">
            <a:solidFill>
              <a:srgbClr val="3E8E5A"/>
            </a:solidFill>
            <a:prstDash val="solid"/>
          </a:ln>
        </p:spPr>
      </p:sp>
      <p:sp>
        <p:nvSpPr>
          <p:cNvPr id="13" name="Text 11"/>
          <p:cNvSpPr txBox="1"/>
          <p:nvPr/>
        </p:nvSpPr>
        <p:spPr>
          <a:xfrm>
            <a:off x="1005840" y="4197096"/>
            <a:ext cx="457200" cy="658368"/>
          </a:xfrm>
          <a:prstGeom prst="rect">
            <a:avLst/>
          </a:prstGeom>
          <a:noFill/>
          <a:ln/>
        </p:spPr>
        <p:txBody>
          <a:bodyPr wrap="square" lIns="0" tIns="0" rIns="0" bIns="0" rtlCol="0" anchor="ctr"/>
          <a:lstStyle/>
          <a:p>
            <a:pPr indent="0" marL="0">
              <a:buNone/>
            </a:pPr>
            <a:r>
              <a:rPr lang="en-US" sz="1500" b="1" dirty="0">
                <a:solidFill>
                  <a:srgbClr val="3E8E5A"/>
                </a:solidFill>
                <a:latin typeface="Calibri" pitchFamily="34" charset="0"/>
                <a:ea typeface="Calibri" pitchFamily="34" charset="-122"/>
                <a:cs typeface="Calibri" pitchFamily="34" charset="-120"/>
              </a:rPr>
              <a:t>C</a:t>
            </a:r>
            <a:endParaRPr lang="en-US" sz="1500" dirty="0"/>
          </a:p>
        </p:txBody>
      </p:sp>
      <p:sp>
        <p:nvSpPr>
          <p:cNvPr id="14" name="Text 12"/>
          <p:cNvSpPr txBox="1"/>
          <p:nvPr/>
        </p:nvSpPr>
        <p:spPr>
          <a:xfrm>
            <a:off x="1554480" y="4197096"/>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Worst case</a:t>
            </a:r>
            <a:endParaRPr lang="en-US" sz="1450" dirty="0"/>
          </a:p>
        </p:txBody>
      </p:sp>
      <p:sp>
        <p:nvSpPr>
          <p:cNvPr id="15" name="Shape 13"/>
          <p:cNvSpPr/>
          <p:nvPr/>
        </p:nvSpPr>
        <p:spPr>
          <a:xfrm>
            <a:off x="822960" y="4992624"/>
            <a:ext cx="10424160" cy="658368"/>
          </a:xfrm>
          <a:prstGeom prst="roundRect">
            <a:avLst>
              <a:gd name="adj" fmla="val 9722"/>
            </a:avLst>
          </a:prstGeom>
          <a:solidFill>
            <a:srgbClr val="F3F5F8"/>
          </a:solidFill>
          <a:ln w="12700">
            <a:solidFill>
              <a:srgbClr val="D9DFE6"/>
            </a:solidFill>
            <a:prstDash val="solid"/>
          </a:ln>
        </p:spPr>
      </p:sp>
      <p:sp>
        <p:nvSpPr>
          <p:cNvPr id="16" name="Text 14"/>
          <p:cNvSpPr txBox="1"/>
          <p:nvPr/>
        </p:nvSpPr>
        <p:spPr>
          <a:xfrm>
            <a:off x="1005840" y="4992624"/>
            <a:ext cx="457200" cy="658368"/>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D</a:t>
            </a:r>
            <a:endParaRPr lang="en-US" sz="1500" dirty="0"/>
          </a:p>
        </p:txBody>
      </p:sp>
      <p:sp>
        <p:nvSpPr>
          <p:cNvPr id="17" name="Text 15"/>
          <p:cNvSpPr txBox="1"/>
          <p:nvPr/>
        </p:nvSpPr>
        <p:spPr>
          <a:xfrm>
            <a:off x="1554480" y="4992624"/>
            <a:ext cx="9509760" cy="658368"/>
          </a:xfrm>
          <a:prstGeom prst="rect">
            <a:avLst/>
          </a:prstGeom>
          <a:noFill/>
          <a:ln/>
        </p:spPr>
        <p:txBody>
          <a:bodyPr wrap="square" lIns="0" tIns="0" rIns="0" bIns="0" rtlCol="0" anchor="ctr"/>
          <a:lstStyle/>
          <a:p>
            <a:pPr indent="0" marL="0">
              <a:buNone/>
            </a:pPr>
            <a:r>
              <a:rPr lang="en-US" sz="1450" dirty="0">
                <a:solidFill>
                  <a:srgbClr val="1B2430"/>
                </a:solidFill>
                <a:latin typeface="Calibri" pitchFamily="34" charset="0"/>
                <a:ea typeface="Calibri" pitchFamily="34" charset="-122"/>
                <a:cs typeface="Calibri" pitchFamily="34" charset="-120"/>
              </a:rPr>
              <a:t>It ignores cases entirely</a:t>
            </a:r>
            <a:endParaRPr lang="en-US" sz="1450" dirty="0"/>
          </a:p>
        </p:txBody>
      </p:sp>
      <p:sp>
        <p:nvSpPr>
          <p:cNvPr id="18" name="Text 16"/>
          <p:cNvSpPr txBox="1"/>
          <p:nvPr/>
        </p:nvSpPr>
        <p:spPr>
          <a:xfrm>
            <a:off x="822960" y="5879592"/>
            <a:ext cx="10424160" cy="640080"/>
          </a:xfrm>
          <a:prstGeom prst="rect">
            <a:avLst/>
          </a:prstGeom>
          <a:noFill/>
          <a:ln/>
        </p:spPr>
        <p:txBody>
          <a:bodyPr wrap="square" lIns="0" tIns="0" rIns="0" bIns="0" rtlCol="0" anchor="ctr"/>
          <a:lstStyle/>
          <a:p>
            <a:pPr indent="0" marL="0">
              <a:buNone/>
            </a:pPr>
            <a:r>
              <a:rPr lang="en-US" sz="1250" b="1" dirty="0">
                <a:solidFill>
                  <a:srgbClr val="C1791F"/>
                </a:solidFill>
                <a:latin typeface="Calibri" pitchFamily="34" charset="0"/>
                <a:ea typeface="Calibri" pitchFamily="34" charset="-122"/>
                <a:cs typeface="Calibri" pitchFamily="34" charset="-120"/>
              </a:rPr>
              <a:t>Why: </a:t>
            </a:r>
            <a:pPr indent="0" marL="0">
              <a:buNone/>
            </a:pPr>
            <a:r>
              <a:rPr lang="en-US" sz="1250" dirty="0">
                <a:solidFill>
                  <a:srgbClr val="5B6B7C"/>
                </a:solidFill>
                <a:latin typeface="Calibri" pitchFamily="34" charset="0"/>
                <a:ea typeface="Calibri" pitchFamily="34" charset="-122"/>
                <a:cs typeface="Calibri" pitchFamily="34" charset="-120"/>
              </a:rPr>
              <a:t>Big-O is most commonly used to express the worst case — the guaranteed upper bound a system should be designed around.</a:t>
            </a:r>
            <a:endParaRPr lang="en-US" sz="1250" dirty="0"/>
          </a:p>
        </p:txBody>
      </p:sp>
      <p:sp>
        <p:nvSpPr>
          <p:cNvPr id="19" name="Text 1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20" name="Text 1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HANDS-ON EXERCISE</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Practice: Time–Space Trade-off Decision</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00200"/>
            <a:ext cx="10424160" cy="822960"/>
          </a:xfrm>
          <a:prstGeom prst="rect">
            <a:avLst/>
          </a:prstGeom>
          <a:noFill/>
          <a:ln/>
        </p:spPr>
        <p:txBody>
          <a:bodyPr wrap="square" lIns="0" tIns="0" rIns="0" bIns="0" rtlCol="0" anchor="ctr"/>
          <a:lstStyle/>
          <a:p>
            <a:pPr indent="0" marL="0">
              <a:buNone/>
            </a:pPr>
            <a:r>
              <a:rPr lang="en-US" sz="1650" b="1" dirty="0">
                <a:solidFill>
                  <a:srgbClr val="0B1F3A"/>
                </a:solidFill>
                <a:latin typeface="Calibri" pitchFamily="34" charset="0"/>
                <a:ea typeface="Calibri" pitchFamily="34" charset="-122"/>
                <a:cs typeface="Calibri" pitchFamily="34" charset="-120"/>
              </a:rPr>
              <a:t>For an HR system that looks up an employee's manager very frequently, in your notebook:</a:t>
            </a:r>
            <a:endParaRPr lang="en-US" sz="1650" dirty="0"/>
          </a:p>
        </p:txBody>
      </p:sp>
      <p:sp>
        <p:nvSpPr>
          <p:cNvPr id="6" name="Text 4"/>
          <p:cNvSpPr txBox="1"/>
          <p:nvPr/>
        </p:nvSpPr>
        <p:spPr>
          <a:xfrm>
            <a:off x="822960" y="2514600"/>
            <a:ext cx="6400800" cy="338328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Write a version that recomputes the manager by scanning a list every time (time-favoring analysis)</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Write a version that builds a dictionary index once, then looks up in O(1)</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State the time and space complexity of each version</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Explain in a comment which you'd choose for a system with 500,000 employees and constant lookups</a:t>
            </a:r>
            <a:endParaRPr lang="en-US" sz="1550" dirty="0"/>
          </a:p>
        </p:txBody>
      </p:sp>
      <p:sp>
        <p:nvSpPr>
          <p:cNvPr id="7" name="Shape 5"/>
          <p:cNvSpPr/>
          <p:nvPr/>
        </p:nvSpPr>
        <p:spPr>
          <a:xfrm>
            <a:off x="7498080" y="2514600"/>
            <a:ext cx="3794760" cy="3383280"/>
          </a:xfrm>
          <a:prstGeom prst="roundRect">
            <a:avLst>
              <a:gd name="adj" fmla="val 2162"/>
            </a:avLst>
          </a:prstGeom>
          <a:solidFill>
            <a:srgbClr val="FFF6E8"/>
          </a:solidFill>
          <a:ln w="12700">
            <a:solidFill>
              <a:srgbClr val="E8A33D"/>
            </a:solidFill>
            <a:prstDash val="solid"/>
          </a:ln>
        </p:spPr>
      </p:sp>
      <p:sp>
        <p:nvSpPr>
          <p:cNvPr id="8" name="Text 6"/>
          <p:cNvSpPr txBox="1"/>
          <p:nvPr/>
        </p:nvSpPr>
        <p:spPr>
          <a:xfrm>
            <a:off x="7726680" y="2697480"/>
            <a:ext cx="3200400" cy="274320"/>
          </a:xfrm>
          <a:prstGeom prst="rect">
            <a:avLst/>
          </a:prstGeom>
          <a:noFill/>
          <a:ln/>
        </p:spPr>
        <p:txBody>
          <a:bodyPr wrap="square" lIns="0" tIns="0" rIns="0" bIns="0" rtlCol="0" anchor="ctr"/>
          <a:lstStyle/>
          <a:p>
            <a:pPr indent="0" marL="0">
              <a:buNone/>
            </a:pPr>
            <a:r>
              <a:rPr lang="en-US" sz="1100" b="1" spc="150" kern="0" dirty="0">
                <a:solidFill>
                  <a:srgbClr val="C1791F"/>
                </a:solidFill>
                <a:latin typeface="Calibri" pitchFamily="34" charset="0"/>
                <a:ea typeface="Calibri" pitchFamily="34" charset="-122"/>
                <a:cs typeface="Calibri" pitchFamily="34" charset="-120"/>
              </a:rPr>
              <a:t>HINT</a:t>
            </a:r>
            <a:endParaRPr lang="en-US" sz="1100" dirty="0"/>
          </a:p>
        </p:txBody>
      </p:sp>
      <p:sp>
        <p:nvSpPr>
          <p:cNvPr id="9" name="Text 7"/>
          <p:cNvSpPr txBox="1"/>
          <p:nvPr/>
        </p:nvSpPr>
        <p:spPr>
          <a:xfrm>
            <a:off x="7726680" y="3017520"/>
            <a:ext cx="3337560" cy="2743200"/>
          </a:xfrm>
          <a:prstGeom prst="rect">
            <a:avLst/>
          </a:prstGeom>
          <a:noFill/>
          <a:ln/>
        </p:spPr>
        <p:txBody>
          <a:bodyPr wrap="square" lIns="0" tIns="0" rIns="0" bIns="0" rtlCol="0" anchor="t"/>
          <a:lstStyle/>
          <a:p>
            <a:pPr indent="0" marL="0">
              <a:buNone/>
            </a:pPr>
            <a:r>
              <a:rPr lang="en-US" sz="1300" dirty="0">
                <a:solidFill>
                  <a:srgbClr val="5B6B7C"/>
                </a:solidFill>
                <a:latin typeface="Calibri" pitchFamily="34" charset="0"/>
                <a:ea typeface="Calibri" pitchFamily="34" charset="-122"/>
                <a:cs typeface="Calibri" pitchFamily="34" charset="-120"/>
              </a:rPr>
              <a:t>Frequent lookups on large data almost always favor building an index once, even though it costs O(n) memory.</a:t>
            </a:r>
            <a:endParaRPr lang="en-US" sz="1300" dirty="0"/>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1" name="Text 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PREVIEW OF WEEKS 8–9</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Why O(n log n) Sorting Will Matter Soon</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Shape 3"/>
          <p:cNvSpPr/>
          <p:nvPr/>
        </p:nvSpPr>
        <p:spPr>
          <a:xfrm>
            <a:off x="822960" y="1600200"/>
            <a:ext cx="10515600" cy="1234440"/>
          </a:xfrm>
          <a:prstGeom prst="roundRect">
            <a:avLst>
              <a:gd name="adj" fmla="val 5926"/>
            </a:avLst>
          </a:prstGeom>
          <a:solidFill>
            <a:srgbClr val="0B1F3A"/>
          </a:solidFill>
          <a:ln/>
        </p:spPr>
      </p:sp>
      <p:sp>
        <p:nvSpPr>
          <p:cNvPr id="6" name="Text 4"/>
          <p:cNvSpPr txBox="1"/>
          <p:nvPr/>
        </p:nvSpPr>
        <p:spPr>
          <a:xfrm>
            <a:off x="1051560" y="1719072"/>
            <a:ext cx="36576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BUSINESS SCENARIO</a:t>
            </a:r>
            <a:endParaRPr lang="en-US" sz="1100" dirty="0"/>
          </a:p>
        </p:txBody>
      </p:sp>
      <p:sp>
        <p:nvSpPr>
          <p:cNvPr id="7" name="Text 5"/>
          <p:cNvSpPr txBox="1"/>
          <p:nvPr/>
        </p:nvSpPr>
        <p:spPr>
          <a:xfrm>
            <a:off x="1051560" y="1965960"/>
            <a:ext cx="100584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 reporting system needs to sort a growing customer list by last purchase date before display.</a:t>
            </a:r>
            <a:endParaRPr lang="en-US" sz="1500" dirty="0"/>
          </a:p>
        </p:txBody>
      </p:sp>
      <p:sp>
        <p:nvSpPr>
          <p:cNvPr id="8" name="Text 6"/>
          <p:cNvSpPr txBox="1"/>
          <p:nvPr/>
        </p:nvSpPr>
        <p:spPr>
          <a:xfrm>
            <a:off x="822960" y="3063240"/>
            <a:ext cx="10424160" cy="306324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A naive sort comparing every pair of items runs in O(n²) — fine for 100 rows, painful for 1,000,000</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Efficient sorting algorithms like merge sort and quicksort run in O(n log n) — dramatically better at scale</a:t>
            </a:r>
            <a:endParaRPr lang="en-US" sz="1550" dirty="0"/>
          </a:p>
          <a:p>
            <a:pPr marL="342900" indent="-342900">
              <a:spcAft>
                <a:spcPts val="1200"/>
              </a:spcAft>
              <a:buSzPct val="100000"/>
              <a:buChar char="•"/>
            </a:pPr>
            <a:r>
              <a:rPr lang="en-US" sz="1550" dirty="0">
                <a:solidFill>
                  <a:srgbClr val="1B2430"/>
                </a:solidFill>
                <a:latin typeface="Calibri" pitchFamily="34" charset="0"/>
                <a:ea typeface="Calibri" pitchFamily="34" charset="-122"/>
                <a:cs typeface="Calibri" pitchFamily="34" charset="-120"/>
              </a:rPr>
              <a:t>We'll implement and compare both categories directly in Weeks 8 and 9, now that we can measure the difference</a:t>
            </a:r>
            <a:endParaRPr lang="en-US" sz="155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384048"/>
            <a:ext cx="9144000" cy="320040"/>
          </a:xfrm>
          <a:prstGeom prst="rect">
            <a:avLst/>
          </a:prstGeom>
          <a:noFill/>
          <a:ln/>
        </p:spPr>
        <p:txBody>
          <a:bodyPr wrap="square" lIns="0" tIns="0" rIns="0" bIns="0" rtlCol="0" anchor="ctr"/>
          <a:lstStyle/>
          <a:p>
            <a:pPr indent="0" marL="0">
              <a:buNone/>
            </a:pPr>
            <a:r>
              <a:rPr lang="en-US" sz="1200" b="1" spc="150" kern="0" dirty="0">
                <a:solidFill>
                  <a:srgbClr val="C1791F"/>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822960" y="658368"/>
            <a:ext cx="10241280" cy="68580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Week 2 Recap</a:t>
            </a:r>
            <a:endParaRPr lang="en-US" sz="2600" dirty="0"/>
          </a:p>
        </p:txBody>
      </p:sp>
      <p:sp>
        <p:nvSpPr>
          <p:cNvPr id="4" name="Shape 2"/>
          <p:cNvSpPr/>
          <p:nvPr/>
        </p:nvSpPr>
        <p:spPr>
          <a:xfrm>
            <a:off x="822960" y="1298448"/>
            <a:ext cx="10545775" cy="0"/>
          </a:xfrm>
          <a:prstGeom prst="line">
            <a:avLst/>
          </a:prstGeom>
          <a:noFill/>
          <a:ln w="12700">
            <a:solidFill>
              <a:srgbClr val="D9DFE6"/>
            </a:solidFill>
            <a:prstDash val="solid"/>
          </a:ln>
        </p:spPr>
      </p:sp>
      <p:sp>
        <p:nvSpPr>
          <p:cNvPr id="5" name="Text 3"/>
          <p:cNvSpPr txBox="1"/>
          <p:nvPr/>
        </p:nvSpPr>
        <p:spPr>
          <a:xfrm>
            <a:off x="822960" y="1645920"/>
            <a:ext cx="6400800" cy="4389120"/>
          </a:xfrm>
          <a:prstGeom prst="rect">
            <a:avLst/>
          </a:prstGeom>
          <a:noFill/>
          <a:ln/>
        </p:spPr>
        <p:txBody>
          <a:bodyPr wrap="square" lIns="0" tIns="0" rIns="0" bIns="0" rtlCol="0" anchor="t"/>
          <a:lstStyle/>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We analyze algorithms to predict how they'll scale, not just to see if they work on small test data</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Big-O describes the growth rate of time or space needs as input size n grows, focusing on the dominant term</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Common classes — O(1), O(log n), O(n), O(n log n), O(n²), O(2^n) — cover almost every algorithm we'll study</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Loop structure (single, nested, halving) is usually the fastest way to spot an algorithm's complexity</a:t>
            </a:r>
            <a:endParaRPr lang="en-US" sz="1600" dirty="0"/>
          </a:p>
          <a:p>
            <a:pPr marL="342900" indent="-342900">
              <a:spcAft>
                <a:spcPts val="1300"/>
              </a:spcAft>
              <a:buSzPct val="100000"/>
              <a:buChar char="✓"/>
            </a:pPr>
            <a:r>
              <a:rPr lang="en-US" sz="1600" dirty="0">
                <a:solidFill>
                  <a:srgbClr val="1B2430"/>
                </a:solidFill>
                <a:latin typeface="Calibri" pitchFamily="34" charset="0"/>
                <a:ea typeface="Calibri" pitchFamily="34" charset="-122"/>
                <a:cs typeface="Calibri" pitchFamily="34" charset="-120"/>
              </a:rPr>
              <a:t>Best, average, and worst case can differ; systems are usually designed around the worst case</a:t>
            </a:r>
            <a:endParaRPr lang="en-US" sz="1600" dirty="0"/>
          </a:p>
        </p:txBody>
      </p:sp>
      <p:sp>
        <p:nvSpPr>
          <p:cNvPr id="6" name="Shape 4"/>
          <p:cNvSpPr/>
          <p:nvPr/>
        </p:nvSpPr>
        <p:spPr>
          <a:xfrm>
            <a:off x="7498080" y="1645920"/>
            <a:ext cx="3794760" cy="4389120"/>
          </a:xfrm>
          <a:prstGeom prst="roundRect">
            <a:avLst>
              <a:gd name="adj" fmla="val 1928"/>
            </a:avLst>
          </a:prstGeom>
          <a:solidFill>
            <a:srgbClr val="0B1F3A"/>
          </a:solidFill>
          <a:ln/>
        </p:spPr>
      </p:sp>
      <p:sp>
        <p:nvSpPr>
          <p:cNvPr id="7" name="Text 5"/>
          <p:cNvSpPr txBox="1"/>
          <p:nvPr/>
        </p:nvSpPr>
        <p:spPr>
          <a:xfrm>
            <a:off x="7726680" y="1874520"/>
            <a:ext cx="320040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NEXT WEEK</a:t>
            </a:r>
            <a:endParaRPr lang="en-US" sz="1100" dirty="0"/>
          </a:p>
        </p:txBody>
      </p:sp>
      <p:sp>
        <p:nvSpPr>
          <p:cNvPr id="8" name="Text 6"/>
          <p:cNvSpPr txBox="1"/>
          <p:nvPr/>
        </p:nvSpPr>
        <p:spPr>
          <a:xfrm>
            <a:off x="7726680" y="2194560"/>
            <a:ext cx="3291840" cy="3657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Week 3: Arrays, Lists, and Basic Data Organization — our first deep dive into a concrete data structure, now that we can measure its operations precisely.</a:t>
            </a:r>
            <a:endParaRPr lang="en-US" sz="1400" dirty="0"/>
          </a:p>
        </p:txBody>
      </p:sp>
      <p:sp>
        <p:nvSpPr>
          <p:cNvPr id="9" name="Text 7"/>
          <p:cNvSpPr txBox="1"/>
          <p:nvPr/>
        </p:nvSpPr>
        <p:spPr>
          <a:xfrm>
            <a:off x="457200" y="6492240"/>
            <a:ext cx="5486400" cy="274320"/>
          </a:xfrm>
          <a:prstGeom prst="rect">
            <a:avLst/>
          </a:prstGeom>
          <a:noFill/>
          <a:ln/>
        </p:spPr>
        <p:txBody>
          <a:bodyPr wrap="square" lIns="0" tIns="0" rIns="0" bIns="0" rtlCol="0" anchor="ctr"/>
          <a:lstStyle/>
          <a:p>
            <a:pPr indent="0" marL="0">
              <a:buNone/>
            </a:pPr>
            <a:r>
              <a:rPr lang="en-US" sz="900" dirty="0">
                <a:solidFill>
                  <a:srgbClr val="8A97A5"/>
                </a:solidFill>
                <a:latin typeface="Calibri" pitchFamily="34" charset="0"/>
                <a:ea typeface="Calibri" pitchFamily="34" charset="-122"/>
                <a:cs typeface="Calibri" pitchFamily="34" charset="-120"/>
              </a:rPr>
              <a:t>Data Structures and Algorithms — Week 2: Algorithm Analysis and Big-O Notation</a:t>
            </a:r>
            <a:endParaRPr lang="en-US" sz="900" dirty="0"/>
          </a:p>
        </p:txBody>
      </p:sp>
      <p:sp>
        <p:nvSpPr>
          <p:cNvPr id="10"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A97A5"/>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2026-09-20T13:17:01Z</dcterms:created>
  <dcterms:modified xsi:type="dcterms:W3CDTF">2026-09-20T13:17:01Z</dcterms:modified>
</cp:coreProperties>
</file>