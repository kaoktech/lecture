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9082735" y="-1645920"/>
            <a:ext cx="5029200" cy="5029200"/>
          </a:xfrm>
          <a:prstGeom prst="ellipse">
            <a:avLst/>
          </a:prstGeom>
          <a:solidFill>
            <a:srgbClr val="16335C"/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480560"/>
            <a:ext cx="4389120" cy="4389120"/>
          </a:xfrm>
          <a:prstGeom prst="ellipse">
            <a:avLst/>
          </a:prstGeom>
          <a:solidFill>
            <a:srgbClr val="122A4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programming toolkit we will use all semester to build data structures and algorithms for real business problems.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6035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Information Systems · Data Structures and Algorithms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42985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4298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463040"/>
            <a:ext cx="9692640" cy="41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Python for Data Structures &amp; Algorithms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29453"/>
            <a:ext cx="9692640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Readability, ecosystem, and business relevance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129246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20919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20919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129246"/>
            <a:ext cx="9692640" cy="41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and running Python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495659"/>
            <a:ext cx="9692640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Interpreter, Jupyter notebooks, running your first script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2795451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87539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28753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795451"/>
            <a:ext cx="9692640" cy="41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data types, and operators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161865"/>
            <a:ext cx="9692640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of every program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461657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54160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54160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3461657"/>
            <a:ext cx="9692640" cy="41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flow: conditionals and loops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3828070"/>
            <a:ext cx="9692640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decisions and repeating work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4127863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42078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207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4127863"/>
            <a:ext cx="9692640" cy="41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containers: lists, tuples, dictionaries, sets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4494276"/>
            <a:ext cx="9692640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built-in data structures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2960" y="4794069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4874013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487401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4794069"/>
            <a:ext cx="9692640" cy="41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554480" y="5160482"/>
            <a:ext cx="9692640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logic into reusable, testable units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22960" y="5460274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" y="554021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2960" y="554021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1554480" y="5460274"/>
            <a:ext cx="9692640" cy="41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style &amp; best practices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554480" y="5826687"/>
            <a:ext cx="9692640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code your teammates can read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Python?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Course Uses Python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syntax close to plain English — you spend time on algorithmic thinking, not fighting the language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standard library and ecosystem (pandas, NumPy) widely used in MIS, analytics, and business intelligence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across the industry for automation, data analysis, web back-ends, and AI/ML pipelines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tools like Jupyter notebooks let you experiment step-by-step — ideal for learning data structures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typing and built-in high-level structures (lists, dicts) let us focus on concepts before diving into low-level detail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9520" y="1600200"/>
            <a:ext cx="3703320" cy="4480560"/>
          </a:xfrm>
          <a:prstGeom prst="roundRect">
            <a:avLst>
              <a:gd name="adj" fmla="val 1975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Connection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14884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 structure you learn this semester — lists, stacks, queues, trees — has a direct counterpart in real information systems: order queues, org-chart trees, customer databases.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vs. a Typical Alternative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74520"/>
            <a:ext cx="5074920" cy="274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Concise, readable syntax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Interpreted — fast feedback loop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data-science &amp; business libraries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prototyping algorithms quickly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C1791F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1874520"/>
            <a:ext cx="5074920" cy="274320"/>
          </a:xfrm>
          <a:prstGeom prst="rect">
            <a:avLst/>
          </a:prstGeom>
          <a:solidFill>
            <a:srgbClr val="C179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C++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verbose, explicit typing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— extra build step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large enterprise back-ends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 some raw performance needs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&amp; Running Python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 (python.org) or a distribution such as Anaconda, which bundles Python with data-science libraries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/ JupyterLab: an interactive environment where you run code in cells and see results immediately — used for all weekly exercises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editors: VS Code, PyCharm — useful once programs grow beyond a notebook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also run Python from a terminal: python script.py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Python Program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comments start with a hash — Python ignores this line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print("Hello, MIS Data Structures!")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print() displays output to the screen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print("Course:", "Data Structures and Algorithms")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MIS Data Structures!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Course: Data Structures and Algorithms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Jupyter cell you run this semester will build on this simple idea: write code, run it, read the output.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Types &amp; Operators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label that refers to a value stored in memory. In Python you don't declare a type — the name is simply bound to whatever value you assign.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customer_name = "Ayşe Demir"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order_total = 249.90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is_vip = True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Core Built-in Data Types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Business Use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 ordered, employee 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price, tax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"INV-2045"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 number, customer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/ False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order paid? Is stock available?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/ not-yet-assigned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and Converting Types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"19.99"          # this is text (str), not a number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print(type(price))        # &lt;class 'str'&gt;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float(price)      # convert str -&gt; float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tax = price * 0.18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print(type(price), round(price + tax, 2))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'str'&gt;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'float'&gt; 23.59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type() tells you what you're working with; casting functions (int(), float(), str()) convert between types.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Arithmetic:  +   -   *   /   //  (floor division)   %  (remainder)   **  (power)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 ==   !=   &gt;   &lt;   &gt;=   &lt;=   → always produce a bool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Logical:  and   or   not   → combine boolean conditions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shortcuts:  +=   -=   *=   /=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9520" y="1600200"/>
            <a:ext cx="3703320" cy="4480560"/>
          </a:xfrm>
          <a:prstGeom prst="roundRect">
            <a:avLst>
              <a:gd name="adj" fmla="val 1975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14884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assigns a value. == compares two values. Mixing them up is one of the most common beginner bugs.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in a Business Calculation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units = 12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unit_price = 45.0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discount_rate = 0.10 if units &gt;= 10 else 0.0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subtotal = units * unit_price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subtotal * (1 - discount_rate)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print("Subtotal:", subtotal, "| Total after discount:", total)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Subtotal: 540.0 | Total after discount: 486.0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bulk-order discount rule expressed with arithmetic and a comparison operator.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elif / else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 program choose which block of code to run based on whether a condition evaluates to True or False.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stock_qty == 0: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status = "Out of stock"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stock_qty &lt; 10: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status = "Low stock"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status = "In stock"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Customer Eligibility for a Discount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e-commerce system must decide, per order, whether a customer qualifies for a loyalty discount based on their membership tier and order size.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members get 15% off any order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members get 10% off orders over 500 TL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else pays full price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decision logic is a direct, real-world use of if / elif / else chains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the Discount Rule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discount_rate(tier, order_total):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tier == "gold":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0.15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tier == "silver" and order_total &gt; 500: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0.10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0.0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print(discount_rate("silver", 620))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print(discount_rate("bronze", 620))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a block of code once for each item in a sequence (a list, a string, a range of numbers).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order_id in [101, 102, 103]: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print("Processing order", order_id)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vs. while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for: iterate a known collection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 in ["Ali", "Zeynep", "Mert"]: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print("Hello,", name)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while: repeat until a condition becomes False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attempts = 0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attempts &lt; 3: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print("Login attempt", attempts + 1)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attempts += 1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Ali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Zeynep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Mert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 attempt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 attempt 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 attempt 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when you know what you're iterating over; use while when you're repeating until a condition changes.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Loop Executes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77440"/>
            <a:ext cx="2251710" cy="155448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514600"/>
            <a:ext cx="1977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Check Condition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17520"/>
            <a:ext cx="19773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next item / is condition True?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74670" y="3154680"/>
            <a:ext cx="502920" cy="0"/>
          </a:xfrm>
          <a:prstGeom prst="line">
            <a:avLst/>
          </a:prstGeom>
          <a:noFill/>
          <a:ln w="28575">
            <a:solidFill>
              <a:srgbClr val="8A97A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77590" y="2377440"/>
            <a:ext cx="2251710" cy="155448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14750" y="2514600"/>
            <a:ext cx="1977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Run Body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714750" y="3017520"/>
            <a:ext cx="19773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indented block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29300" y="3154680"/>
            <a:ext cx="502920" cy="0"/>
          </a:xfrm>
          <a:prstGeom prst="line">
            <a:avLst/>
          </a:prstGeom>
          <a:noFill/>
          <a:ln w="28575">
            <a:solidFill>
              <a:srgbClr val="8A97A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32220" y="2377440"/>
            <a:ext cx="2251710" cy="155448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69380" y="2514600"/>
            <a:ext cx="1977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Advance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69380" y="3017520"/>
            <a:ext cx="19773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next item / re-check condition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83930" y="3154680"/>
            <a:ext cx="502920" cy="0"/>
          </a:xfrm>
          <a:prstGeom prst="line">
            <a:avLst/>
          </a:prstGeom>
          <a:noFill/>
          <a:ln w="28575">
            <a:solidFill>
              <a:srgbClr val="8A97A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86850" y="2377440"/>
            <a:ext cx="2251710" cy="1554480"/>
          </a:xfrm>
          <a:prstGeom prst="roundRect">
            <a:avLst>
              <a:gd name="adj" fmla="val 4706"/>
            </a:avLst>
          </a:prstGeom>
          <a:solidFill>
            <a:srgbClr val="C1791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24010" y="2514600"/>
            <a:ext cx="1977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Exit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224010" y="3017520"/>
            <a:ext cx="19773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ends when condition is False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Totaling a Batch of Customer Orders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MIS reporting job needs to sum the value of every order placed today and flag any order above a risk threshold for manual review.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once over each order in the day's order list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 a running total as you go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if inside the loop to flag high-value orders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— loop + accumulator + condition — appears constantly in business reporting code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Containers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ordered, mutable (changeable) collection of items, written with square brackets. Items can be added, removed, or changed after creation.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= ["Laptop", "Mouse", "Monitor"]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products.append("Keyboard")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print(products[0], len(products))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Lists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 = [120, 45, 0, 300]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inventory.append(75)          # add to the end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inventory[2] = 10             # update an item by index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low_stock = inventory[1:3]    # slicing: items at index 1 and 2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print(inventory)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print("Low-stock slice:", low_stock)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[120, 45, 10, 300, 75]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Low-stock slice: [45, 10]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 and Sets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74520"/>
            <a:ext cx="5074920" cy="274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— immutable &amp; ordered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with parentheses: (x, y)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changed after creation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fixed records, e.g. coordinates or (day, month, year)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C1791F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1874520"/>
            <a:ext cx="5074920" cy="274320"/>
          </a:xfrm>
          <a:prstGeom prst="rect">
            <a:avLst/>
          </a:prstGeom>
          <a:solidFill>
            <a:srgbClr val="C179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— unordered, unique items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with curly braces: {a, b, c}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removes duplicates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membership checks: item in my_set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unordered collection of key–value pairs. You look up a value by its key instead of by numeric position — the foundation for the hash tables we study in Week 10.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= {"id": 501, "name": "Mert Kaya", "vip": True}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print(customer["name"])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customer["email"] = "mert@example.com"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Container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Changeable?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by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(0, 1, 2, …)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Insertion order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keys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Membership (in)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 Customer Record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CRM needs to store each customer's profile so any field can be looked up instantly by name, not by remembering a numeric position.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maps each attribute name (key) to its value: {'name': ..., 'email': ..., 'tier': ...}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such dictionaries represents the whole customer table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shape of a row in a database table or a record in a JSON API response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named, reusable block of code that takes inputs (parameters), performs a task, and optionally returns a result. Functions let you write logic once and reuse it everywhere.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calculate_tax(amount, rate=0.18):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return amount * rate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print(calculate_tax(200))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Parameters, Return Values, and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are the inputs a function expects; arguments are the actual values you pass in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sends a value back to the caller; a function with no return implicitly returns None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parameter values (rate=0.18) make arguments optional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created inside a function are local — they don't exist outside it (scope)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Business Function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invoice_total(unit_price, quantity, tax_rate=0.18):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subtotal = unit_price * quantity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tax = subtotal * tax_rate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subtotal + tax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print(invoice_total(150, 3))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print(invoice_total(150, 3, tax_rate=0.08))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531.0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486.0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this once as a function means every part of the system computes invoices the same, correct way.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&amp; Wrap-Up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Readable Python (PEP 8 Basics)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snake_case for variable and function names: order_total, calculate_tax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4 spaces per indentation level — indentation defines code blocks in Python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variables meaningful names; avoid single letters except in short loops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comments to explain why, not just what, the code does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functions short and focused on one task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1/2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container would you use to look up a customer's email instantly by their customer ID?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6060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0604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list, searching item by item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E9F3ED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01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01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keyed by customer ID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197096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1970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9709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tuple of all emails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992624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9926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9262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ID numbers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795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maps keys (IDs) directly to values (emails) without scanning every item.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2/2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5. What does this print?  if x &gt; 10: print('A')  elif x &gt; 3: print('B')  else: print('C')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6060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0604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E9F3ED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01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01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197096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1970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9709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992624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9926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9262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— it raises an error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795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(5) is not greater than 10, but it is greater than 3, so the elif branch runs.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Order Processing Warm-Up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Week 0 notebook, write Python code that: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 list of 5 order totals (floats)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for loop to print each order with a running total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an if statement to flag any single order above 1000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function apply_discount(total, tier) returning the discounted total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0" y="2514600"/>
            <a:ext cx="3794760" cy="3383280"/>
          </a:xfrm>
          <a:prstGeom prst="roundRect">
            <a:avLst>
              <a:gd name="adj" fmla="val 2162"/>
            </a:avLst>
          </a:prstGeom>
          <a:solidFill>
            <a:srgbClr val="FFF6E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266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301752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accumulator pattern from the loop example: start a variable at 0, then add to it inside the loop.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 Recap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6400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readable syntax and rich ecosystem make it ideal for learning data structures &amp; algorithms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types, and operators are the atoms of every program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if/elif/else and for/while control which code runs and how many times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Lists, tuples, dictionaries, and sets are Python's built-in data structures — and previews of the custom ones we'll build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let us package logic into clean, reusable, testable units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0" y="1645920"/>
            <a:ext cx="3794760" cy="4389120"/>
          </a:xfrm>
          <a:prstGeom prst="roundRect">
            <a:avLst>
              <a:gd name="adj" fmla="val 1928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2668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26680" y="219456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Algorithmic Thinking and Introduction to Data Structures — how to reason about problems before writing any code, and why the right data structure changes everything.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0: Introduction to Python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2026-09-20T06:07:04Z</dcterms:created>
  <dcterms:modified xsi:type="dcterms:W3CDTF">2026-09-20T06:07:04Z</dcterms:modified>
</cp:coreProperties>
</file>